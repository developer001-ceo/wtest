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8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36" d="100"/>
          <a:sy n="36" d="100"/>
        </p:scale>
        <p:origin x="97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254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F5876-2418-B020-2783-9E52632D3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07439-1A3A-C50D-85DD-8E685E06C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94A118-408D-391C-A458-B7103C823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CAFF4-C1B5-C51A-BDBC-330CF46718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349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914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252422"/>
                </a:solidFill>
              </a:rPr>
              <a:t>HTML + CSS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630936" y="16916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94360" y="1788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0" y="914400"/>
            <a:ext cx="4023360" cy="44805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9050">
            <a:solidFill>
              <a:srgbClr val="D6D3C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7315200" y="914400"/>
            <a:ext cx="4023360" cy="50292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7571232" y="10424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My Moodle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635240" y="1828800"/>
            <a:ext cx="3291840" cy="320040"/>
          </a:xfrm>
          <a:prstGeom prst="rect">
            <a:avLst/>
          </a:prstGeom>
          <a:solidFill>
            <a:srgbClr val="EAE7DE"/>
          </a:solidFill>
          <a:ln w="12700">
            <a:solidFill>
              <a:srgbClr val="EAE7D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635240" y="2395728"/>
            <a:ext cx="2560320" cy="256032"/>
          </a:xfrm>
          <a:prstGeom prst="rect">
            <a:avLst/>
          </a:prstGeom>
          <a:solidFill>
            <a:srgbClr val="F0EDE6"/>
          </a:solidFill>
          <a:ln w="12700">
            <a:solidFill>
              <a:srgbClr val="F0ED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Shape 8"/>
          <p:cNvSpPr/>
          <p:nvPr/>
        </p:nvSpPr>
        <p:spPr>
          <a:xfrm>
            <a:off x="7635240" y="2880360"/>
            <a:ext cx="3017520" cy="256032"/>
          </a:xfrm>
          <a:prstGeom prst="rect">
            <a:avLst/>
          </a:prstGeom>
          <a:solidFill>
            <a:srgbClr val="F0EDE6"/>
          </a:solidFill>
          <a:ln w="12700">
            <a:solidFill>
              <a:srgbClr val="F0EDE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7635240" y="3794760"/>
            <a:ext cx="1463040" cy="493776"/>
          </a:xfrm>
          <a:prstGeom prst="roundRect">
            <a:avLst>
              <a:gd name="adj" fmla="val 14815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8001000" y="393192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button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big idea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F5A"/>
                </a:solidFill>
              </a:rPr>
              <a:t>Web pages are made from structure + appearance + behaviour.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85800" y="14813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52422"/>
                </a:solidFill>
              </a:rPr>
              <a:t>Think of a web page like a simple house: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822960" y="22402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3ED"/>
          </a:solidFill>
          <a:ln w="13970">
            <a:solidFill>
              <a:srgbClr val="F0B29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987552" y="2350008"/>
            <a:ext cx="2916936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is on the page?”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480560" y="22402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EFF8F6"/>
          </a:solidFill>
          <a:ln w="13970">
            <a:solidFill>
              <a:srgbClr val="9DD5C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4645152" y="2350008"/>
            <a:ext cx="2916936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style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“How does it look?”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138160" y="2240280"/>
            <a:ext cx="3246120" cy="2011680"/>
          </a:xfrm>
          <a:prstGeom prst="roundRect">
            <a:avLst>
              <a:gd name="adj" fmla="val 3636"/>
            </a:avLst>
          </a:prstGeom>
          <a:solidFill>
            <a:srgbClr val="FFF7E7"/>
          </a:solidFill>
          <a:ln w="13970">
            <a:solidFill>
              <a:srgbClr val="EDC07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8302752" y="2350008"/>
            <a:ext cx="2916936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JavaScript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actions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happens when clicked?”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50392" y="5120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A9D8F"/>
                </a:solidFill>
              </a:rPr>
              <a:t>Today: focus mainly on HTML and CSS.</a:t>
            </a:r>
            <a:endParaRPr lang="en-US" sz="2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HTML: the page structure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F5A"/>
                </a:solidFill>
              </a:rPr>
              <a:t>HTML uses tags. Tags tell the browser what each part is.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72768"/>
            <a:ext cx="5486400" cy="2926080"/>
          </a:xfrm>
          <a:prstGeom prst="roundRect">
            <a:avLst>
              <a:gd name="adj" fmla="val 2500"/>
            </a:avLst>
          </a:prstGeom>
          <a:solidFill>
            <a:srgbClr val="F1F0EA"/>
          </a:solidFill>
          <a:ln w="12700">
            <a:solidFill>
              <a:srgbClr val="C9C7B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896112" y="1719072"/>
            <a:ext cx="5157216" cy="2633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&lt;h1&gt;Welcome&lt;/h1&gt;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&lt;p&gt;This is a paragraph.&lt;/p&gt;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href="https://massey.ac.nz"&gt;A link&lt;/a&gt;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766560" y="164592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</a:rPr>
              <a:t>Read this aloud: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766560" y="2148840"/>
            <a:ext cx="448056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252422"/>
                </a:solidFill>
              </a:rPr>
              <a:t>• h1 = big heading
• p = paragraph text
• a = link
• Most tags open and close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22960" y="516636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76F51"/>
                </a:solidFill>
              </a:rPr>
              <a:t>Tip: angle brackets &lt; &gt; are normal in HTML.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HTML tags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F5A"/>
                </a:solidFill>
              </a:rPr>
              <a:t>Start with only a few. You do not need to memorise everything.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55448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FF3ED"/>
          </a:solidFill>
          <a:ln w="13970">
            <a:solidFill>
              <a:srgbClr val="F0B29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987552" y="1664208"/>
            <a:ext cx="8595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&lt;h1&gt;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331720" y="166420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52422"/>
                </a:solidFill>
              </a:rPr>
              <a:t>Main heading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22960" y="242316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FFF3ED"/>
          </a:solidFill>
          <a:ln w="13970">
            <a:solidFill>
              <a:srgbClr val="F0B29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987552" y="2532888"/>
            <a:ext cx="8595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&lt;h2&gt;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331720" y="253288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52422"/>
                </a:solidFill>
              </a:rPr>
              <a:t>Smaller heading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22960" y="3291840"/>
            <a:ext cx="1188720" cy="594360"/>
          </a:xfrm>
          <a:prstGeom prst="roundRect">
            <a:avLst>
              <a:gd name="adj" fmla="val 12308"/>
            </a:avLst>
          </a:prstGeom>
          <a:solidFill>
            <a:srgbClr val="EFF8F6"/>
          </a:solidFill>
          <a:ln w="13970">
            <a:solidFill>
              <a:srgbClr val="9DD5C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987552" y="3401568"/>
            <a:ext cx="8595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&lt;p&gt;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331720" y="340156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52422"/>
                </a:solidFill>
              </a:rPr>
              <a:t>Paragraph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416052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FF7E7"/>
          </a:solidFill>
          <a:ln w="13970">
            <a:solidFill>
              <a:srgbClr val="EDC07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987552" y="4270248"/>
            <a:ext cx="13167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&lt;ul&gt; &lt;li&gt;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788920" y="42793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52422"/>
                </a:solidFill>
              </a:rPr>
              <a:t>Bullet list and list item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5029200"/>
            <a:ext cx="1645920" cy="594360"/>
          </a:xfrm>
          <a:prstGeom prst="roundRect">
            <a:avLst>
              <a:gd name="adj" fmla="val 12308"/>
            </a:avLst>
          </a:prstGeom>
          <a:solidFill>
            <a:srgbClr val="F4EFF7"/>
          </a:solidFill>
          <a:ln w="13970">
            <a:solidFill>
              <a:srgbClr val="C8B4D6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7" name="Text 15"/>
          <p:cNvSpPr/>
          <p:nvPr/>
        </p:nvSpPr>
        <p:spPr>
          <a:xfrm>
            <a:off x="987552" y="5138928"/>
            <a:ext cx="1316736" cy="3749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&lt;strong&gt;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2788920" y="514807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52422"/>
                </a:solidFill>
              </a:rPr>
              <a:t>Important / bold text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CSS: the page appearance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F5A"/>
                </a:solidFill>
              </a:rPr>
              <a:t>CSS chooses colours, spacing, fonts, borders and layout.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508760"/>
            <a:ext cx="4983480" cy="3657600"/>
          </a:xfrm>
          <a:prstGeom prst="roundRect">
            <a:avLst>
              <a:gd name="adj" fmla="val 2000"/>
            </a:avLst>
          </a:prstGeom>
          <a:solidFill>
            <a:srgbClr val="F1F0EA"/>
          </a:solidFill>
          <a:ln w="12700">
            <a:solidFill>
              <a:srgbClr val="C9C7B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896112" y="1655064"/>
            <a:ext cx="4654296" cy="3364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font-size: 32px;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  <a:p>
            <a:pPr marL="0" indent="0">
              <a:buNone/>
            </a:pP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{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line-height: 1.5;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400800" y="164592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422"/>
                </a:solidFill>
              </a:rPr>
              <a:t>CSS pattern: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46520" y="23317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3ED"/>
          </a:solidFill>
          <a:ln w="13970">
            <a:solidFill>
              <a:srgbClr val="F0B29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8" name="Text 6"/>
          <p:cNvSpPr/>
          <p:nvPr/>
        </p:nvSpPr>
        <p:spPr>
          <a:xfrm>
            <a:off x="6611112" y="2441448"/>
            <a:ext cx="172821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selector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6446520" y="32461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EFF8F6"/>
          </a:solidFill>
          <a:ln w="13970">
            <a:solidFill>
              <a:srgbClr val="9DD5C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0" name="Text 8"/>
          <p:cNvSpPr/>
          <p:nvPr/>
        </p:nvSpPr>
        <p:spPr>
          <a:xfrm>
            <a:off x="6611112" y="3355848"/>
            <a:ext cx="172821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property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446520" y="4160520"/>
            <a:ext cx="2057400" cy="685800"/>
          </a:xfrm>
          <a:prstGeom prst="roundRect">
            <a:avLst>
              <a:gd name="adj" fmla="val 10667"/>
            </a:avLst>
          </a:prstGeom>
          <a:solidFill>
            <a:srgbClr val="FFF7E7"/>
          </a:solidFill>
          <a:ln w="13970">
            <a:solidFill>
              <a:srgbClr val="EDC07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6611112" y="4270248"/>
            <a:ext cx="1728216" cy="4663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8961120" y="2441448"/>
            <a:ext cx="2331720" cy="2286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625F5A"/>
                </a:solidFill>
              </a:rPr>
              <a:t>what to style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625F5A"/>
                </a:solidFill>
              </a:rPr>
              <a:t>what to change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625F5A"/>
                </a:solidFill>
              </a:rPr>
              <a:t>the setting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and CSS together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F5A"/>
                </a:solidFill>
              </a:rPr>
              <a:t>HTML gives the content. CSS changes how that content looks.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41732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E76F51"/>
          </a:solidFill>
          <a:ln w="12700">
            <a:solidFill>
              <a:srgbClr val="E76F5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932688" y="151790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HTML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965960"/>
            <a:ext cx="5029200" cy="1280160"/>
          </a:xfrm>
          <a:prstGeom prst="roundRect">
            <a:avLst>
              <a:gd name="adj" fmla="val 5714"/>
            </a:avLst>
          </a:prstGeom>
          <a:solidFill>
            <a:srgbClr val="F1F0EA"/>
          </a:solidFill>
          <a:ln w="12700">
            <a:solidFill>
              <a:srgbClr val="C9C7B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987552" y="2112264"/>
            <a:ext cx="4700016" cy="9875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class="notice"&gt;Quiz opens Friday&lt;/h1&gt;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&lt;p&gt;Please check the instructions first.&lt;/p&gt;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1828800" cy="438912"/>
          </a:xfrm>
          <a:prstGeom prst="roundRect">
            <a:avLst>
              <a:gd name="adj" fmla="val 12500"/>
            </a:avLst>
          </a:prstGeom>
          <a:solidFill>
            <a:srgbClr val="2A9D8F"/>
          </a:solidFill>
          <a:ln w="12700">
            <a:solidFill>
              <a:srgbClr val="2A9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932688" y="3803904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CSS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251960"/>
            <a:ext cx="5029200" cy="1371600"/>
          </a:xfrm>
          <a:prstGeom prst="roundRect">
            <a:avLst>
              <a:gd name="adj" fmla="val 5333"/>
            </a:avLst>
          </a:prstGeom>
          <a:solidFill>
            <a:srgbClr val="F1F0EA"/>
          </a:solidFill>
          <a:ln w="12700">
            <a:solidFill>
              <a:srgbClr val="C9C7B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1" name="Text 9"/>
          <p:cNvSpPr/>
          <p:nvPr/>
        </p:nvSpPr>
        <p:spPr>
          <a:xfrm>
            <a:off x="987552" y="4398264"/>
            <a:ext cx="4700016" cy="10789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.notice {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#fff3cd;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padding: 12px;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172200" y="2926080"/>
            <a:ext cx="914400" cy="502920"/>
          </a:xfrm>
          <a:prstGeom prst="rightArrow">
            <a:avLst/>
          </a:prstGeom>
          <a:solidFill>
            <a:srgbClr val="625F5A"/>
          </a:solidFill>
          <a:ln w="12700">
            <a:solidFill>
              <a:srgbClr val="625F5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7543800" y="2103120"/>
            <a:ext cx="3749040" cy="2011680"/>
          </a:xfrm>
          <a:prstGeom prst="roundRect">
            <a:avLst>
              <a:gd name="adj" fmla="val 3182"/>
            </a:avLst>
          </a:prstGeom>
          <a:solidFill>
            <a:srgbClr val="FFF3CD"/>
          </a:solidFill>
          <a:ln w="15240">
            <a:solidFill>
              <a:srgbClr val="E4BD4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14" name="Text 12"/>
          <p:cNvSpPr/>
          <p:nvPr/>
        </p:nvSpPr>
        <p:spPr>
          <a:xfrm>
            <a:off x="7818120" y="25786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52422"/>
                </a:solidFill>
              </a:rPr>
              <a:t>Quiz opens Friday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7818120" y="31546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52422"/>
                </a:solidFill>
              </a:rPr>
              <a:t>Please check the instructions first.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Moodle example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F5A"/>
                </a:solidFill>
              </a:rPr>
              <a:t>A simple announcement box.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5897880" cy="2743200"/>
          </a:xfrm>
          <a:prstGeom prst="roundRect">
            <a:avLst>
              <a:gd name="adj" fmla="val 2667"/>
            </a:avLst>
          </a:prstGeom>
          <a:solidFill>
            <a:srgbClr val="F1F0EA"/>
          </a:solidFill>
          <a:ln w="12700">
            <a:solidFill>
              <a:srgbClr val="C9C7B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941832" y="1655064"/>
            <a:ext cx="5568696" cy="2450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style="border: 2px solid #2a9d8f; padding: 12px;"&gt;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&lt;h2&gt;Before the tutorial&lt;/h2&gt;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&lt;p&gt;Please read the activity sheet.&lt;/p&gt;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2021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452360" y="1691640"/>
            <a:ext cx="3886200" cy="224028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794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7744968" y="221284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252422"/>
                </a:solidFill>
              </a:rPr>
              <a:t>Before the tutorial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744968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52422"/>
                </a:solidFill>
              </a:rPr>
              <a:t>Please read the activity sheet.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480060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625F5A"/>
                </a:solidFill>
              </a:rPr>
              <a:t>Inline style = style written inside the HTML tag. Easy for a first lesson, but not ideal for big websites.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can go wrong?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25F5A"/>
                </a:solidFill>
              </a:rPr>
              <a:t>Most beginner problems are tiny spelling or punctuation issues.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77240" y="15544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3ED"/>
          </a:solidFill>
          <a:ln w="13970">
            <a:solidFill>
              <a:srgbClr val="F0B29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5" name="Text 3"/>
          <p:cNvSpPr/>
          <p:nvPr/>
        </p:nvSpPr>
        <p:spPr>
          <a:xfrm>
            <a:off x="941832" y="1664208"/>
            <a:ext cx="296265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closing tag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&lt;p&gt;Hello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34840" y="15544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7E7"/>
          </a:solidFill>
          <a:ln w="13970">
            <a:solidFill>
              <a:srgbClr val="EDC07A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7" name="Text 5"/>
          <p:cNvSpPr/>
          <p:nvPr/>
        </p:nvSpPr>
        <p:spPr>
          <a:xfrm>
            <a:off x="4599432" y="1664208"/>
            <a:ext cx="296265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quotation mark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href="page.html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92440" y="155448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FF8F6"/>
          </a:solidFill>
          <a:ln w="13970">
            <a:solidFill>
              <a:srgbClr val="9DD5CC"/>
            </a:solidFill>
            <a:prstDash val="solid"/>
          </a:ln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8257032" y="1664208"/>
            <a:ext cx="2962656" cy="10149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CSS typo</a:t>
            </a:r>
            <a:endParaRPr lang="en-US" sz="1800" dirty="0"/>
          </a:p>
          <a:p>
            <a:pPr marL="0" indent="0">
              <a:buNone/>
            </a:pPr>
            <a:r>
              <a:rPr lang="en-US" sz="1800" b="1" dirty="0">
                <a:solidFill>
                  <a:srgbClr val="25242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colour: blue;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2422"/>
                </a:solidFill>
              </a:rPr>
              <a:t>Debugging steps: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1042416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252422"/>
                </a:solidFill>
              </a:rPr>
              <a:t>• Check spelling
• Check &lt; &gt; / { } / ;
• Undo the last change
• Ask: “What changed?”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35BDF-E422-014C-58C3-355A21846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D0945B-CECD-E034-BE68-0C339CF90239}"/>
              </a:ext>
            </a:extLst>
          </p:cNvPr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link CSS in html</a:t>
            </a:r>
            <a:endParaRPr lang="en-US" sz="31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7944444-FD68-F424-EC5E-03AB6B6CBF1D}"/>
              </a:ext>
            </a:extLst>
          </p:cNvPr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9FF545-EA85-1A06-8E90-7801F027A97B}"/>
              </a:ext>
            </a:extLst>
          </p:cNvPr>
          <p:cNvSpPr/>
          <p:nvPr/>
        </p:nvSpPr>
        <p:spPr>
          <a:xfrm>
            <a:off x="960120" y="1645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000" b="1" dirty="0">
                <a:solidFill>
                  <a:srgbClr val="E76F51"/>
                </a:solidFill>
              </a:rPr>
              <a:t>&lt;link </a:t>
            </a:r>
            <a:r>
              <a:rPr lang="en-US" sz="3000" b="1" dirty="0" err="1">
                <a:solidFill>
                  <a:srgbClr val="E76F51"/>
                </a:solidFill>
              </a:rPr>
              <a:t>rel</a:t>
            </a:r>
            <a:r>
              <a:rPr lang="en-US" sz="3000" b="1" dirty="0">
                <a:solidFill>
                  <a:srgbClr val="E76F51"/>
                </a:solidFill>
              </a:rPr>
              <a:t>="stylesheet" </a:t>
            </a:r>
            <a:r>
              <a:rPr lang="en-US" sz="3000" b="1" dirty="0" err="1">
                <a:solidFill>
                  <a:srgbClr val="E76F51"/>
                </a:solidFill>
              </a:rPr>
              <a:t>href</a:t>
            </a:r>
            <a:r>
              <a:rPr lang="en-US" sz="3000" b="1" dirty="0">
                <a:solidFill>
                  <a:srgbClr val="E76F51"/>
                </a:solidFill>
              </a:rPr>
              <a:t>="style.css"&gt;</a:t>
            </a:r>
            <a:endParaRPr lang="en-US" sz="3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E3C506-9218-72B9-5FE1-0B5334B6D221}"/>
              </a:ext>
            </a:extLst>
          </p:cNvPr>
          <p:cNvSpPr/>
          <p:nvPr/>
        </p:nvSpPr>
        <p:spPr>
          <a:xfrm>
            <a:off x="960120" y="2514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A4D58E0-72D9-097A-55B8-18E4393BFE0B}"/>
              </a:ext>
            </a:extLst>
          </p:cNvPr>
          <p:cNvSpPr/>
          <p:nvPr/>
        </p:nvSpPr>
        <p:spPr>
          <a:xfrm>
            <a:off x="960120" y="33832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77AB195-8B0F-B3B1-917E-724A3299002C}"/>
              </a:ext>
            </a:extLst>
          </p:cNvPr>
          <p:cNvSpPr/>
          <p:nvPr/>
        </p:nvSpPr>
        <p:spPr>
          <a:xfrm>
            <a:off x="960120" y="4754880"/>
            <a:ext cx="10241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endParaRPr lang="en-US" sz="23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516F6F1-B0E6-D934-D916-94530D7B27B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355426-ABF4-F660-3CF9-EEFDA94C5F8A}"/>
              </a:ext>
            </a:extLst>
          </p:cNvPr>
          <p:cNvSpPr txBox="1"/>
          <p:nvPr/>
        </p:nvSpPr>
        <p:spPr>
          <a:xfrm>
            <a:off x="1039446" y="24184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Z" dirty="0">
                <a:latin typeface="Courier New" panose="02070309020205020404" pitchFamily="49" charset="0"/>
              </a:rPr>
              <a:t>link</a:t>
            </a:r>
            <a:r>
              <a:rPr lang="en-NZ" dirty="0"/>
              <a:t> = connect another file</a:t>
            </a:r>
          </a:p>
          <a:p>
            <a:r>
              <a:rPr lang="en-NZ" dirty="0"/>
              <a:t> </a:t>
            </a:r>
            <a:r>
              <a:rPr lang="en-NZ" dirty="0" err="1">
                <a:latin typeface="Courier New" panose="02070309020205020404" pitchFamily="49" charset="0"/>
              </a:rPr>
              <a:t>rel</a:t>
            </a:r>
            <a:r>
              <a:rPr lang="en-NZ" dirty="0">
                <a:latin typeface="Courier New" panose="02070309020205020404" pitchFamily="49" charset="0"/>
              </a:rPr>
              <a:t>="stylesheet"</a:t>
            </a:r>
            <a:r>
              <a:rPr lang="en-NZ" dirty="0"/>
              <a:t> = that file contains CSS </a:t>
            </a:r>
            <a:r>
              <a:rPr lang="en-NZ" dirty="0" err="1">
                <a:latin typeface="Courier New" panose="02070309020205020404" pitchFamily="49" charset="0"/>
              </a:rPr>
              <a:t>href</a:t>
            </a:r>
            <a:r>
              <a:rPr lang="en-NZ" dirty="0">
                <a:latin typeface="Courier New" panose="02070309020205020404" pitchFamily="49" charset="0"/>
              </a:rPr>
              <a:t>="style.css"</a:t>
            </a:r>
            <a:r>
              <a:rPr lang="en-NZ" dirty="0"/>
              <a:t> = the CSS file is called </a:t>
            </a:r>
            <a:r>
              <a:rPr lang="en-NZ" dirty="0">
                <a:latin typeface="Courier New" panose="02070309020205020404" pitchFamily="49" charset="0"/>
              </a:rPr>
              <a:t>style.css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31148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5242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takeaways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566928" y="941832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60120" y="1645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76F51"/>
                </a:solidFill>
              </a:rPr>
              <a:t>HTML = meaning and structure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60120" y="25146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</a:rPr>
              <a:t>CSS = visual appearance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33832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D597A"/>
                </a:solidFill>
              </a:rPr>
              <a:t>Moodle = use small, tested edits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4754880"/>
            <a:ext cx="102412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52422"/>
                </a:solidFill>
              </a:rPr>
              <a:t>The aim today is not mastery. The aim is: “I can read simple HTML/CSS and safely change it.”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1852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1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577</Words>
  <Application>Microsoft Office PowerPoint</Application>
  <PresentationFormat>Widescreen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and CSS Basics for Beginners</dc:title>
  <dc:subject>Beginner HTML and CSS teaching slides</dc:subject>
  <dc:creator>OpenAI</dc:creator>
  <cp:lastModifiedBy>Niloofar Aflaki</cp:lastModifiedBy>
  <cp:revision>3</cp:revision>
  <dcterms:created xsi:type="dcterms:W3CDTF">2026-08-11T02:00:39Z</dcterms:created>
  <dcterms:modified xsi:type="dcterms:W3CDTF">2026-08-11T03:52:59Z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d9e4d68-54d0-40a5-8c9a-85a36c87352c_Enabled">
    <vt:lpwstr>true</vt:lpwstr>
  </property>
  <property fmtid="{D5CDD505-2E9C-101B-9397-08002B2CF9AE}" pid="3" name="MSIP_Label_bd9e4d68-54d0-40a5-8c9a-85a36c87352c_SetDate">
    <vt:lpwstr>2026-08-11T02:15:08Z</vt:lpwstr>
  </property>
  <property fmtid="{D5CDD505-2E9C-101B-9397-08002B2CF9AE}" pid="4" name="MSIP_Label_bd9e4d68-54d0-40a5-8c9a-85a36c87352c_Method">
    <vt:lpwstr>Standard</vt:lpwstr>
  </property>
  <property fmtid="{D5CDD505-2E9C-101B-9397-08002B2CF9AE}" pid="5" name="MSIP_Label_bd9e4d68-54d0-40a5-8c9a-85a36c87352c_Name">
    <vt:lpwstr>Unclassified</vt:lpwstr>
  </property>
  <property fmtid="{D5CDD505-2E9C-101B-9397-08002B2CF9AE}" pid="6" name="MSIP_Label_bd9e4d68-54d0-40a5-8c9a-85a36c87352c_SiteId">
    <vt:lpwstr>388728e1-bbd0-4378-98dc-f8682e644300</vt:lpwstr>
  </property>
  <property fmtid="{D5CDD505-2E9C-101B-9397-08002B2CF9AE}" pid="7" name="MSIP_Label_bd9e4d68-54d0-40a5-8c9a-85a36c87352c_ActionId">
    <vt:lpwstr>2849ad24-8c39-449a-9d18-d4dddd8f32f4</vt:lpwstr>
  </property>
  <property fmtid="{D5CDD505-2E9C-101B-9397-08002B2CF9AE}" pid="8" name="MSIP_Label_bd9e4d68-54d0-40a5-8c9a-85a36c87352c_ContentBits">
    <vt:lpwstr>0</vt:lpwstr>
  </property>
  <property fmtid="{D5CDD505-2E9C-101B-9397-08002B2CF9AE}" pid="9" name="MSIP_Label_bd9e4d68-54d0-40a5-8c9a-85a36c87352c_Tag">
    <vt:lpwstr>10, 3, 0, 1</vt:lpwstr>
  </property>
</Properties>
</file>