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Consolas" panose="020B0609020204030204" pitchFamily="49" charset="0"/>
      <p:regular r:id="rId13"/>
      <p:bold r:id="rId14"/>
      <p:italic r:id="rId15"/>
      <p:boldItalic r:id="rId16"/>
    </p:embeddedFont>
    <p:embeddedFont>
      <p:font typeface="Inter" panose="020B0604020202020204" charset="0"/>
      <p:regular r:id="rId17"/>
    </p:embeddedFont>
    <p:embeddedFont>
      <p:font typeface="Inter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96EFF62-37DE-4FD2-9645-DEC9999766F1}"/>
              </a:ext>
            </a:extLst>
          </p:cNvPr>
          <p:cNvSpPr>
            <a:spLocks noGrp="1"/>
          </p:cNvSpPr>
          <p:nvPr/>
        </p:nvSpPr>
        <p:spPr>
          <a:xfrm>
            <a:off x="0" y="0"/>
            <a:ext cx="12191695" cy="6858000"/>
          </a:xfrm>
          <a:prstGeom prst="rect">
            <a:avLst/>
          </a:prstGeom>
          <a:solidFill>
            <a:srgbClr val="F6F4F4"/>
          </a:solidFill>
        </p:spPr>
        <p:txBody>
          <a:bodyPr/>
          <a:lstStyle/>
          <a:p>
            <a:endParaRPr/>
          </a:p>
        </p:txBody>
      </p:sp>
      <p:sp>
        <p:nvSpPr>
          <p:cNvPr id="3" name="Shape 1">
            <a:extLst>
              <a:ext uri="{FF2B5EF4-FFF2-40B4-BE49-F238E27FC236}">
                <a16:creationId xmlns:a16="http://schemas.microsoft.com/office/drawing/2014/main" id="{B2DCF797-EE54-4C3F-AF31-6420D714A9AA}"/>
              </a:ext>
            </a:extLst>
          </p:cNvPr>
          <p:cNvSpPr>
            <a:spLocks noGrp="1"/>
          </p:cNvSpPr>
          <p:nvPr/>
        </p:nvSpPr>
        <p:spPr>
          <a:xfrm>
            <a:off x="0" y="0"/>
            <a:ext cx="12191695" cy="6858000"/>
          </a:xfrm>
          <a:prstGeom prst="rect">
            <a:avLst/>
          </a:prstGeom>
          <a:solidFill>
            <a:srgbClr val="FFFFFF"/>
          </a:solidFill>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4BFEF7D-7EC8-4AA1-A1B4-F9A67E799A41}"/>
              </a:ext>
            </a:extLst>
          </p:cNvPr>
          <p:cNvSpPr>
            <a:spLocks noGrp="1"/>
          </p:cNvSpPr>
          <p:nvPr/>
        </p:nvSpPr>
        <p:spPr>
          <a:xfrm>
            <a:off x="661475" y="566837"/>
            <a:ext cx="1322553" cy="166092"/>
          </a:xfrm>
          <a:prstGeom prst="roundRect">
            <a:avLst>
              <a:gd name="adj" fmla="val 22136"/>
            </a:avLst>
          </a:prstGeom>
          <a:noFill/>
          <a:ln w="6350">
            <a:solidFill>
              <a:srgbClr val="4950BC"/>
            </a:solidFill>
            <a:prstDash val="solid"/>
          </a:ln>
        </p:spPr>
        <p:txBody>
          <a:bodyPr/>
          <a:lstStyle/>
          <a:p>
            <a:endParaRPr/>
          </a:p>
        </p:txBody>
      </p:sp>
      <p:sp>
        <p:nvSpPr>
          <p:cNvPr id="3" name="Text 1">
            <a:extLst>
              <a:ext uri="{FF2B5EF4-FFF2-40B4-BE49-F238E27FC236}">
                <a16:creationId xmlns:a16="http://schemas.microsoft.com/office/drawing/2014/main" id="{0E540BD9-DA17-4E05-9A29-71B4AA1D86F3}"/>
              </a:ext>
            </a:extLst>
          </p:cNvPr>
          <p:cNvSpPr>
            <a:spLocks noGrp="1"/>
          </p:cNvSpPr>
          <p:nvPr/>
        </p:nvSpPr>
        <p:spPr>
          <a:xfrm>
            <a:off x="727057" y="599579"/>
            <a:ext cx="1800974" cy="100608"/>
          </a:xfrm>
          <a:prstGeom prst="rect">
            <a:avLst/>
          </a:prstGeom>
          <a:noFill/>
        </p:spPr>
        <p:txBody>
          <a:bodyPr wrap="none" lIns="0" tIns="0" rIns="0" bIns="0" anchor="t"/>
          <a:lstStyle/>
          <a:p>
            <a:pPr marL="0" indent="0" algn="l">
              <a:lnSpc>
                <a:spcPct val="96000"/>
              </a:lnSpc>
              <a:buNone/>
            </a:pPr>
            <a:r>
              <a:rPr sz="650" spc="-17">
                <a:solidFill>
                  <a:srgbClr val="4950BC"/>
                </a:solidFill>
                <a:latin typeface="Inter"/>
                <a:ea typeface="Inter"/>
                <a:cs typeface="Inter"/>
              </a:rPr>
              <a:t>BEGINNER PHP FOR MOODLE</a:t>
            </a:r>
            <a:endParaRPr sz="650"/>
          </a:p>
        </p:txBody>
      </p:sp>
      <p:sp>
        <p:nvSpPr>
          <p:cNvPr id="4" name="Text 2">
            <a:extLst>
              <a:ext uri="{FF2B5EF4-FFF2-40B4-BE49-F238E27FC236}">
                <a16:creationId xmlns:a16="http://schemas.microsoft.com/office/drawing/2014/main" id="{6B4DC325-C2A8-4B75-80DB-1CD6171ED36E}"/>
              </a:ext>
            </a:extLst>
          </p:cNvPr>
          <p:cNvSpPr>
            <a:spLocks noGrp="1"/>
          </p:cNvSpPr>
          <p:nvPr/>
        </p:nvSpPr>
        <p:spPr>
          <a:xfrm>
            <a:off x="661475" y="758230"/>
            <a:ext cx="10868745" cy="341908"/>
          </a:xfrm>
          <a:prstGeom prst="rect">
            <a:avLst/>
          </a:prstGeom>
          <a:noFill/>
        </p:spPr>
        <p:txBody>
          <a:bodyPr wrap="none" lIns="0" tIns="0" rIns="0" bIns="0" anchor="t"/>
          <a:lstStyle/>
          <a:p>
            <a:pPr marL="0" indent="0" algn="l">
              <a:lnSpc>
                <a:spcPct val="104000"/>
              </a:lnSpc>
              <a:buNone/>
            </a:pPr>
            <a:r>
              <a:rPr sz="2150" b="1" spc="-65">
                <a:solidFill>
                  <a:srgbClr val="000000"/>
                </a:solidFill>
                <a:latin typeface="Inter Bold"/>
                <a:ea typeface="Inter Bold"/>
                <a:cs typeface="Inter Bold"/>
              </a:rPr>
              <a:t>PHP Data, Loops and Moodle Safety</a:t>
            </a:r>
            <a:endParaRPr sz="2150"/>
          </a:p>
        </p:txBody>
      </p:sp>
      <p:sp>
        <p:nvSpPr>
          <p:cNvPr id="5" name="Text 3">
            <a:extLst>
              <a:ext uri="{FF2B5EF4-FFF2-40B4-BE49-F238E27FC236}">
                <a16:creationId xmlns:a16="http://schemas.microsoft.com/office/drawing/2014/main" id="{B04F3A1F-C214-47A8-8AC6-DE603B8CC083}"/>
              </a:ext>
            </a:extLst>
          </p:cNvPr>
          <p:cNvSpPr>
            <a:spLocks noGrp="1"/>
          </p:cNvSpPr>
          <p:nvPr/>
        </p:nvSpPr>
        <p:spPr>
          <a:xfrm>
            <a:off x="661475" y="1195090"/>
            <a:ext cx="11478330" cy="138212"/>
          </a:xfrm>
          <a:prstGeom prst="rect">
            <a:avLst/>
          </a:prstGeom>
          <a:noFill/>
        </p:spPr>
        <p:txBody>
          <a:bodyPr wrap="none" lIns="0" tIns="0" rIns="0" bIns="0" anchor="t"/>
          <a:lstStyle/>
          <a:p>
            <a:pPr marL="0" indent="0" algn="l">
              <a:lnSpc>
                <a:spcPct val="105000"/>
              </a:lnSpc>
              <a:buNone/>
            </a:pPr>
            <a:r>
              <a:rPr sz="850" spc="-17">
                <a:solidFill>
                  <a:srgbClr val="272525"/>
                </a:solidFill>
                <a:latin typeface="Inter"/>
                <a:ea typeface="Inter"/>
                <a:cs typeface="Inter"/>
              </a:rPr>
              <a:t>Beginner concepts for working with Moodle PHP</a:t>
            </a:r>
            <a:endParaRPr sz="850"/>
          </a:p>
        </p:txBody>
      </p:sp>
      <p:sp>
        <p:nvSpPr>
          <p:cNvPr id="6" name="Shape 4">
            <a:extLst>
              <a:ext uri="{FF2B5EF4-FFF2-40B4-BE49-F238E27FC236}">
                <a16:creationId xmlns:a16="http://schemas.microsoft.com/office/drawing/2014/main" id="{FF6371A1-0D4B-4D60-993B-4E6CB3BF9BC3}"/>
              </a:ext>
            </a:extLst>
          </p:cNvPr>
          <p:cNvSpPr>
            <a:spLocks noGrp="1"/>
          </p:cNvSpPr>
          <p:nvPr/>
        </p:nvSpPr>
        <p:spPr>
          <a:xfrm>
            <a:off x="661475" y="1431826"/>
            <a:ext cx="10868745" cy="12700"/>
          </a:xfrm>
          <a:prstGeom prst="roundRect">
            <a:avLst>
              <a:gd name="adj" fmla="val 49999"/>
            </a:avLst>
          </a:prstGeom>
          <a:solidFill>
            <a:srgbClr val="272525">
              <a:alpha val="50000"/>
            </a:srgbClr>
          </a:solidFill>
        </p:spPr>
        <p:txBody>
          <a:bodyPr/>
          <a:lstStyle/>
          <a:p>
            <a:endParaRPr/>
          </a:p>
        </p:txBody>
      </p:sp>
      <p:pic>
        <p:nvPicPr>
          <p:cNvPr id="44" name="Image 0"/>
          <p:cNvPicPr>
            <a:picLocks noChangeAspect="1"/>
          </p:cNvPicPr>
          <p:nvPr/>
        </p:nvPicPr>
        <p:blipFill>
          <a:blip r:embed="rId3"/>
          <a:stretch>
            <a:fillRect/>
          </a:stretch>
        </p:blipFill>
        <p:spPr>
          <a:xfrm>
            <a:off x="661475" y="1543050"/>
            <a:ext cx="547079" cy="656530"/>
          </a:xfrm>
          <a:prstGeom prst="rect">
            <a:avLst/>
          </a:prstGeom>
        </p:spPr>
      </p:pic>
      <p:sp>
        <p:nvSpPr>
          <p:cNvPr id="8" name="Text 5">
            <a:extLst>
              <a:ext uri="{FF2B5EF4-FFF2-40B4-BE49-F238E27FC236}">
                <a16:creationId xmlns:a16="http://schemas.microsoft.com/office/drawing/2014/main" id="{252D5139-A2FF-4FBE-93A4-84D39A590CD5}"/>
              </a:ext>
            </a:extLst>
          </p:cNvPr>
          <p:cNvSpPr>
            <a:spLocks noGrp="1"/>
          </p:cNvSpPr>
          <p:nvPr/>
        </p:nvSpPr>
        <p:spPr>
          <a:xfrm>
            <a:off x="1271853" y="1652389"/>
            <a:ext cx="10258367" cy="170954"/>
          </a:xfrm>
          <a:prstGeom prst="rect">
            <a:avLst/>
          </a:prstGeom>
          <a:noFill/>
        </p:spPr>
        <p:txBody>
          <a:bodyPr wrap="none" lIns="0" tIns="0" rIns="0" bIns="0" anchor="t"/>
          <a:lstStyle/>
          <a:p>
            <a:pPr marL="0" indent="0" algn="l">
              <a:lnSpc>
                <a:spcPct val="104000"/>
              </a:lnSpc>
              <a:buNone/>
            </a:pPr>
            <a:r>
              <a:rPr sz="1050" b="1" spc="-32">
                <a:solidFill>
                  <a:srgbClr val="272525"/>
                </a:solidFill>
                <a:latin typeface="Inter Bold"/>
                <a:ea typeface="Inter Bold"/>
                <a:cs typeface="Inter Bold"/>
              </a:rPr>
              <a:t>Data</a:t>
            </a:r>
            <a:endParaRPr sz="1050"/>
          </a:p>
        </p:txBody>
      </p:sp>
      <p:sp>
        <p:nvSpPr>
          <p:cNvPr id="9" name="Text 6">
            <a:extLst>
              <a:ext uri="{FF2B5EF4-FFF2-40B4-BE49-F238E27FC236}">
                <a16:creationId xmlns:a16="http://schemas.microsoft.com/office/drawing/2014/main" id="{EBDD070F-EE05-4A10-A511-089094AE9A8D}"/>
              </a:ext>
            </a:extLst>
          </p:cNvPr>
          <p:cNvSpPr>
            <a:spLocks noGrp="1"/>
          </p:cNvSpPr>
          <p:nvPr/>
        </p:nvSpPr>
        <p:spPr>
          <a:xfrm>
            <a:off x="1271853" y="1861344"/>
            <a:ext cx="10258367" cy="138212"/>
          </a:xfrm>
          <a:prstGeom prst="rect">
            <a:avLst/>
          </a:prstGeom>
          <a:noFill/>
        </p:spPr>
        <p:txBody>
          <a:bodyPr wrap="none" lIns="0" tIns="0" rIns="0" bIns="0" anchor="t"/>
          <a:lstStyle/>
          <a:p>
            <a:pPr marL="0" indent="0" algn="l">
              <a:lnSpc>
                <a:spcPct val="105000"/>
              </a:lnSpc>
              <a:buNone/>
            </a:pPr>
            <a:r>
              <a:rPr sz="850" spc="-17">
                <a:solidFill>
                  <a:srgbClr val="272525"/>
                </a:solidFill>
                <a:latin typeface="Inter"/>
                <a:ea typeface="Inter"/>
                <a:cs typeface="Inter"/>
              </a:rPr>
              <a:t>Arrays &amp; values</a:t>
            </a:r>
            <a:endParaRPr sz="850"/>
          </a:p>
        </p:txBody>
      </p:sp>
      <p:pic>
        <p:nvPicPr>
          <p:cNvPr id="47" name="Image 1"/>
          <p:cNvPicPr>
            <a:picLocks noChangeAspect="1"/>
          </p:cNvPicPr>
          <p:nvPr/>
        </p:nvPicPr>
        <p:blipFill>
          <a:blip r:embed="rId4"/>
          <a:stretch>
            <a:fillRect/>
          </a:stretch>
        </p:blipFill>
        <p:spPr>
          <a:xfrm>
            <a:off x="661475" y="2199580"/>
            <a:ext cx="547079" cy="656530"/>
          </a:xfrm>
          <a:prstGeom prst="rect">
            <a:avLst/>
          </a:prstGeom>
        </p:spPr>
      </p:pic>
      <p:sp>
        <p:nvSpPr>
          <p:cNvPr id="11" name="Text 7">
            <a:extLst>
              <a:ext uri="{FF2B5EF4-FFF2-40B4-BE49-F238E27FC236}">
                <a16:creationId xmlns:a16="http://schemas.microsoft.com/office/drawing/2014/main" id="{1FA2CD22-9217-453E-BB35-BB4561419BDA}"/>
              </a:ext>
            </a:extLst>
          </p:cNvPr>
          <p:cNvSpPr>
            <a:spLocks noGrp="1"/>
          </p:cNvSpPr>
          <p:nvPr/>
        </p:nvSpPr>
        <p:spPr>
          <a:xfrm>
            <a:off x="1271853" y="2308920"/>
            <a:ext cx="10258367" cy="170954"/>
          </a:xfrm>
          <a:prstGeom prst="rect">
            <a:avLst/>
          </a:prstGeom>
          <a:noFill/>
        </p:spPr>
        <p:txBody>
          <a:bodyPr wrap="none" lIns="0" tIns="0" rIns="0" bIns="0" anchor="t"/>
          <a:lstStyle/>
          <a:p>
            <a:pPr marL="0" indent="0" algn="l">
              <a:lnSpc>
                <a:spcPct val="104000"/>
              </a:lnSpc>
              <a:buNone/>
            </a:pPr>
            <a:r>
              <a:rPr sz="1050" b="1" spc="-32">
                <a:solidFill>
                  <a:srgbClr val="272525"/>
                </a:solidFill>
                <a:latin typeface="Inter Bold"/>
                <a:ea typeface="Inter Bold"/>
                <a:cs typeface="Inter Bold"/>
              </a:rPr>
              <a:t>Repetition</a:t>
            </a:r>
            <a:endParaRPr sz="1050"/>
          </a:p>
        </p:txBody>
      </p:sp>
      <p:sp>
        <p:nvSpPr>
          <p:cNvPr id="12" name="Text 8">
            <a:extLst>
              <a:ext uri="{FF2B5EF4-FFF2-40B4-BE49-F238E27FC236}">
                <a16:creationId xmlns:a16="http://schemas.microsoft.com/office/drawing/2014/main" id="{E7E08A82-629A-4A2B-9D4C-E20D296EF0E3}"/>
              </a:ext>
            </a:extLst>
          </p:cNvPr>
          <p:cNvSpPr>
            <a:spLocks noGrp="1"/>
          </p:cNvSpPr>
          <p:nvPr/>
        </p:nvSpPr>
        <p:spPr>
          <a:xfrm>
            <a:off x="1271853" y="2517874"/>
            <a:ext cx="10258367" cy="138212"/>
          </a:xfrm>
          <a:prstGeom prst="rect">
            <a:avLst/>
          </a:prstGeom>
          <a:noFill/>
        </p:spPr>
        <p:txBody>
          <a:bodyPr wrap="none" lIns="0" tIns="0" rIns="0" bIns="0" anchor="t"/>
          <a:lstStyle/>
          <a:p>
            <a:pPr marL="0" indent="0" algn="l">
              <a:lnSpc>
                <a:spcPct val="105000"/>
              </a:lnSpc>
              <a:buNone/>
            </a:pPr>
            <a:r>
              <a:rPr sz="850" spc="-17">
                <a:solidFill>
                  <a:srgbClr val="272525"/>
                </a:solidFill>
                <a:latin typeface="Inter"/>
                <a:ea typeface="Inter"/>
                <a:cs typeface="Inter"/>
              </a:rPr>
              <a:t>for &amp; foreach</a:t>
            </a:r>
            <a:endParaRPr sz="850"/>
          </a:p>
        </p:txBody>
      </p:sp>
      <p:pic>
        <p:nvPicPr>
          <p:cNvPr id="50" name="Image 2"/>
          <p:cNvPicPr>
            <a:picLocks noChangeAspect="1"/>
          </p:cNvPicPr>
          <p:nvPr/>
        </p:nvPicPr>
        <p:blipFill>
          <a:blip r:embed="rId5"/>
          <a:stretch>
            <a:fillRect/>
          </a:stretch>
        </p:blipFill>
        <p:spPr>
          <a:xfrm>
            <a:off x="661475" y="2856111"/>
            <a:ext cx="547079" cy="656530"/>
          </a:xfrm>
          <a:prstGeom prst="rect">
            <a:avLst/>
          </a:prstGeom>
        </p:spPr>
      </p:pic>
      <p:sp>
        <p:nvSpPr>
          <p:cNvPr id="14" name="Text 9">
            <a:extLst>
              <a:ext uri="{FF2B5EF4-FFF2-40B4-BE49-F238E27FC236}">
                <a16:creationId xmlns:a16="http://schemas.microsoft.com/office/drawing/2014/main" id="{A647186E-A633-4C56-A24E-5A4E068C446D}"/>
              </a:ext>
            </a:extLst>
          </p:cNvPr>
          <p:cNvSpPr>
            <a:spLocks noGrp="1"/>
          </p:cNvSpPr>
          <p:nvPr/>
        </p:nvSpPr>
        <p:spPr>
          <a:xfrm>
            <a:off x="1271853" y="2965450"/>
            <a:ext cx="10258367" cy="170954"/>
          </a:xfrm>
          <a:prstGeom prst="rect">
            <a:avLst/>
          </a:prstGeom>
          <a:noFill/>
        </p:spPr>
        <p:txBody>
          <a:bodyPr wrap="none" lIns="0" tIns="0" rIns="0" bIns="0" anchor="t"/>
          <a:lstStyle/>
          <a:p>
            <a:pPr marL="0" indent="0" algn="l">
              <a:lnSpc>
                <a:spcPct val="104000"/>
              </a:lnSpc>
              <a:buNone/>
            </a:pPr>
            <a:r>
              <a:rPr sz="1050" b="1" spc="-32">
                <a:solidFill>
                  <a:srgbClr val="272525"/>
                </a:solidFill>
                <a:latin typeface="Inter Bold"/>
                <a:ea typeface="Inter Bold"/>
                <a:cs typeface="Inter Bold"/>
              </a:rPr>
              <a:t>Objects</a:t>
            </a:r>
            <a:endParaRPr sz="1050"/>
          </a:p>
        </p:txBody>
      </p:sp>
      <p:sp>
        <p:nvSpPr>
          <p:cNvPr id="15" name="Text 10">
            <a:extLst>
              <a:ext uri="{FF2B5EF4-FFF2-40B4-BE49-F238E27FC236}">
                <a16:creationId xmlns:a16="http://schemas.microsoft.com/office/drawing/2014/main" id="{72ADD52D-5597-4158-A32A-6949D7B72D35}"/>
              </a:ext>
            </a:extLst>
          </p:cNvPr>
          <p:cNvSpPr>
            <a:spLocks noGrp="1"/>
          </p:cNvSpPr>
          <p:nvPr/>
        </p:nvSpPr>
        <p:spPr>
          <a:xfrm>
            <a:off x="1271853" y="3174405"/>
            <a:ext cx="10258367" cy="138212"/>
          </a:xfrm>
          <a:prstGeom prst="rect">
            <a:avLst/>
          </a:prstGeom>
          <a:noFill/>
        </p:spPr>
        <p:txBody>
          <a:bodyPr wrap="none" lIns="0" tIns="0" rIns="0" bIns="0" anchor="t"/>
          <a:lstStyle/>
          <a:p>
            <a:pPr marL="0" indent="0" algn="l">
              <a:lnSpc>
                <a:spcPct val="105000"/>
              </a:lnSpc>
              <a:buNone/>
            </a:pPr>
            <a:r>
              <a:rPr sz="850" spc="-17">
                <a:solidFill>
                  <a:srgbClr val="272525"/>
                </a:solidFill>
                <a:latin typeface="Inter"/>
                <a:ea typeface="Inter"/>
                <a:cs typeface="Inter"/>
              </a:rPr>
              <a:t>Classes &amp; Moodle</a:t>
            </a:r>
            <a:endParaRPr sz="850"/>
          </a:p>
        </p:txBody>
      </p:sp>
      <p:pic>
        <p:nvPicPr>
          <p:cNvPr id="53" name="Image 3"/>
          <p:cNvPicPr>
            <a:picLocks noChangeAspect="1"/>
          </p:cNvPicPr>
          <p:nvPr/>
        </p:nvPicPr>
        <p:blipFill>
          <a:blip r:embed="rId6"/>
          <a:stretch>
            <a:fillRect/>
          </a:stretch>
        </p:blipFill>
        <p:spPr>
          <a:xfrm>
            <a:off x="661475" y="3512641"/>
            <a:ext cx="547079" cy="656530"/>
          </a:xfrm>
          <a:prstGeom prst="rect">
            <a:avLst/>
          </a:prstGeom>
        </p:spPr>
      </p:pic>
      <p:sp>
        <p:nvSpPr>
          <p:cNvPr id="17" name="Text 11">
            <a:extLst>
              <a:ext uri="{FF2B5EF4-FFF2-40B4-BE49-F238E27FC236}">
                <a16:creationId xmlns:a16="http://schemas.microsoft.com/office/drawing/2014/main" id="{53BF8278-290C-4150-BD11-D949A153F778}"/>
              </a:ext>
            </a:extLst>
          </p:cNvPr>
          <p:cNvSpPr>
            <a:spLocks noGrp="1"/>
          </p:cNvSpPr>
          <p:nvPr/>
        </p:nvSpPr>
        <p:spPr>
          <a:xfrm>
            <a:off x="1271853" y="3621980"/>
            <a:ext cx="10258367" cy="170954"/>
          </a:xfrm>
          <a:prstGeom prst="rect">
            <a:avLst/>
          </a:prstGeom>
          <a:noFill/>
        </p:spPr>
        <p:txBody>
          <a:bodyPr wrap="none" lIns="0" tIns="0" rIns="0" bIns="0" anchor="t"/>
          <a:lstStyle/>
          <a:p>
            <a:pPr marL="0" indent="0" algn="l">
              <a:lnSpc>
                <a:spcPct val="104000"/>
              </a:lnSpc>
              <a:buNone/>
            </a:pPr>
            <a:r>
              <a:rPr sz="1050" b="1" spc="-32">
                <a:solidFill>
                  <a:srgbClr val="272525"/>
                </a:solidFill>
                <a:latin typeface="Inter Bold"/>
                <a:ea typeface="Inter Bold"/>
                <a:cs typeface="Inter Bold"/>
              </a:rPr>
              <a:t>URLs</a:t>
            </a:r>
            <a:endParaRPr sz="1050"/>
          </a:p>
        </p:txBody>
      </p:sp>
      <p:sp>
        <p:nvSpPr>
          <p:cNvPr id="18" name="Text 12">
            <a:extLst>
              <a:ext uri="{FF2B5EF4-FFF2-40B4-BE49-F238E27FC236}">
                <a16:creationId xmlns:a16="http://schemas.microsoft.com/office/drawing/2014/main" id="{F7B1311C-4309-491C-90D0-8DEA92A2D906}"/>
              </a:ext>
            </a:extLst>
          </p:cNvPr>
          <p:cNvSpPr>
            <a:spLocks noGrp="1"/>
          </p:cNvSpPr>
          <p:nvPr/>
        </p:nvSpPr>
        <p:spPr>
          <a:xfrm>
            <a:off x="1271853" y="3830935"/>
            <a:ext cx="10258367" cy="138212"/>
          </a:xfrm>
          <a:prstGeom prst="rect">
            <a:avLst/>
          </a:prstGeom>
          <a:noFill/>
        </p:spPr>
        <p:txBody>
          <a:bodyPr wrap="none" lIns="0" tIns="0" rIns="0" bIns="0" anchor="t"/>
          <a:lstStyle/>
          <a:p>
            <a:pPr marL="0" indent="0" algn="l">
              <a:lnSpc>
                <a:spcPct val="105000"/>
              </a:lnSpc>
              <a:buNone/>
            </a:pPr>
            <a:r>
              <a:rPr sz="850" spc="-17">
                <a:solidFill>
                  <a:srgbClr val="272525"/>
                </a:solidFill>
                <a:latin typeface="Inter"/>
                <a:ea typeface="Inter"/>
                <a:cs typeface="Inter"/>
              </a:rPr>
              <a:t>moodle_url</a:t>
            </a:r>
            <a:endParaRPr sz="850"/>
          </a:p>
        </p:txBody>
      </p:sp>
      <p:pic>
        <p:nvPicPr>
          <p:cNvPr id="56" name="Image 4"/>
          <p:cNvPicPr>
            <a:picLocks noChangeAspect="1"/>
          </p:cNvPicPr>
          <p:nvPr/>
        </p:nvPicPr>
        <p:blipFill>
          <a:blip r:embed="rId7"/>
          <a:stretch>
            <a:fillRect/>
          </a:stretch>
        </p:blipFill>
        <p:spPr>
          <a:xfrm>
            <a:off x="661475" y="4169172"/>
            <a:ext cx="547079" cy="656530"/>
          </a:xfrm>
          <a:prstGeom prst="rect">
            <a:avLst/>
          </a:prstGeom>
        </p:spPr>
      </p:pic>
      <p:sp>
        <p:nvSpPr>
          <p:cNvPr id="20" name="Text 13">
            <a:extLst>
              <a:ext uri="{FF2B5EF4-FFF2-40B4-BE49-F238E27FC236}">
                <a16:creationId xmlns:a16="http://schemas.microsoft.com/office/drawing/2014/main" id="{C29CA028-E035-4E3B-9AF4-8DB3052B5AC2}"/>
              </a:ext>
            </a:extLst>
          </p:cNvPr>
          <p:cNvSpPr>
            <a:spLocks noGrp="1"/>
          </p:cNvSpPr>
          <p:nvPr/>
        </p:nvSpPr>
        <p:spPr>
          <a:xfrm>
            <a:off x="1271853" y="4278511"/>
            <a:ext cx="10258367" cy="170954"/>
          </a:xfrm>
          <a:prstGeom prst="rect">
            <a:avLst/>
          </a:prstGeom>
          <a:noFill/>
        </p:spPr>
        <p:txBody>
          <a:bodyPr wrap="none" lIns="0" tIns="0" rIns="0" bIns="0" anchor="t"/>
          <a:lstStyle/>
          <a:p>
            <a:pPr marL="0" indent="0" algn="l">
              <a:lnSpc>
                <a:spcPct val="104000"/>
              </a:lnSpc>
              <a:buNone/>
            </a:pPr>
            <a:r>
              <a:rPr sz="1050" b="1" spc="-32">
                <a:solidFill>
                  <a:srgbClr val="272525"/>
                </a:solidFill>
                <a:latin typeface="Inter Bold"/>
                <a:ea typeface="Inter Bold"/>
                <a:cs typeface="Inter Bold"/>
              </a:rPr>
              <a:t>Security</a:t>
            </a:r>
            <a:endParaRPr sz="1050"/>
          </a:p>
        </p:txBody>
      </p:sp>
      <p:sp>
        <p:nvSpPr>
          <p:cNvPr id="21" name="Text 14">
            <a:extLst>
              <a:ext uri="{FF2B5EF4-FFF2-40B4-BE49-F238E27FC236}">
                <a16:creationId xmlns:a16="http://schemas.microsoft.com/office/drawing/2014/main" id="{3AE73380-F488-4656-A37B-21435839F244}"/>
              </a:ext>
            </a:extLst>
          </p:cNvPr>
          <p:cNvSpPr>
            <a:spLocks noGrp="1"/>
          </p:cNvSpPr>
          <p:nvPr/>
        </p:nvSpPr>
        <p:spPr>
          <a:xfrm>
            <a:off x="1271853" y="4487466"/>
            <a:ext cx="10258367" cy="138212"/>
          </a:xfrm>
          <a:prstGeom prst="rect">
            <a:avLst/>
          </a:prstGeom>
          <a:noFill/>
        </p:spPr>
        <p:txBody>
          <a:bodyPr wrap="none" lIns="0" tIns="0" rIns="0" bIns="0" anchor="t"/>
          <a:lstStyle/>
          <a:p>
            <a:pPr marL="0" indent="0" algn="l">
              <a:lnSpc>
                <a:spcPct val="105000"/>
              </a:lnSpc>
              <a:buNone/>
            </a:pPr>
            <a:r>
              <a:rPr sz="850" spc="-17">
                <a:solidFill>
                  <a:srgbClr val="272525"/>
                </a:solidFill>
                <a:latin typeface="Inter"/>
                <a:ea typeface="Inter"/>
                <a:cs typeface="Inter"/>
              </a:rPr>
              <a:t>Session keys</a:t>
            </a:r>
            <a:endParaRPr sz="850"/>
          </a:p>
        </p:txBody>
      </p:sp>
      <p:sp>
        <p:nvSpPr>
          <p:cNvPr id="22" name="Shape 15">
            <a:extLst>
              <a:ext uri="{FF2B5EF4-FFF2-40B4-BE49-F238E27FC236}">
                <a16:creationId xmlns:a16="http://schemas.microsoft.com/office/drawing/2014/main" id="{BEB51727-947A-4BDA-A8E8-D4C8B07B7C34}"/>
              </a:ext>
            </a:extLst>
          </p:cNvPr>
          <p:cNvSpPr>
            <a:spLocks noGrp="1"/>
          </p:cNvSpPr>
          <p:nvPr/>
        </p:nvSpPr>
        <p:spPr>
          <a:xfrm>
            <a:off x="661475" y="4924227"/>
            <a:ext cx="10868745" cy="12700"/>
          </a:xfrm>
          <a:prstGeom prst="roundRect">
            <a:avLst>
              <a:gd name="adj" fmla="val 49999"/>
            </a:avLst>
          </a:prstGeom>
          <a:solidFill>
            <a:srgbClr val="272525">
              <a:alpha val="50000"/>
            </a:srgbClr>
          </a:solidFill>
        </p:spPr>
        <p:txBody>
          <a:bodyPr/>
          <a:lstStyle/>
          <a:p>
            <a:endParaRPr/>
          </a:p>
        </p:txBody>
      </p:sp>
      <p:sp>
        <p:nvSpPr>
          <p:cNvPr id="23" name="Text 16">
            <a:extLst>
              <a:ext uri="{FF2B5EF4-FFF2-40B4-BE49-F238E27FC236}">
                <a16:creationId xmlns:a16="http://schemas.microsoft.com/office/drawing/2014/main" id="{092D6223-038E-4755-9297-F7F461457856}"/>
              </a:ext>
            </a:extLst>
          </p:cNvPr>
          <p:cNvSpPr>
            <a:spLocks noGrp="1"/>
          </p:cNvSpPr>
          <p:nvPr/>
        </p:nvSpPr>
        <p:spPr>
          <a:xfrm>
            <a:off x="661475" y="5059164"/>
            <a:ext cx="10868745" cy="170954"/>
          </a:xfrm>
          <a:prstGeom prst="rect">
            <a:avLst/>
          </a:prstGeom>
          <a:noFill/>
        </p:spPr>
        <p:txBody>
          <a:bodyPr wrap="none" lIns="0" tIns="0" rIns="0" bIns="0" anchor="t"/>
          <a:lstStyle/>
          <a:p>
            <a:pPr marL="0" indent="0" algn="l">
              <a:lnSpc>
                <a:spcPct val="104000"/>
              </a:lnSpc>
              <a:buNone/>
            </a:pPr>
            <a:r>
              <a:rPr sz="1050" b="1" spc="-32">
                <a:solidFill>
                  <a:srgbClr val="000000"/>
                </a:solidFill>
                <a:latin typeface="Inter Bold"/>
                <a:ea typeface="Inter Bold"/>
                <a:cs typeface="Inter Bold"/>
              </a:rPr>
              <a:t>Learning Goals</a:t>
            </a:r>
            <a:endParaRPr sz="1050"/>
          </a:p>
        </p:txBody>
      </p:sp>
      <p:sp>
        <p:nvSpPr>
          <p:cNvPr id="24" name="Shape 17">
            <a:extLst>
              <a:ext uri="{FF2B5EF4-FFF2-40B4-BE49-F238E27FC236}">
                <a16:creationId xmlns:a16="http://schemas.microsoft.com/office/drawing/2014/main" id="{AEABA699-AD6F-4A96-AC95-769E82FFF3AA}"/>
              </a:ext>
            </a:extLst>
          </p:cNvPr>
          <p:cNvSpPr>
            <a:spLocks noGrp="1"/>
          </p:cNvSpPr>
          <p:nvPr/>
        </p:nvSpPr>
        <p:spPr>
          <a:xfrm>
            <a:off x="661475" y="5325070"/>
            <a:ext cx="2669711" cy="520502"/>
          </a:xfrm>
          <a:prstGeom prst="roundRect">
            <a:avLst>
              <a:gd name="adj" fmla="val 8830"/>
            </a:avLst>
          </a:prstGeom>
          <a:solidFill>
            <a:srgbClr val="FFFFFF"/>
          </a:solidFill>
          <a:ln w="12700">
            <a:solidFill>
              <a:srgbClr val="C0C1D7"/>
            </a:solidFill>
            <a:prstDash val="solid"/>
          </a:ln>
        </p:spPr>
        <p:txBody>
          <a:bodyPr/>
          <a:lstStyle/>
          <a:p>
            <a:endParaRPr/>
          </a:p>
        </p:txBody>
      </p:sp>
      <p:sp>
        <p:nvSpPr>
          <p:cNvPr id="25" name="Text 18">
            <a:extLst>
              <a:ext uri="{FF2B5EF4-FFF2-40B4-BE49-F238E27FC236}">
                <a16:creationId xmlns:a16="http://schemas.microsoft.com/office/drawing/2014/main" id="{A028E0F0-07E7-44F6-BA03-DC18E8826156}"/>
              </a:ext>
            </a:extLst>
          </p:cNvPr>
          <p:cNvSpPr>
            <a:spLocks noGrp="1"/>
          </p:cNvSpPr>
          <p:nvPr/>
        </p:nvSpPr>
        <p:spPr>
          <a:xfrm>
            <a:off x="783511" y="5447109"/>
            <a:ext cx="2425639" cy="138212"/>
          </a:xfrm>
          <a:prstGeom prst="rect">
            <a:avLst/>
          </a:prstGeom>
          <a:noFill/>
        </p:spPr>
        <p:txBody>
          <a:bodyPr wrap="none" lIns="0" tIns="0" rIns="0" bIns="0" anchor="t"/>
          <a:lstStyle/>
          <a:p>
            <a:pPr marL="0" indent="0" algn="l">
              <a:lnSpc>
                <a:spcPct val="105000"/>
              </a:lnSpc>
              <a:buNone/>
            </a:pPr>
            <a:r>
              <a:rPr sz="850" spc="-17">
                <a:solidFill>
                  <a:srgbClr val="272525"/>
                </a:solidFill>
                <a:latin typeface="Inter"/>
                <a:ea typeface="Inter"/>
                <a:cs typeface="Inter"/>
              </a:rPr>
              <a:t>Store related values in </a:t>
            </a:r>
            <a:r>
              <a:rPr sz="850" b="1" spc="-17">
                <a:solidFill>
                  <a:srgbClr val="272525"/>
                </a:solidFill>
                <a:latin typeface="Inter Bold"/>
                <a:ea typeface="Inter Bold"/>
                <a:cs typeface="Inter Bold"/>
              </a:rPr>
              <a:t>arrays</a:t>
            </a:r>
            <a:endParaRPr sz="850"/>
          </a:p>
        </p:txBody>
      </p:sp>
      <p:sp>
        <p:nvSpPr>
          <p:cNvPr id="26" name="Shape 19">
            <a:extLst>
              <a:ext uri="{FF2B5EF4-FFF2-40B4-BE49-F238E27FC236}">
                <a16:creationId xmlns:a16="http://schemas.microsoft.com/office/drawing/2014/main" id="{1D543FC7-2E48-474F-BE36-FBE6874C7EC1}"/>
              </a:ext>
            </a:extLst>
          </p:cNvPr>
          <p:cNvSpPr>
            <a:spLocks noGrp="1"/>
          </p:cNvSpPr>
          <p:nvPr/>
        </p:nvSpPr>
        <p:spPr>
          <a:xfrm>
            <a:off x="3394486" y="5325070"/>
            <a:ext cx="2669711" cy="520502"/>
          </a:xfrm>
          <a:prstGeom prst="roundRect">
            <a:avLst>
              <a:gd name="adj" fmla="val 8830"/>
            </a:avLst>
          </a:prstGeom>
          <a:solidFill>
            <a:srgbClr val="FFFFFF"/>
          </a:solidFill>
          <a:ln w="12700">
            <a:solidFill>
              <a:srgbClr val="C0C1D7"/>
            </a:solidFill>
            <a:prstDash val="solid"/>
          </a:ln>
        </p:spPr>
        <p:txBody>
          <a:bodyPr/>
          <a:lstStyle/>
          <a:p>
            <a:endParaRPr/>
          </a:p>
        </p:txBody>
      </p:sp>
      <p:sp>
        <p:nvSpPr>
          <p:cNvPr id="27" name="Text 20">
            <a:extLst>
              <a:ext uri="{FF2B5EF4-FFF2-40B4-BE49-F238E27FC236}">
                <a16:creationId xmlns:a16="http://schemas.microsoft.com/office/drawing/2014/main" id="{23CC268C-1D33-4FB5-8FD2-9EF0045D9B82}"/>
              </a:ext>
            </a:extLst>
          </p:cNvPr>
          <p:cNvSpPr>
            <a:spLocks noGrp="1"/>
          </p:cNvSpPr>
          <p:nvPr/>
        </p:nvSpPr>
        <p:spPr>
          <a:xfrm>
            <a:off x="3516522" y="5447109"/>
            <a:ext cx="2425639" cy="138212"/>
          </a:xfrm>
          <a:prstGeom prst="rect">
            <a:avLst/>
          </a:prstGeom>
          <a:noFill/>
        </p:spPr>
        <p:txBody>
          <a:bodyPr wrap="none" lIns="0" tIns="0" rIns="0" bIns="0" anchor="t"/>
          <a:lstStyle/>
          <a:p>
            <a:pPr marL="0" indent="0" algn="l">
              <a:lnSpc>
                <a:spcPct val="105000"/>
              </a:lnSpc>
              <a:buNone/>
            </a:pPr>
            <a:r>
              <a:rPr sz="850" spc="-17">
                <a:solidFill>
                  <a:srgbClr val="272525"/>
                </a:solidFill>
                <a:latin typeface="Inter"/>
                <a:ea typeface="Inter"/>
                <a:cs typeface="Inter"/>
              </a:rPr>
              <a:t>Repeat actions with </a:t>
            </a:r>
            <a:r>
              <a:rPr sz="850" b="1" spc="-17">
                <a:solidFill>
                  <a:srgbClr val="272525"/>
                </a:solidFill>
                <a:latin typeface="Inter Bold"/>
                <a:ea typeface="Inter Bold"/>
                <a:cs typeface="Inter Bold"/>
              </a:rPr>
              <a:t>for</a:t>
            </a:r>
            <a:r>
              <a:rPr sz="850" spc="-17">
                <a:solidFill>
                  <a:srgbClr val="272525"/>
                </a:solidFill>
                <a:latin typeface="Inter"/>
                <a:ea typeface="Inter"/>
                <a:cs typeface="Inter"/>
              </a:rPr>
              <a:t> and </a:t>
            </a:r>
            <a:r>
              <a:rPr sz="850" b="1" spc="-17">
                <a:solidFill>
                  <a:srgbClr val="272525"/>
                </a:solidFill>
                <a:latin typeface="Inter Bold"/>
                <a:ea typeface="Inter Bold"/>
                <a:cs typeface="Inter Bold"/>
              </a:rPr>
              <a:t>foreach</a:t>
            </a:r>
            <a:endParaRPr sz="850"/>
          </a:p>
        </p:txBody>
      </p:sp>
      <p:sp>
        <p:nvSpPr>
          <p:cNvPr id="28" name="Shape 21">
            <a:extLst>
              <a:ext uri="{FF2B5EF4-FFF2-40B4-BE49-F238E27FC236}">
                <a16:creationId xmlns:a16="http://schemas.microsoft.com/office/drawing/2014/main" id="{3CF66A4A-CFB6-4004-B79E-4EEF28626F9D}"/>
              </a:ext>
            </a:extLst>
          </p:cNvPr>
          <p:cNvSpPr>
            <a:spLocks noGrp="1"/>
          </p:cNvSpPr>
          <p:nvPr/>
        </p:nvSpPr>
        <p:spPr>
          <a:xfrm>
            <a:off x="6127497" y="5325070"/>
            <a:ext cx="2669711" cy="520502"/>
          </a:xfrm>
          <a:prstGeom prst="roundRect">
            <a:avLst>
              <a:gd name="adj" fmla="val 8830"/>
            </a:avLst>
          </a:prstGeom>
          <a:solidFill>
            <a:srgbClr val="FFFFFF"/>
          </a:solidFill>
          <a:ln w="12700">
            <a:solidFill>
              <a:srgbClr val="C0C1D7"/>
            </a:solidFill>
            <a:prstDash val="solid"/>
          </a:ln>
        </p:spPr>
        <p:txBody>
          <a:bodyPr/>
          <a:lstStyle/>
          <a:p>
            <a:endParaRPr/>
          </a:p>
        </p:txBody>
      </p:sp>
      <p:sp>
        <p:nvSpPr>
          <p:cNvPr id="29" name="Text 22">
            <a:extLst>
              <a:ext uri="{FF2B5EF4-FFF2-40B4-BE49-F238E27FC236}">
                <a16:creationId xmlns:a16="http://schemas.microsoft.com/office/drawing/2014/main" id="{D9A8FCF5-F442-48A2-A683-746B16D94CB0}"/>
              </a:ext>
            </a:extLst>
          </p:cNvPr>
          <p:cNvSpPr>
            <a:spLocks noGrp="1"/>
          </p:cNvSpPr>
          <p:nvPr/>
        </p:nvSpPr>
        <p:spPr>
          <a:xfrm>
            <a:off x="6249533" y="5447109"/>
            <a:ext cx="2425639" cy="276423"/>
          </a:xfrm>
          <a:prstGeom prst="rect">
            <a:avLst/>
          </a:prstGeom>
          <a:noFill/>
        </p:spPr>
        <p:txBody>
          <a:bodyPr wrap="square" lIns="0" tIns="0" rIns="0" bIns="0" anchor="t">
            <a:normAutofit/>
          </a:bodyPr>
          <a:lstStyle/>
          <a:p>
            <a:pPr marL="0" indent="0" algn="l">
              <a:lnSpc>
                <a:spcPct val="105000"/>
              </a:lnSpc>
              <a:buNone/>
            </a:pPr>
            <a:r>
              <a:rPr sz="850" spc="-17">
                <a:solidFill>
                  <a:srgbClr val="272525"/>
                </a:solidFill>
                <a:latin typeface="Inter"/>
                <a:ea typeface="Inter"/>
                <a:cs typeface="Inter"/>
              </a:rPr>
              <a:t>Understand </a:t>
            </a:r>
            <a:r>
              <a:rPr sz="850" b="1" spc="-17">
                <a:solidFill>
                  <a:srgbClr val="272525"/>
                </a:solidFill>
                <a:latin typeface="Inter Bold"/>
                <a:ea typeface="Inter Bold"/>
                <a:cs typeface="Inter Bold"/>
              </a:rPr>
              <a:t>classes, objects</a:t>
            </a:r>
            <a:r>
              <a:rPr sz="850" spc="-17">
                <a:solidFill>
                  <a:srgbClr val="272525"/>
                </a:solidFill>
                <a:latin typeface="Inter"/>
                <a:ea typeface="Inter"/>
                <a:cs typeface="Inter"/>
              </a:rPr>
              <a:t> and Moodle objects</a:t>
            </a:r>
            <a:endParaRPr sz="850"/>
          </a:p>
        </p:txBody>
      </p:sp>
      <p:sp>
        <p:nvSpPr>
          <p:cNvPr id="30" name="Shape 23">
            <a:extLst>
              <a:ext uri="{FF2B5EF4-FFF2-40B4-BE49-F238E27FC236}">
                <a16:creationId xmlns:a16="http://schemas.microsoft.com/office/drawing/2014/main" id="{50C6ECAC-A923-4666-9BCA-908770AC1BA0}"/>
              </a:ext>
            </a:extLst>
          </p:cNvPr>
          <p:cNvSpPr>
            <a:spLocks noGrp="1"/>
          </p:cNvSpPr>
          <p:nvPr/>
        </p:nvSpPr>
        <p:spPr>
          <a:xfrm>
            <a:off x="8860509" y="5325070"/>
            <a:ext cx="2669711" cy="520502"/>
          </a:xfrm>
          <a:prstGeom prst="roundRect">
            <a:avLst>
              <a:gd name="adj" fmla="val 8830"/>
            </a:avLst>
          </a:prstGeom>
          <a:solidFill>
            <a:srgbClr val="FFFFFF"/>
          </a:solidFill>
          <a:ln w="12700">
            <a:solidFill>
              <a:srgbClr val="C0C1D7"/>
            </a:solidFill>
            <a:prstDash val="solid"/>
          </a:ln>
        </p:spPr>
        <p:txBody>
          <a:bodyPr/>
          <a:lstStyle/>
          <a:p>
            <a:endParaRPr/>
          </a:p>
        </p:txBody>
      </p:sp>
      <p:sp>
        <p:nvSpPr>
          <p:cNvPr id="31" name="Text 24">
            <a:extLst>
              <a:ext uri="{FF2B5EF4-FFF2-40B4-BE49-F238E27FC236}">
                <a16:creationId xmlns:a16="http://schemas.microsoft.com/office/drawing/2014/main" id="{6B7552B9-D95C-4647-9A5D-84494AC73C1D}"/>
              </a:ext>
            </a:extLst>
          </p:cNvPr>
          <p:cNvSpPr>
            <a:spLocks noGrp="1"/>
          </p:cNvSpPr>
          <p:nvPr/>
        </p:nvSpPr>
        <p:spPr>
          <a:xfrm>
            <a:off x="8982545" y="5447109"/>
            <a:ext cx="2425639" cy="138212"/>
          </a:xfrm>
          <a:prstGeom prst="rect">
            <a:avLst/>
          </a:prstGeom>
          <a:noFill/>
        </p:spPr>
        <p:txBody>
          <a:bodyPr wrap="none" lIns="0" tIns="0" rIns="0" bIns="0" anchor="t"/>
          <a:lstStyle/>
          <a:p>
            <a:pPr marL="0" indent="0" algn="l">
              <a:lnSpc>
                <a:spcPct val="105000"/>
              </a:lnSpc>
              <a:buNone/>
            </a:pPr>
            <a:r>
              <a:rPr sz="850" spc="-17">
                <a:solidFill>
                  <a:srgbClr val="272525"/>
                </a:solidFill>
                <a:latin typeface="Inter"/>
                <a:ea typeface="Inter"/>
                <a:cs typeface="Inter"/>
              </a:rPr>
              <a:t>Build safe </a:t>
            </a:r>
            <a:r>
              <a:rPr sz="850" b="1" spc="-17">
                <a:solidFill>
                  <a:srgbClr val="272525"/>
                </a:solidFill>
                <a:latin typeface="Inter Bold"/>
                <a:ea typeface="Inter Bold"/>
                <a:cs typeface="Inter Bold"/>
              </a:rPr>
              <a:t>dynamic URLs</a:t>
            </a:r>
            <a:endParaRPr sz="850"/>
          </a:p>
        </p:txBody>
      </p:sp>
      <p:sp>
        <p:nvSpPr>
          <p:cNvPr id="32" name="Shape 25">
            <a:extLst>
              <a:ext uri="{FF2B5EF4-FFF2-40B4-BE49-F238E27FC236}">
                <a16:creationId xmlns:a16="http://schemas.microsoft.com/office/drawing/2014/main" id="{37D19016-AC9E-41E1-9559-3F5592D4ADCC}"/>
              </a:ext>
            </a:extLst>
          </p:cNvPr>
          <p:cNvSpPr>
            <a:spLocks noGrp="1"/>
          </p:cNvSpPr>
          <p:nvPr/>
        </p:nvSpPr>
        <p:spPr>
          <a:xfrm>
            <a:off x="661475" y="5908873"/>
            <a:ext cx="10868745" cy="382290"/>
          </a:xfrm>
          <a:prstGeom prst="roundRect">
            <a:avLst>
              <a:gd name="adj" fmla="val 12022"/>
            </a:avLst>
          </a:prstGeom>
          <a:solidFill>
            <a:srgbClr val="FFFFFF"/>
          </a:solidFill>
          <a:ln w="12700">
            <a:solidFill>
              <a:srgbClr val="C0C1D7"/>
            </a:solidFill>
            <a:prstDash val="solid"/>
          </a:ln>
        </p:spPr>
        <p:txBody>
          <a:bodyPr/>
          <a:lstStyle/>
          <a:p>
            <a:endParaRPr/>
          </a:p>
        </p:txBody>
      </p:sp>
      <p:sp>
        <p:nvSpPr>
          <p:cNvPr id="33" name="Text 26">
            <a:extLst>
              <a:ext uri="{FF2B5EF4-FFF2-40B4-BE49-F238E27FC236}">
                <a16:creationId xmlns:a16="http://schemas.microsoft.com/office/drawing/2014/main" id="{8A00ED15-C181-40C7-A17F-7CA7D7DDD16B}"/>
              </a:ext>
            </a:extLst>
          </p:cNvPr>
          <p:cNvSpPr>
            <a:spLocks noGrp="1"/>
          </p:cNvSpPr>
          <p:nvPr/>
        </p:nvSpPr>
        <p:spPr>
          <a:xfrm>
            <a:off x="783511" y="6030913"/>
            <a:ext cx="10624673" cy="138212"/>
          </a:xfrm>
          <a:prstGeom prst="rect">
            <a:avLst/>
          </a:prstGeom>
          <a:noFill/>
        </p:spPr>
        <p:txBody>
          <a:bodyPr wrap="none" lIns="0" tIns="0" rIns="0" bIns="0" anchor="t"/>
          <a:lstStyle/>
          <a:p>
            <a:pPr marL="0" indent="0" algn="l">
              <a:lnSpc>
                <a:spcPct val="105000"/>
              </a:lnSpc>
              <a:buNone/>
            </a:pPr>
            <a:r>
              <a:rPr sz="850" spc="-17">
                <a:solidFill>
                  <a:srgbClr val="272525"/>
                </a:solidFill>
                <a:latin typeface="Inter"/>
                <a:ea typeface="Inter"/>
                <a:cs typeface="Inter"/>
              </a:rPr>
              <a:t>Protect actions using </a:t>
            </a:r>
            <a:r>
              <a:rPr sz="850" b="1" spc="-17">
                <a:solidFill>
                  <a:srgbClr val="272525"/>
                </a:solidFill>
                <a:latin typeface="Inter Bold"/>
                <a:ea typeface="Inter Bold"/>
                <a:cs typeface="Inter Bold"/>
              </a:rPr>
              <a:t>session keys</a:t>
            </a:r>
            <a:endParaRPr sz="850"/>
          </a:p>
        </p:txBody>
      </p:sp>
    </p:spTree>
    <p:extLst>
      <p:ext uri="{BB962C8B-B14F-4D97-AF65-F5344CB8AC3E}">
        <p14:creationId xmlns:p14="http://schemas.microsoft.com/office/powerpoint/2010/main" val="1945416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9496344-56BC-4E6A-88B3-FBB261A4C495}"/>
              </a:ext>
            </a:extLst>
          </p:cNvPr>
          <p:cNvSpPr>
            <a:spLocks noGrp="1"/>
          </p:cNvSpPr>
          <p:nvPr/>
        </p:nvSpPr>
        <p:spPr>
          <a:xfrm>
            <a:off x="661475" y="582811"/>
            <a:ext cx="755631" cy="272752"/>
          </a:xfrm>
          <a:prstGeom prst="roundRect">
            <a:avLst>
              <a:gd name="adj" fmla="val 22121"/>
            </a:avLst>
          </a:prstGeom>
          <a:solidFill>
            <a:srgbClr val="DADBF1"/>
          </a:solidFill>
        </p:spPr>
        <p:txBody>
          <a:bodyPr/>
          <a:lstStyle/>
          <a:p>
            <a:endParaRPr/>
          </a:p>
        </p:txBody>
      </p:sp>
      <p:sp>
        <p:nvSpPr>
          <p:cNvPr id="3" name="Text 1">
            <a:extLst>
              <a:ext uri="{FF2B5EF4-FFF2-40B4-BE49-F238E27FC236}">
                <a16:creationId xmlns:a16="http://schemas.microsoft.com/office/drawing/2014/main" id="{B7935C39-C46D-4E53-ADA9-56F9566C3B6C}"/>
              </a:ext>
            </a:extLst>
          </p:cNvPr>
          <p:cNvSpPr>
            <a:spLocks noGrp="1"/>
          </p:cNvSpPr>
          <p:nvPr/>
        </p:nvSpPr>
        <p:spPr>
          <a:xfrm>
            <a:off x="769125" y="636587"/>
            <a:ext cx="1149917" cy="165199"/>
          </a:xfrm>
          <a:prstGeom prst="rect">
            <a:avLst/>
          </a:prstGeom>
          <a:noFill/>
        </p:spPr>
        <p:txBody>
          <a:bodyPr wrap="none" lIns="0" tIns="0" rIns="0" bIns="0" anchor="t"/>
          <a:lstStyle/>
          <a:p>
            <a:pPr marL="0" indent="0" algn="l">
              <a:lnSpc>
                <a:spcPct val="96000"/>
              </a:lnSpc>
              <a:buNone/>
            </a:pPr>
            <a:r>
              <a:rPr sz="1100" spc="-28">
                <a:solidFill>
                  <a:srgbClr val="272525"/>
                </a:solidFill>
                <a:latin typeface="Inter"/>
                <a:ea typeface="Inter"/>
                <a:cs typeface="Inter"/>
              </a:rPr>
              <a:t>ARRAYS</a:t>
            </a:r>
            <a:endParaRPr sz="1100"/>
          </a:p>
        </p:txBody>
      </p:sp>
      <p:sp>
        <p:nvSpPr>
          <p:cNvPr id="4" name="Text 2">
            <a:extLst>
              <a:ext uri="{FF2B5EF4-FFF2-40B4-BE49-F238E27FC236}">
                <a16:creationId xmlns:a16="http://schemas.microsoft.com/office/drawing/2014/main" id="{5D2B8879-1585-4481-89EA-69EC74B32880}"/>
              </a:ext>
            </a:extLst>
          </p:cNvPr>
          <p:cNvSpPr>
            <a:spLocks noGrp="1"/>
          </p:cNvSpPr>
          <p:nvPr/>
        </p:nvSpPr>
        <p:spPr>
          <a:xfrm>
            <a:off x="661475" y="923727"/>
            <a:ext cx="10868745" cy="561181"/>
          </a:xfrm>
          <a:prstGeom prst="rect">
            <a:avLst/>
          </a:prstGeom>
          <a:noFill/>
        </p:spPr>
        <p:txBody>
          <a:bodyPr wrap="none" lIns="0" tIns="0" rIns="0" bIns="0" anchor="t"/>
          <a:lstStyle/>
          <a:p>
            <a:pPr marL="0" indent="0" algn="l">
              <a:lnSpc>
                <a:spcPct val="104000"/>
              </a:lnSpc>
              <a:buNone/>
            </a:pPr>
            <a:r>
              <a:rPr sz="3500" b="1" spc="-106">
                <a:solidFill>
                  <a:srgbClr val="000000"/>
                </a:solidFill>
                <a:latin typeface="Inter Bold"/>
                <a:ea typeface="Inter Bold"/>
                <a:cs typeface="Inter Bold"/>
              </a:rPr>
              <a:t>Indexed Arrays: One Variable, Many Values</a:t>
            </a:r>
            <a:endParaRPr sz="3500"/>
          </a:p>
        </p:txBody>
      </p:sp>
      <p:sp>
        <p:nvSpPr>
          <p:cNvPr id="5" name="Text 3">
            <a:extLst>
              <a:ext uri="{FF2B5EF4-FFF2-40B4-BE49-F238E27FC236}">
                <a16:creationId xmlns:a16="http://schemas.microsoft.com/office/drawing/2014/main" id="{ECB622FA-6135-4207-9F5A-141919CDF482}"/>
              </a:ext>
            </a:extLst>
          </p:cNvPr>
          <p:cNvSpPr>
            <a:spLocks noGrp="1"/>
          </p:cNvSpPr>
          <p:nvPr/>
        </p:nvSpPr>
        <p:spPr>
          <a:xfrm>
            <a:off x="661475" y="1740793"/>
            <a:ext cx="11478330" cy="286445"/>
          </a:xfrm>
          <a:prstGeom prst="rect">
            <a:avLst/>
          </a:prstGeom>
          <a:noFill/>
        </p:spPr>
        <p:txBody>
          <a:bodyPr wrap="none" lIns="0" tIns="0" rIns="0" bIns="0" anchor="t"/>
          <a:lstStyle/>
          <a:p>
            <a:pPr marL="0" indent="0" algn="l">
              <a:lnSpc>
                <a:spcPct val="130000"/>
              </a:lnSpc>
              <a:buNone/>
            </a:pPr>
            <a:r>
              <a:rPr sz="1400" spc="-28">
                <a:solidFill>
                  <a:srgbClr val="272525"/>
                </a:solidFill>
                <a:latin typeface="Inter"/>
                <a:ea typeface="Inter"/>
                <a:cs typeface="Inter"/>
              </a:rPr>
              <a:t>An </a:t>
            </a:r>
            <a:r>
              <a:rPr sz="1400" b="1" spc="-28">
                <a:solidFill>
                  <a:srgbClr val="272525"/>
                </a:solidFill>
                <a:latin typeface="Inter Bold"/>
                <a:ea typeface="Inter Bold"/>
                <a:cs typeface="Inter Bold"/>
              </a:rPr>
              <a:t>indexed array</a:t>
            </a:r>
            <a:r>
              <a:rPr sz="1400" spc="-28">
                <a:solidFill>
                  <a:srgbClr val="272525"/>
                </a:solidFill>
                <a:latin typeface="Inter"/>
                <a:ea typeface="Inter"/>
                <a:cs typeface="Inter"/>
              </a:rPr>
              <a:t> stores an ordered list. Its positions begin at </a:t>
            </a:r>
            <a:r>
              <a:rPr sz="1400" spc="-28">
                <a:solidFill>
                  <a:srgbClr val="272525"/>
                </a:solidFill>
                <a:highlight>
                  <a:srgbClr val="F2F2F2"/>
                </a:highlight>
                <a:latin typeface="Consolas"/>
                <a:ea typeface="Consolas"/>
                <a:cs typeface="Consolas"/>
              </a:rPr>
              <a:t>0</a:t>
            </a:r>
            <a:r>
              <a:rPr sz="1400" spc="-28">
                <a:solidFill>
                  <a:srgbClr val="272525"/>
                </a:solidFill>
                <a:latin typeface="Inter"/>
                <a:ea typeface="Inter"/>
                <a:cs typeface="Inter"/>
              </a:rPr>
              <a:t>.</a:t>
            </a:r>
            <a:endParaRPr sz="1400"/>
          </a:p>
        </p:txBody>
      </p:sp>
      <p:sp>
        <p:nvSpPr>
          <p:cNvPr id="6" name="Shape 4">
            <a:extLst>
              <a:ext uri="{FF2B5EF4-FFF2-40B4-BE49-F238E27FC236}">
                <a16:creationId xmlns:a16="http://schemas.microsoft.com/office/drawing/2014/main" id="{5876C0A6-D41B-42C9-9432-719553F8152D}"/>
              </a:ext>
            </a:extLst>
          </p:cNvPr>
          <p:cNvSpPr>
            <a:spLocks noGrp="1"/>
          </p:cNvSpPr>
          <p:nvPr/>
        </p:nvSpPr>
        <p:spPr>
          <a:xfrm>
            <a:off x="661475" y="2411016"/>
            <a:ext cx="6119759" cy="2370336"/>
          </a:xfrm>
          <a:prstGeom prst="roundRect">
            <a:avLst>
              <a:gd name="adj" fmla="val 3182"/>
            </a:avLst>
          </a:prstGeom>
          <a:solidFill>
            <a:srgbClr val="F2F2F2"/>
          </a:solidFill>
        </p:spPr>
        <p:txBody>
          <a:bodyPr/>
          <a:lstStyle/>
          <a:p>
            <a:endParaRPr/>
          </a:p>
        </p:txBody>
      </p:sp>
      <p:sp>
        <p:nvSpPr>
          <p:cNvPr id="7" name="Text 5">
            <a:extLst>
              <a:ext uri="{FF2B5EF4-FFF2-40B4-BE49-F238E27FC236}">
                <a16:creationId xmlns:a16="http://schemas.microsoft.com/office/drawing/2014/main" id="{4BFF0EE6-877C-4465-ABF4-2BA770623675}"/>
              </a:ext>
            </a:extLst>
          </p:cNvPr>
          <p:cNvSpPr>
            <a:spLocks noGrp="1"/>
          </p:cNvSpPr>
          <p:nvPr/>
        </p:nvSpPr>
        <p:spPr>
          <a:xfrm>
            <a:off x="876873" y="2590502"/>
            <a:ext cx="5688962" cy="2011362"/>
          </a:xfrm>
          <a:prstGeom prst="rect">
            <a:avLst/>
          </a:prstGeom>
          <a:noFill/>
        </p:spPr>
        <p:txBody>
          <a:bodyPr wrap="square" lIns="0" tIns="0" rIns="0" bIns="0" anchor="t">
            <a:normAutofit/>
          </a:bodyPr>
          <a:lstStyle/>
          <a:p>
            <a:pPr marL="0" indent="0" algn="l">
              <a:lnSpc>
                <a:spcPct val="133000"/>
              </a:lnSpc>
              <a:buNone/>
            </a:pPr>
            <a:r>
              <a:rPr sz="1400" spc="-28">
                <a:solidFill>
                  <a:srgbClr val="005CC5"/>
                </a:solidFill>
                <a:latin typeface="Consolas"/>
                <a:ea typeface="Consolas"/>
                <a:cs typeface="Consolas"/>
              </a:rPr>
              <a:t>$topics = ['HTML', 'CSS', 'PHP'];
echo $topics[0];    // HTML
echo count($topics); // 3
$topics[] = 'SQL';
</a:t>
            </a:r>
            <a:endParaRPr sz="1400"/>
          </a:p>
        </p:txBody>
      </p:sp>
      <p:sp>
        <p:nvSpPr>
          <p:cNvPr id="8" name="Shape 6">
            <a:extLst>
              <a:ext uri="{FF2B5EF4-FFF2-40B4-BE49-F238E27FC236}">
                <a16:creationId xmlns:a16="http://schemas.microsoft.com/office/drawing/2014/main" id="{E3FD9329-1B5B-4EA5-8DD7-25F553C4446A}"/>
              </a:ext>
            </a:extLst>
          </p:cNvPr>
          <p:cNvSpPr>
            <a:spLocks noGrp="1"/>
          </p:cNvSpPr>
          <p:nvPr/>
        </p:nvSpPr>
        <p:spPr>
          <a:xfrm>
            <a:off x="7225722" y="2411016"/>
            <a:ext cx="404009" cy="404019"/>
          </a:xfrm>
          <a:prstGeom prst="roundRect">
            <a:avLst>
              <a:gd name="adj" fmla="val 18667"/>
            </a:avLst>
          </a:prstGeom>
          <a:solidFill>
            <a:srgbClr val="DADBF1"/>
          </a:solidFill>
          <a:ln w="6350">
            <a:solidFill>
              <a:srgbClr val="C0C1D7"/>
            </a:solidFill>
            <a:prstDash val="solid"/>
          </a:ln>
        </p:spPr>
        <p:txBody>
          <a:bodyPr/>
          <a:lstStyle/>
          <a:p>
            <a:endParaRPr/>
          </a:p>
        </p:txBody>
      </p:sp>
      <p:sp>
        <p:nvSpPr>
          <p:cNvPr id="9" name="Text 7">
            <a:extLst>
              <a:ext uri="{FF2B5EF4-FFF2-40B4-BE49-F238E27FC236}">
                <a16:creationId xmlns:a16="http://schemas.microsoft.com/office/drawing/2014/main" id="{45FC78CD-028A-4BDB-A533-1BD1F9532AF0}"/>
              </a:ext>
            </a:extLst>
          </p:cNvPr>
          <p:cNvSpPr>
            <a:spLocks noGrp="1"/>
          </p:cNvSpPr>
          <p:nvPr/>
        </p:nvSpPr>
        <p:spPr>
          <a:xfrm>
            <a:off x="7800284" y="2472730"/>
            <a:ext cx="1474155" cy="560983"/>
          </a:xfrm>
          <a:prstGeom prst="rect">
            <a:avLst/>
          </a:prstGeom>
          <a:noFill/>
        </p:spPr>
        <p:txBody>
          <a:bodyPr wrap="square" lIns="0" tIns="0" rIns="0" bIns="0" anchor="t">
            <a:normAutofit/>
          </a:bodyPr>
          <a:lstStyle/>
          <a:p>
            <a:pPr marL="0" indent="0" algn="l">
              <a:lnSpc>
                <a:spcPct val="104000"/>
              </a:lnSpc>
              <a:buNone/>
            </a:pPr>
            <a:r>
              <a:rPr sz="1750" b="1" spc="-53">
                <a:solidFill>
                  <a:srgbClr val="272525"/>
                </a:solidFill>
                <a:latin typeface="Inter Bold"/>
                <a:ea typeface="Inter Bold"/>
                <a:cs typeface="Inter Bold"/>
              </a:rPr>
              <a:t>Square brackets</a:t>
            </a:r>
            <a:endParaRPr sz="1750"/>
          </a:p>
        </p:txBody>
      </p:sp>
      <p:sp>
        <p:nvSpPr>
          <p:cNvPr id="10" name="Text 8">
            <a:extLst>
              <a:ext uri="{FF2B5EF4-FFF2-40B4-BE49-F238E27FC236}">
                <a16:creationId xmlns:a16="http://schemas.microsoft.com/office/drawing/2014/main" id="{A96DA57E-3159-487F-9E79-DE60EA56C687}"/>
              </a:ext>
            </a:extLst>
          </p:cNvPr>
          <p:cNvSpPr>
            <a:spLocks noGrp="1"/>
          </p:cNvSpPr>
          <p:nvPr/>
        </p:nvSpPr>
        <p:spPr>
          <a:xfrm>
            <a:off x="7800284" y="3204270"/>
            <a:ext cx="1474155" cy="560189"/>
          </a:xfrm>
          <a:prstGeom prst="rect">
            <a:avLst/>
          </a:prstGeom>
          <a:noFill/>
        </p:spPr>
        <p:txBody>
          <a:bodyPr wrap="square" lIns="0" tIns="0" rIns="0" bIns="0" anchor="t">
            <a:normAutofit/>
          </a:bodyPr>
          <a:lstStyle/>
          <a:p>
            <a:pPr marL="0" indent="0" algn="l">
              <a:lnSpc>
                <a:spcPct val="130000"/>
              </a:lnSpc>
              <a:buNone/>
            </a:pPr>
            <a:r>
              <a:rPr sz="1400" spc="-28">
                <a:solidFill>
                  <a:srgbClr val="272525"/>
                </a:solidFill>
                <a:latin typeface="Inter"/>
                <a:ea typeface="Inter"/>
                <a:cs typeface="Inter"/>
              </a:rPr>
              <a:t>Create or access an array element</a:t>
            </a:r>
            <a:endParaRPr sz="1400"/>
          </a:p>
        </p:txBody>
      </p:sp>
      <p:sp>
        <p:nvSpPr>
          <p:cNvPr id="11" name="Shape 9">
            <a:extLst>
              <a:ext uri="{FF2B5EF4-FFF2-40B4-BE49-F238E27FC236}">
                <a16:creationId xmlns:a16="http://schemas.microsoft.com/office/drawing/2014/main" id="{12CCA692-38C6-4707-A133-886E24ED5CBA}"/>
              </a:ext>
            </a:extLst>
          </p:cNvPr>
          <p:cNvSpPr>
            <a:spLocks noGrp="1"/>
          </p:cNvSpPr>
          <p:nvPr/>
        </p:nvSpPr>
        <p:spPr>
          <a:xfrm>
            <a:off x="9487655" y="2411016"/>
            <a:ext cx="404009" cy="404019"/>
          </a:xfrm>
          <a:prstGeom prst="roundRect">
            <a:avLst>
              <a:gd name="adj" fmla="val 18667"/>
            </a:avLst>
          </a:prstGeom>
          <a:solidFill>
            <a:srgbClr val="DADBF1"/>
          </a:solidFill>
          <a:ln w="6350">
            <a:solidFill>
              <a:srgbClr val="C0C1D7"/>
            </a:solidFill>
            <a:prstDash val="solid"/>
          </a:ln>
        </p:spPr>
        <p:txBody>
          <a:bodyPr/>
          <a:lstStyle/>
          <a:p>
            <a:endParaRPr/>
          </a:p>
        </p:txBody>
      </p:sp>
      <p:sp>
        <p:nvSpPr>
          <p:cNvPr id="12" name="Text 10">
            <a:extLst>
              <a:ext uri="{FF2B5EF4-FFF2-40B4-BE49-F238E27FC236}">
                <a16:creationId xmlns:a16="http://schemas.microsoft.com/office/drawing/2014/main" id="{DB8EE578-8A72-4059-997B-611112BDF0AA}"/>
              </a:ext>
            </a:extLst>
          </p:cNvPr>
          <p:cNvSpPr>
            <a:spLocks noGrp="1"/>
          </p:cNvSpPr>
          <p:nvPr/>
        </p:nvSpPr>
        <p:spPr>
          <a:xfrm>
            <a:off x="10062216" y="2472730"/>
            <a:ext cx="1474255" cy="280491"/>
          </a:xfrm>
          <a:prstGeom prst="rect">
            <a:avLst/>
          </a:prstGeom>
          <a:noFill/>
        </p:spPr>
        <p:txBody>
          <a:bodyPr wrap="none" lIns="0" tIns="0" rIns="0" bIns="0" anchor="t"/>
          <a:lstStyle/>
          <a:p>
            <a:pPr marL="0" indent="0" algn="l">
              <a:lnSpc>
                <a:spcPct val="104000"/>
              </a:lnSpc>
              <a:buNone/>
            </a:pPr>
            <a:r>
              <a:rPr sz="1750" b="1" spc="-53">
                <a:solidFill>
                  <a:srgbClr val="272525"/>
                </a:solidFill>
                <a:latin typeface="Inter Bold"/>
                <a:ea typeface="Inter Bold"/>
                <a:cs typeface="Inter Bold"/>
              </a:rPr>
              <a:t>Index 0</a:t>
            </a:r>
            <a:endParaRPr sz="1750"/>
          </a:p>
        </p:txBody>
      </p:sp>
      <p:sp>
        <p:nvSpPr>
          <p:cNvPr id="13" name="Text 11">
            <a:extLst>
              <a:ext uri="{FF2B5EF4-FFF2-40B4-BE49-F238E27FC236}">
                <a16:creationId xmlns:a16="http://schemas.microsoft.com/office/drawing/2014/main" id="{6D2044A3-A5D7-44B5-A3CC-3D22D77149EB}"/>
              </a:ext>
            </a:extLst>
          </p:cNvPr>
          <p:cNvSpPr>
            <a:spLocks noGrp="1"/>
          </p:cNvSpPr>
          <p:nvPr/>
        </p:nvSpPr>
        <p:spPr>
          <a:xfrm>
            <a:off x="10062216" y="2923778"/>
            <a:ext cx="1474255" cy="560189"/>
          </a:xfrm>
          <a:prstGeom prst="rect">
            <a:avLst/>
          </a:prstGeom>
          <a:noFill/>
        </p:spPr>
        <p:txBody>
          <a:bodyPr wrap="square" lIns="0" tIns="0" rIns="0" bIns="0" anchor="t">
            <a:normAutofit/>
          </a:bodyPr>
          <a:lstStyle/>
          <a:p>
            <a:pPr marL="0" indent="0" algn="l">
              <a:lnSpc>
                <a:spcPct val="130000"/>
              </a:lnSpc>
              <a:buNone/>
            </a:pPr>
            <a:r>
              <a:rPr sz="1400" spc="-28">
                <a:solidFill>
                  <a:srgbClr val="272525"/>
                </a:solidFill>
                <a:latin typeface="Inter"/>
                <a:ea typeface="Inter"/>
                <a:cs typeface="Inter"/>
              </a:rPr>
              <a:t>Is always the </a:t>
            </a:r>
            <a:r>
              <a:rPr sz="1400" b="1" spc="-28">
                <a:solidFill>
                  <a:srgbClr val="272525"/>
                </a:solidFill>
                <a:latin typeface="Inter Bold"/>
                <a:ea typeface="Inter Bold"/>
                <a:cs typeface="Inter Bold"/>
              </a:rPr>
              <a:t>first</a:t>
            </a:r>
            <a:r>
              <a:rPr sz="1400" spc="-28">
                <a:solidFill>
                  <a:srgbClr val="272525"/>
                </a:solidFill>
                <a:latin typeface="Inter"/>
                <a:ea typeface="Inter"/>
                <a:cs typeface="Inter"/>
              </a:rPr>
              <a:t> item</a:t>
            </a:r>
            <a:endParaRPr sz="1400"/>
          </a:p>
        </p:txBody>
      </p:sp>
      <p:sp>
        <p:nvSpPr>
          <p:cNvPr id="14" name="Shape 12">
            <a:extLst>
              <a:ext uri="{FF2B5EF4-FFF2-40B4-BE49-F238E27FC236}">
                <a16:creationId xmlns:a16="http://schemas.microsoft.com/office/drawing/2014/main" id="{D83EC33B-7389-4BDD-9FEA-44E20C2E2496}"/>
              </a:ext>
            </a:extLst>
          </p:cNvPr>
          <p:cNvSpPr>
            <a:spLocks noGrp="1"/>
          </p:cNvSpPr>
          <p:nvPr/>
        </p:nvSpPr>
        <p:spPr>
          <a:xfrm>
            <a:off x="7225722" y="4105573"/>
            <a:ext cx="404009" cy="404019"/>
          </a:xfrm>
          <a:prstGeom prst="roundRect">
            <a:avLst>
              <a:gd name="adj" fmla="val 18667"/>
            </a:avLst>
          </a:prstGeom>
          <a:solidFill>
            <a:srgbClr val="DADBF1"/>
          </a:solidFill>
          <a:ln w="6350">
            <a:solidFill>
              <a:srgbClr val="C0C1D7"/>
            </a:solidFill>
            <a:prstDash val="solid"/>
          </a:ln>
        </p:spPr>
        <p:txBody>
          <a:bodyPr/>
          <a:lstStyle/>
          <a:p>
            <a:endParaRPr/>
          </a:p>
        </p:txBody>
      </p:sp>
      <p:sp>
        <p:nvSpPr>
          <p:cNvPr id="15" name="Text 13">
            <a:extLst>
              <a:ext uri="{FF2B5EF4-FFF2-40B4-BE49-F238E27FC236}">
                <a16:creationId xmlns:a16="http://schemas.microsoft.com/office/drawing/2014/main" id="{B602F689-BA52-4786-9171-AADEC4A421A0}"/>
              </a:ext>
            </a:extLst>
          </p:cNvPr>
          <p:cNvSpPr>
            <a:spLocks noGrp="1"/>
          </p:cNvSpPr>
          <p:nvPr/>
        </p:nvSpPr>
        <p:spPr>
          <a:xfrm>
            <a:off x="7800284" y="4167287"/>
            <a:ext cx="1474155" cy="293191"/>
          </a:xfrm>
          <a:prstGeom prst="rect">
            <a:avLst/>
          </a:prstGeom>
          <a:noFill/>
        </p:spPr>
        <p:txBody>
          <a:bodyPr wrap="none" lIns="0" tIns="0" rIns="0" bIns="0" anchor="t"/>
          <a:lstStyle/>
          <a:p>
            <a:pPr marL="0" indent="0" algn="l">
              <a:lnSpc>
                <a:spcPct val="104000"/>
              </a:lnSpc>
              <a:buNone/>
            </a:pPr>
            <a:r>
              <a:rPr sz="1750" b="1" spc="-53">
                <a:solidFill>
                  <a:srgbClr val="272525"/>
                </a:solidFill>
                <a:highlight>
                  <a:srgbClr val="F2F2F2"/>
                </a:highlight>
                <a:latin typeface="Consolas"/>
                <a:ea typeface="Consolas"/>
                <a:cs typeface="Consolas"/>
              </a:rPr>
              <a:t>[]</a:t>
            </a:r>
            <a:r>
              <a:rPr sz="1750" b="1" spc="-53">
                <a:solidFill>
                  <a:srgbClr val="272525"/>
                </a:solidFill>
                <a:latin typeface="Inter Bold"/>
                <a:ea typeface="Inter Bold"/>
                <a:cs typeface="Inter Bold"/>
              </a:rPr>
              <a:t> appends</a:t>
            </a:r>
            <a:endParaRPr sz="1750"/>
          </a:p>
        </p:txBody>
      </p:sp>
      <p:sp>
        <p:nvSpPr>
          <p:cNvPr id="16" name="Text 14">
            <a:extLst>
              <a:ext uri="{FF2B5EF4-FFF2-40B4-BE49-F238E27FC236}">
                <a16:creationId xmlns:a16="http://schemas.microsoft.com/office/drawing/2014/main" id="{6526054B-081D-4591-902A-75969E4B7C64}"/>
              </a:ext>
            </a:extLst>
          </p:cNvPr>
          <p:cNvSpPr>
            <a:spLocks noGrp="1"/>
          </p:cNvSpPr>
          <p:nvPr/>
        </p:nvSpPr>
        <p:spPr>
          <a:xfrm>
            <a:off x="7800284" y="4631035"/>
            <a:ext cx="1474155" cy="560189"/>
          </a:xfrm>
          <a:prstGeom prst="rect">
            <a:avLst/>
          </a:prstGeom>
          <a:noFill/>
        </p:spPr>
        <p:txBody>
          <a:bodyPr wrap="square" lIns="0" tIns="0" rIns="0" bIns="0" anchor="t">
            <a:normAutofit/>
          </a:bodyPr>
          <a:lstStyle/>
          <a:p>
            <a:pPr marL="0" indent="0" algn="l">
              <a:lnSpc>
                <a:spcPct val="130000"/>
              </a:lnSpc>
              <a:buNone/>
            </a:pPr>
            <a:r>
              <a:rPr sz="1400" spc="-28">
                <a:solidFill>
                  <a:srgbClr val="272525"/>
                </a:solidFill>
                <a:latin typeface="Inter"/>
                <a:ea typeface="Inter"/>
                <a:cs typeface="Inter"/>
              </a:rPr>
              <a:t>Adds an item at the end</a:t>
            </a:r>
            <a:endParaRPr sz="1400"/>
          </a:p>
        </p:txBody>
      </p:sp>
      <p:sp>
        <p:nvSpPr>
          <p:cNvPr id="17" name="Shape 15">
            <a:extLst>
              <a:ext uri="{FF2B5EF4-FFF2-40B4-BE49-F238E27FC236}">
                <a16:creationId xmlns:a16="http://schemas.microsoft.com/office/drawing/2014/main" id="{95096385-1973-40A9-A8F3-FFE8195B4A10}"/>
              </a:ext>
            </a:extLst>
          </p:cNvPr>
          <p:cNvSpPr>
            <a:spLocks noGrp="1"/>
          </p:cNvSpPr>
          <p:nvPr/>
        </p:nvSpPr>
        <p:spPr>
          <a:xfrm>
            <a:off x="9487655" y="4105573"/>
            <a:ext cx="404009" cy="404019"/>
          </a:xfrm>
          <a:prstGeom prst="roundRect">
            <a:avLst>
              <a:gd name="adj" fmla="val 18667"/>
            </a:avLst>
          </a:prstGeom>
          <a:solidFill>
            <a:srgbClr val="DADBF1"/>
          </a:solidFill>
          <a:ln w="6350">
            <a:solidFill>
              <a:srgbClr val="C0C1D7"/>
            </a:solidFill>
            <a:prstDash val="solid"/>
          </a:ln>
        </p:spPr>
        <p:txBody>
          <a:bodyPr/>
          <a:lstStyle/>
          <a:p>
            <a:endParaRPr/>
          </a:p>
        </p:txBody>
      </p:sp>
      <p:sp>
        <p:nvSpPr>
          <p:cNvPr id="18" name="Text 16">
            <a:extLst>
              <a:ext uri="{FF2B5EF4-FFF2-40B4-BE49-F238E27FC236}">
                <a16:creationId xmlns:a16="http://schemas.microsoft.com/office/drawing/2014/main" id="{E8E603D4-68FA-42DB-8FCD-4EBBE082C9D7}"/>
              </a:ext>
            </a:extLst>
          </p:cNvPr>
          <p:cNvSpPr>
            <a:spLocks noGrp="1"/>
          </p:cNvSpPr>
          <p:nvPr/>
        </p:nvSpPr>
        <p:spPr>
          <a:xfrm>
            <a:off x="10062216" y="4167287"/>
            <a:ext cx="1474255" cy="293191"/>
          </a:xfrm>
          <a:prstGeom prst="rect">
            <a:avLst/>
          </a:prstGeom>
          <a:noFill/>
        </p:spPr>
        <p:txBody>
          <a:bodyPr wrap="none" lIns="0" tIns="0" rIns="0" bIns="0" anchor="t"/>
          <a:lstStyle/>
          <a:p>
            <a:pPr marL="0" indent="0" algn="l">
              <a:lnSpc>
                <a:spcPct val="104000"/>
              </a:lnSpc>
              <a:buNone/>
            </a:pPr>
            <a:r>
              <a:rPr sz="1750" b="1" spc="-53">
                <a:solidFill>
                  <a:srgbClr val="272525"/>
                </a:solidFill>
                <a:highlight>
                  <a:srgbClr val="F2F2F2"/>
                </a:highlight>
                <a:latin typeface="Consolas"/>
                <a:ea typeface="Consolas"/>
                <a:cs typeface="Consolas"/>
              </a:rPr>
              <a:t>count()</a:t>
            </a:r>
            <a:endParaRPr sz="1750"/>
          </a:p>
        </p:txBody>
      </p:sp>
      <p:sp>
        <p:nvSpPr>
          <p:cNvPr id="19" name="Text 17">
            <a:extLst>
              <a:ext uri="{FF2B5EF4-FFF2-40B4-BE49-F238E27FC236}">
                <a16:creationId xmlns:a16="http://schemas.microsoft.com/office/drawing/2014/main" id="{96A96A52-4CFB-4890-87E2-0CA5E22E2D9F}"/>
              </a:ext>
            </a:extLst>
          </p:cNvPr>
          <p:cNvSpPr>
            <a:spLocks noGrp="1"/>
          </p:cNvSpPr>
          <p:nvPr/>
        </p:nvSpPr>
        <p:spPr>
          <a:xfrm>
            <a:off x="10062216" y="4631035"/>
            <a:ext cx="1474255" cy="560189"/>
          </a:xfrm>
          <a:prstGeom prst="rect">
            <a:avLst/>
          </a:prstGeom>
          <a:noFill/>
        </p:spPr>
        <p:txBody>
          <a:bodyPr wrap="square" lIns="0" tIns="0" rIns="0" bIns="0" anchor="t">
            <a:normAutofit/>
          </a:bodyPr>
          <a:lstStyle/>
          <a:p>
            <a:pPr marL="0" indent="0" algn="l">
              <a:lnSpc>
                <a:spcPct val="130000"/>
              </a:lnSpc>
              <a:buNone/>
            </a:pPr>
            <a:r>
              <a:rPr sz="1400" spc="-28">
                <a:solidFill>
                  <a:srgbClr val="272525"/>
                </a:solidFill>
                <a:latin typeface="Inter"/>
                <a:ea typeface="Inter"/>
                <a:cs typeface="Inter"/>
              </a:rPr>
              <a:t>Returns the number of items</a:t>
            </a:r>
            <a:endParaRPr sz="1400"/>
          </a:p>
        </p:txBody>
      </p:sp>
    </p:spTree>
    <p:extLst>
      <p:ext uri="{BB962C8B-B14F-4D97-AF65-F5344CB8AC3E}">
        <p14:creationId xmlns:p14="http://schemas.microsoft.com/office/powerpoint/2010/main" val="1823137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FB35ED0-4C88-4489-8F48-5458669DECAB}"/>
              </a:ext>
            </a:extLst>
          </p:cNvPr>
          <p:cNvSpPr>
            <a:spLocks noGrp="1"/>
          </p:cNvSpPr>
          <p:nvPr/>
        </p:nvSpPr>
        <p:spPr>
          <a:xfrm>
            <a:off x="661475" y="607318"/>
            <a:ext cx="715945" cy="258465"/>
          </a:xfrm>
          <a:prstGeom prst="roundRect">
            <a:avLst>
              <a:gd name="adj" fmla="val 22115"/>
            </a:avLst>
          </a:prstGeom>
          <a:solidFill>
            <a:srgbClr val="DADBF1"/>
          </a:solidFill>
        </p:spPr>
        <p:txBody>
          <a:bodyPr/>
          <a:lstStyle/>
          <a:p>
            <a:endParaRPr/>
          </a:p>
        </p:txBody>
      </p:sp>
      <p:sp>
        <p:nvSpPr>
          <p:cNvPr id="3" name="Text 1">
            <a:extLst>
              <a:ext uri="{FF2B5EF4-FFF2-40B4-BE49-F238E27FC236}">
                <a16:creationId xmlns:a16="http://schemas.microsoft.com/office/drawing/2014/main" id="{80B404F9-8091-4E90-96EA-D9E3E4807F6D}"/>
              </a:ext>
            </a:extLst>
          </p:cNvPr>
          <p:cNvSpPr>
            <a:spLocks noGrp="1"/>
          </p:cNvSpPr>
          <p:nvPr/>
        </p:nvSpPr>
        <p:spPr>
          <a:xfrm>
            <a:off x="763469" y="658316"/>
            <a:ext cx="1121541" cy="156468"/>
          </a:xfrm>
          <a:prstGeom prst="rect">
            <a:avLst/>
          </a:prstGeom>
          <a:noFill/>
        </p:spPr>
        <p:txBody>
          <a:bodyPr wrap="none" lIns="0" tIns="0" rIns="0" bIns="0" anchor="t"/>
          <a:lstStyle/>
          <a:p>
            <a:pPr marL="0" indent="0" algn="l">
              <a:lnSpc>
                <a:spcPct val="96000"/>
              </a:lnSpc>
              <a:buNone/>
            </a:pPr>
            <a:r>
              <a:rPr sz="1050" spc="-27">
                <a:solidFill>
                  <a:srgbClr val="272525"/>
                </a:solidFill>
                <a:latin typeface="Inter"/>
                <a:ea typeface="Inter"/>
                <a:cs typeface="Inter"/>
              </a:rPr>
              <a:t>ARRAYS</a:t>
            </a:r>
            <a:endParaRPr sz="1050"/>
          </a:p>
        </p:txBody>
      </p:sp>
      <p:sp>
        <p:nvSpPr>
          <p:cNvPr id="4" name="Text 2">
            <a:extLst>
              <a:ext uri="{FF2B5EF4-FFF2-40B4-BE49-F238E27FC236}">
                <a16:creationId xmlns:a16="http://schemas.microsoft.com/office/drawing/2014/main" id="{0059044E-2270-4D82-8A33-4418E23F7E07}"/>
              </a:ext>
            </a:extLst>
          </p:cNvPr>
          <p:cNvSpPr>
            <a:spLocks noGrp="1"/>
          </p:cNvSpPr>
          <p:nvPr/>
        </p:nvSpPr>
        <p:spPr>
          <a:xfrm>
            <a:off x="661475" y="927001"/>
            <a:ext cx="10868745" cy="531614"/>
          </a:xfrm>
          <a:prstGeom prst="rect">
            <a:avLst/>
          </a:prstGeom>
          <a:noFill/>
        </p:spPr>
        <p:txBody>
          <a:bodyPr wrap="none" lIns="0" tIns="0" rIns="0" bIns="0" anchor="t"/>
          <a:lstStyle/>
          <a:p>
            <a:pPr marL="0" indent="0" algn="l">
              <a:lnSpc>
                <a:spcPct val="104000"/>
              </a:lnSpc>
              <a:buNone/>
            </a:pPr>
            <a:r>
              <a:rPr sz="3300" b="1" spc="-100">
                <a:solidFill>
                  <a:srgbClr val="000000"/>
                </a:solidFill>
                <a:latin typeface="Inter Bold"/>
                <a:ea typeface="Inter Bold"/>
                <a:cs typeface="Inter Bold"/>
              </a:rPr>
              <a:t>Associative Arrays: Meaningful Keys</a:t>
            </a:r>
            <a:endParaRPr sz="3300"/>
          </a:p>
        </p:txBody>
      </p:sp>
      <p:sp>
        <p:nvSpPr>
          <p:cNvPr id="5" name="Text 3">
            <a:extLst>
              <a:ext uri="{FF2B5EF4-FFF2-40B4-BE49-F238E27FC236}">
                <a16:creationId xmlns:a16="http://schemas.microsoft.com/office/drawing/2014/main" id="{70E1AC50-EEEC-474A-A95E-E08CCA0F7F77}"/>
              </a:ext>
            </a:extLst>
          </p:cNvPr>
          <p:cNvSpPr>
            <a:spLocks noGrp="1"/>
          </p:cNvSpPr>
          <p:nvPr/>
        </p:nvSpPr>
        <p:spPr>
          <a:xfrm>
            <a:off x="661475" y="1688207"/>
            <a:ext cx="11478330" cy="258564"/>
          </a:xfrm>
          <a:prstGeom prst="rect">
            <a:avLst/>
          </a:prstGeom>
          <a:noFill/>
        </p:spPr>
        <p:txBody>
          <a:bodyPr wrap="none" lIns="0" tIns="0" rIns="0" bIns="0" anchor="t"/>
          <a:lstStyle/>
          <a:p>
            <a:pPr marL="0" indent="0" algn="l">
              <a:lnSpc>
                <a:spcPct val="127000"/>
              </a:lnSpc>
              <a:buNone/>
            </a:pPr>
            <a:r>
              <a:rPr sz="1300" spc="-27">
                <a:solidFill>
                  <a:srgbClr val="272525"/>
                </a:solidFill>
                <a:latin typeface="Inter"/>
                <a:ea typeface="Inter"/>
                <a:cs typeface="Inter"/>
              </a:rPr>
              <a:t>An </a:t>
            </a:r>
            <a:r>
              <a:rPr sz="1300" b="1" spc="-27">
                <a:solidFill>
                  <a:srgbClr val="272525"/>
                </a:solidFill>
                <a:latin typeface="Inter Bold"/>
                <a:ea typeface="Inter Bold"/>
                <a:cs typeface="Inter Bold"/>
              </a:rPr>
              <a:t>associative array</a:t>
            </a:r>
            <a:r>
              <a:rPr sz="1300" spc="-27">
                <a:solidFill>
                  <a:srgbClr val="272525"/>
                </a:solidFill>
                <a:latin typeface="Inter"/>
                <a:ea typeface="Inter"/>
                <a:cs typeface="Inter"/>
              </a:rPr>
              <a:t> connects each value to a named key.</a:t>
            </a:r>
            <a:endParaRPr sz="1300"/>
          </a:p>
        </p:txBody>
      </p:sp>
      <p:sp>
        <p:nvSpPr>
          <p:cNvPr id="6" name="Shape 4">
            <a:extLst>
              <a:ext uri="{FF2B5EF4-FFF2-40B4-BE49-F238E27FC236}">
                <a16:creationId xmlns:a16="http://schemas.microsoft.com/office/drawing/2014/main" id="{96677931-0C29-4C0E-A513-5A1CFC87F756}"/>
              </a:ext>
            </a:extLst>
          </p:cNvPr>
          <p:cNvSpPr>
            <a:spLocks noGrp="1"/>
          </p:cNvSpPr>
          <p:nvPr/>
        </p:nvSpPr>
        <p:spPr>
          <a:xfrm>
            <a:off x="661475" y="2291259"/>
            <a:ext cx="5791055" cy="2518172"/>
          </a:xfrm>
          <a:prstGeom prst="roundRect">
            <a:avLst>
              <a:gd name="adj" fmla="val 2837"/>
            </a:avLst>
          </a:prstGeom>
          <a:solidFill>
            <a:srgbClr val="F2F2F2"/>
          </a:solidFill>
        </p:spPr>
        <p:txBody>
          <a:bodyPr/>
          <a:lstStyle/>
          <a:p>
            <a:endParaRPr/>
          </a:p>
        </p:txBody>
      </p:sp>
      <p:sp>
        <p:nvSpPr>
          <p:cNvPr id="7" name="Text 5">
            <a:extLst>
              <a:ext uri="{FF2B5EF4-FFF2-40B4-BE49-F238E27FC236}">
                <a16:creationId xmlns:a16="http://schemas.microsoft.com/office/drawing/2014/main" id="{D6C430AA-5F74-4D2F-8956-282EC06C09BB}"/>
              </a:ext>
            </a:extLst>
          </p:cNvPr>
          <p:cNvSpPr>
            <a:spLocks noGrp="1"/>
          </p:cNvSpPr>
          <p:nvPr/>
        </p:nvSpPr>
        <p:spPr>
          <a:xfrm>
            <a:off x="865563" y="2461320"/>
            <a:ext cx="5382879" cy="2178050"/>
          </a:xfrm>
          <a:prstGeom prst="rect">
            <a:avLst/>
          </a:prstGeom>
          <a:noFill/>
        </p:spPr>
        <p:txBody>
          <a:bodyPr wrap="square" lIns="0" tIns="0" rIns="0" bIns="0" anchor="t">
            <a:normAutofit/>
          </a:bodyPr>
          <a:lstStyle/>
          <a:p>
            <a:pPr marL="0" indent="0" algn="l">
              <a:lnSpc>
                <a:spcPct val="133000"/>
              </a:lnSpc>
              <a:buNone/>
            </a:pPr>
            <a:r>
              <a:rPr sz="1300" spc="-27">
                <a:solidFill>
                  <a:srgbClr val="005CC5"/>
                </a:solidFill>
                <a:latin typeface="Consolas"/>
                <a:ea typeface="Consolas"/>
                <a:cs typeface="Consolas"/>
              </a:rPr>
              <a:t>$course = [
    'shortname' =&gt; 'WEB101',
    'fullname'  =&gt; 'Introduction to Web Development',
    'visible'   =&gt; true
];
echo $course['fullname'];
</a:t>
            </a:r>
            <a:endParaRPr sz="1300"/>
          </a:p>
        </p:txBody>
      </p:sp>
      <p:sp>
        <p:nvSpPr>
          <p:cNvPr id="8" name="Text 6">
            <a:extLst>
              <a:ext uri="{FF2B5EF4-FFF2-40B4-BE49-F238E27FC236}">
                <a16:creationId xmlns:a16="http://schemas.microsoft.com/office/drawing/2014/main" id="{6AEBD082-4046-49A8-A133-AC9E6246DAAB}"/>
              </a:ext>
            </a:extLst>
          </p:cNvPr>
          <p:cNvSpPr>
            <a:spLocks noGrp="1"/>
          </p:cNvSpPr>
          <p:nvPr/>
        </p:nvSpPr>
        <p:spPr>
          <a:xfrm>
            <a:off x="6873802" y="2272109"/>
            <a:ext cx="4662669" cy="265708"/>
          </a:xfrm>
          <a:prstGeom prst="rect">
            <a:avLst/>
          </a:prstGeom>
          <a:noFill/>
        </p:spPr>
        <p:txBody>
          <a:bodyPr wrap="none" lIns="0" tIns="0" rIns="0" bIns="0" anchor="t"/>
          <a:lstStyle/>
          <a:p>
            <a:pPr marL="0" indent="0" algn="l">
              <a:lnSpc>
                <a:spcPct val="104000"/>
              </a:lnSpc>
              <a:buNone/>
            </a:pPr>
            <a:r>
              <a:rPr sz="1650" b="1" spc="-50">
                <a:solidFill>
                  <a:srgbClr val="000000"/>
                </a:solidFill>
                <a:latin typeface="Inter Bold"/>
                <a:ea typeface="Inter Bold"/>
                <a:cs typeface="Inter Bold"/>
              </a:rPr>
              <a:t>Indexed vs. Associative</a:t>
            </a:r>
            <a:endParaRPr sz="1650"/>
          </a:p>
        </p:txBody>
      </p:sp>
      <p:graphicFrame>
        <p:nvGraphicFramePr>
          <p:cNvPr id="23" name="Table 0"/>
          <p:cNvGraphicFramePr/>
          <p:nvPr/>
        </p:nvGraphicFramePr>
        <p:xfrm>
          <a:off x="6873802" y="2710061"/>
          <a:ext cx="4662668" cy="1635679"/>
        </p:xfrm>
        <a:graphic>
          <a:graphicData uri="http://schemas.openxmlformats.org/drawingml/2006/table">
            <a:tbl>
              <a:tblPr/>
              <a:tblGrid>
                <a:gridCol w="1865067">
                  <a:extLst>
                    <a:ext uri="{9D8B030D-6E8A-4147-A177-3AD203B41FA5}">
                      <a16:colId xmlns:a16="http://schemas.microsoft.com/office/drawing/2014/main" val="20000"/>
                    </a:ext>
                  </a:extLst>
                </a:gridCol>
                <a:gridCol w="1631934">
                  <a:extLst>
                    <a:ext uri="{9D8B030D-6E8A-4147-A177-3AD203B41FA5}">
                      <a16:colId xmlns:a16="http://schemas.microsoft.com/office/drawing/2014/main" val="20001"/>
                    </a:ext>
                  </a:extLst>
                </a:gridCol>
                <a:gridCol w="1165667">
                  <a:extLst>
                    <a:ext uri="{9D8B030D-6E8A-4147-A177-3AD203B41FA5}">
                      <a16:colId xmlns:a16="http://schemas.microsoft.com/office/drawing/2014/main" val="20002"/>
                    </a:ext>
                  </a:extLst>
                </a:gridCol>
              </a:tblGrid>
              <a:tr h="457982">
                <a:tc>
                  <a:txBody>
                    <a:bodyPr/>
                    <a:lstStyle/>
                    <a:p>
                      <a:pPr marL="0" indent="0">
                        <a:buNone/>
                      </a:pPr>
                      <a:r>
                        <a:rPr sz="1300" b="1" spc="-27">
                          <a:solidFill>
                            <a:srgbClr val="272525"/>
                          </a:solidFill>
                          <a:latin typeface="Inter"/>
                          <a:ea typeface="Inter"/>
                          <a:cs typeface="Inter"/>
                        </a:rPr>
                        <a:t>Type</a:t>
                      </a:r>
                      <a:endParaRPr sz="1300">
                        <a:latin typeface="Inter"/>
                        <a:ea typeface="Inter"/>
                        <a:cs typeface="Inter"/>
                      </a:endParaRPr>
                    </a:p>
                  </a:txBody>
                  <a:tcPr marL="170117" marR="170117" marT="6350" marB="6350" anchor="ctr">
                    <a:lnL w="12700" cmpd="sng">
                      <a:solidFill>
                        <a:srgbClr val="C0C1D7"/>
                      </a:solidFill>
                      <a:prstDash val="solid"/>
                    </a:lnL>
                    <a:lnR w="12700" cmpd="sng">
                      <a:solidFill>
                        <a:srgbClr val="FFFFFF"/>
                      </a:solidFill>
                      <a:prstDash val="solid"/>
                    </a:lnR>
                    <a:lnT w="12700" cmpd="sng">
                      <a:solidFill>
                        <a:srgbClr val="C0C1D7"/>
                      </a:solidFill>
                      <a:prstDash val="solid"/>
                    </a:lnT>
                    <a:lnB w="12700" cmpd="sng">
                      <a:solidFill>
                        <a:srgbClr val="C0C1D7"/>
                      </a:solidFill>
                      <a:prstDash val="solid"/>
                    </a:lnB>
                  </a:tcPr>
                </a:tc>
                <a:tc>
                  <a:txBody>
                    <a:bodyPr/>
                    <a:lstStyle/>
                    <a:p>
                      <a:pPr marL="0" indent="0">
                        <a:buNone/>
                      </a:pPr>
                      <a:r>
                        <a:rPr sz="1300" b="1" spc="-27">
                          <a:solidFill>
                            <a:srgbClr val="272525"/>
                          </a:solidFill>
                          <a:latin typeface="Inter"/>
                          <a:ea typeface="Inter"/>
                          <a:cs typeface="Inter"/>
                        </a:rPr>
                        <a:t>Access</a:t>
                      </a:r>
                      <a:endParaRPr sz="1300">
                        <a:latin typeface="Inter"/>
                        <a:ea typeface="Inter"/>
                        <a:cs typeface="Inter"/>
                      </a:endParaRPr>
                    </a:p>
                  </a:txBody>
                  <a:tcPr marL="170117" marR="170117" marT="6350" marB="6350" anchor="ctr">
                    <a:lnL w="12700" cmpd="sng">
                      <a:solidFill>
                        <a:srgbClr val="FFFFFF"/>
                      </a:solidFill>
                      <a:prstDash val="solid"/>
                    </a:lnL>
                    <a:lnR w="12700" cmpd="sng">
                      <a:solidFill>
                        <a:srgbClr val="FFFFFF"/>
                      </a:solidFill>
                      <a:prstDash val="solid"/>
                    </a:lnR>
                    <a:lnT w="12700" cmpd="sng">
                      <a:solidFill>
                        <a:srgbClr val="C0C1D7"/>
                      </a:solidFill>
                      <a:prstDash val="solid"/>
                    </a:lnT>
                    <a:lnB w="12700" cmpd="sng">
                      <a:solidFill>
                        <a:srgbClr val="C0C1D7"/>
                      </a:solidFill>
                      <a:prstDash val="solid"/>
                    </a:lnB>
                  </a:tcPr>
                </a:tc>
                <a:tc>
                  <a:txBody>
                    <a:bodyPr/>
                    <a:lstStyle/>
                    <a:p>
                      <a:pPr marL="0" indent="0">
                        <a:buNone/>
                      </a:pPr>
                      <a:r>
                        <a:rPr sz="1300" b="1" spc="-27">
                          <a:solidFill>
                            <a:srgbClr val="272525"/>
                          </a:solidFill>
                          <a:latin typeface="Inter"/>
                          <a:ea typeface="Inter"/>
                          <a:cs typeface="Inter"/>
                        </a:rPr>
                        <a:t>Basis</a:t>
                      </a:r>
                      <a:endParaRPr sz="1300">
                        <a:latin typeface="Inter"/>
                        <a:ea typeface="Inter"/>
                        <a:cs typeface="Inter"/>
                      </a:endParaRPr>
                    </a:p>
                  </a:txBody>
                  <a:tcPr marL="170117" marR="170117" marT="6350" marB="6350" anchor="ctr">
                    <a:lnL w="12700" cmpd="sng">
                      <a:solidFill>
                        <a:srgbClr val="FFFFFF"/>
                      </a:solidFill>
                      <a:prstDash val="solid"/>
                    </a:lnL>
                    <a:lnR w="12700" cmpd="sng">
                      <a:solidFill>
                        <a:srgbClr val="C0C1D7"/>
                      </a:solidFill>
                      <a:prstDash val="solid"/>
                    </a:lnR>
                    <a:lnT w="12700" cmpd="sng">
                      <a:solidFill>
                        <a:srgbClr val="C0C1D7"/>
                      </a:solidFill>
                      <a:prstDash val="solid"/>
                    </a:lnT>
                    <a:lnB w="12700" cmpd="sng">
                      <a:solidFill>
                        <a:srgbClr val="C0C1D7"/>
                      </a:solidFill>
                      <a:prstDash val="solid"/>
                    </a:lnB>
                  </a:tcPr>
                </a:tc>
                <a:extLst>
                  <a:ext uri="{0D108BD9-81ED-4DB2-BD59-A6C34878D82A}">
                    <a16:rowId xmlns:a16="http://schemas.microsoft.com/office/drawing/2014/main" val="10000"/>
                  </a:ext>
                </a:extLst>
              </a:tr>
              <a:tr h="461157">
                <a:tc>
                  <a:txBody>
                    <a:bodyPr/>
                    <a:lstStyle/>
                    <a:p>
                      <a:pPr marL="0" indent="0">
                        <a:buNone/>
                      </a:pPr>
                      <a:r>
                        <a:rPr sz="1300" spc="-27">
                          <a:solidFill>
                            <a:srgbClr val="272525"/>
                          </a:solidFill>
                          <a:latin typeface="Inter"/>
                          <a:ea typeface="Inter"/>
                          <a:cs typeface="Inter"/>
                        </a:rPr>
                        <a:t>Indexed array</a:t>
                      </a:r>
                      <a:endParaRPr sz="1300">
                        <a:latin typeface="Inter"/>
                        <a:ea typeface="Inter"/>
                        <a:cs typeface="Inter"/>
                      </a:endParaRPr>
                    </a:p>
                  </a:txBody>
                  <a:tcPr marL="170117" marR="170117" marT="6350" marB="6350" anchor="ctr">
                    <a:lnL w="12700" cmpd="sng">
                      <a:solidFill>
                        <a:srgbClr val="C0C1D7"/>
                      </a:solidFill>
                      <a:prstDash val="solid"/>
                    </a:lnL>
                    <a:lnR w="12700" cmpd="sng">
                      <a:solidFill>
                        <a:srgbClr val="FFFFFF"/>
                      </a:solidFill>
                      <a:prstDash val="solid"/>
                    </a:lnR>
                    <a:lnT w="12700" cmpd="sng">
                      <a:solidFill>
                        <a:srgbClr val="C0C1D7"/>
                      </a:solidFill>
                      <a:prstDash val="solid"/>
                    </a:lnT>
                    <a:lnB w="12700" cmpd="sng">
                      <a:solidFill>
                        <a:srgbClr val="C0C1D7"/>
                      </a:solidFill>
                      <a:prstDash val="solid"/>
                    </a:lnB>
                  </a:tcPr>
                </a:tc>
                <a:tc>
                  <a:txBody>
                    <a:bodyPr/>
                    <a:lstStyle/>
                    <a:p>
                      <a:pPr marL="0" indent="0">
                        <a:buNone/>
                      </a:pPr>
                      <a:r>
                        <a:rPr sz="1300" spc="-27">
                          <a:solidFill>
                            <a:srgbClr val="272525"/>
                          </a:solidFill>
                          <a:latin typeface="Consolas"/>
                          <a:ea typeface="Consolas"/>
                          <a:cs typeface="Consolas"/>
                        </a:rPr>
                        <a:t>$topics[1]</a:t>
                      </a:r>
                      <a:endParaRPr sz="1300">
                        <a:latin typeface="Consolas"/>
                        <a:ea typeface="Consolas"/>
                        <a:cs typeface="Consolas"/>
                      </a:endParaRPr>
                    </a:p>
                  </a:txBody>
                  <a:tcPr marL="170117" marR="170117" marT="6350" marB="6350" anchor="ctr">
                    <a:lnL w="12700" cmpd="sng">
                      <a:solidFill>
                        <a:srgbClr val="FFFFFF"/>
                      </a:solidFill>
                      <a:prstDash val="solid"/>
                    </a:lnL>
                    <a:lnR w="12700" cmpd="sng">
                      <a:solidFill>
                        <a:srgbClr val="FFFFFF"/>
                      </a:solidFill>
                      <a:prstDash val="solid"/>
                    </a:lnR>
                    <a:lnT w="12700" cmpd="sng">
                      <a:solidFill>
                        <a:srgbClr val="C0C1D7"/>
                      </a:solidFill>
                      <a:prstDash val="solid"/>
                    </a:lnT>
                    <a:lnB w="12700" cmpd="sng">
                      <a:solidFill>
                        <a:srgbClr val="C0C1D7"/>
                      </a:solidFill>
                      <a:prstDash val="solid"/>
                    </a:lnB>
                  </a:tcPr>
                </a:tc>
                <a:tc>
                  <a:txBody>
                    <a:bodyPr/>
                    <a:lstStyle/>
                    <a:p>
                      <a:pPr marL="0" indent="0">
                        <a:buNone/>
                      </a:pPr>
                      <a:r>
                        <a:rPr sz="1300" spc="-27">
                          <a:solidFill>
                            <a:srgbClr val="272525"/>
                          </a:solidFill>
                          <a:latin typeface="Inter"/>
                          <a:ea typeface="Inter"/>
                          <a:cs typeface="Inter"/>
                        </a:rPr>
                        <a:t>Position</a:t>
                      </a:r>
                      <a:endParaRPr sz="1300">
                        <a:latin typeface="Inter"/>
                        <a:ea typeface="Inter"/>
                        <a:cs typeface="Inter"/>
                      </a:endParaRPr>
                    </a:p>
                  </a:txBody>
                  <a:tcPr marL="170117" marR="170117" marT="6350" marB="6350" anchor="ctr">
                    <a:lnL w="12700" cmpd="sng">
                      <a:solidFill>
                        <a:srgbClr val="FFFFFF"/>
                      </a:solidFill>
                      <a:prstDash val="solid"/>
                    </a:lnL>
                    <a:lnR w="12700" cmpd="sng">
                      <a:solidFill>
                        <a:srgbClr val="C0C1D7"/>
                      </a:solidFill>
                      <a:prstDash val="solid"/>
                    </a:lnR>
                    <a:lnT w="12700" cmpd="sng">
                      <a:solidFill>
                        <a:srgbClr val="C0C1D7"/>
                      </a:solidFill>
                      <a:prstDash val="solid"/>
                    </a:lnT>
                    <a:lnB w="12700" cmpd="sng">
                      <a:solidFill>
                        <a:srgbClr val="C0C1D7"/>
                      </a:solidFill>
                      <a:prstDash val="solid"/>
                    </a:lnB>
                  </a:tcPr>
                </a:tc>
                <a:extLst>
                  <a:ext uri="{0D108BD9-81ED-4DB2-BD59-A6C34878D82A}">
                    <a16:rowId xmlns:a16="http://schemas.microsoft.com/office/drawing/2014/main" val="10001"/>
                  </a:ext>
                </a:extLst>
              </a:tr>
              <a:tr h="716540">
                <a:tc>
                  <a:txBody>
                    <a:bodyPr/>
                    <a:lstStyle/>
                    <a:p>
                      <a:pPr marL="0" indent="0">
                        <a:buNone/>
                      </a:pPr>
                      <a:r>
                        <a:rPr sz="1300" spc="-27">
                          <a:solidFill>
                            <a:srgbClr val="272525"/>
                          </a:solidFill>
                          <a:latin typeface="Inter"/>
                          <a:ea typeface="Inter"/>
                          <a:cs typeface="Inter"/>
                        </a:rPr>
                        <a:t>Associative array</a:t>
                      </a:r>
                      <a:endParaRPr sz="1300">
                        <a:latin typeface="Inter"/>
                        <a:ea typeface="Inter"/>
                        <a:cs typeface="Inter"/>
                      </a:endParaRPr>
                    </a:p>
                  </a:txBody>
                  <a:tcPr marL="170117" marR="170117" marT="6350" marB="6350" anchor="ctr">
                    <a:lnL w="12700" cmpd="sng">
                      <a:solidFill>
                        <a:srgbClr val="C0C1D7"/>
                      </a:solidFill>
                      <a:prstDash val="solid"/>
                    </a:lnL>
                    <a:lnR w="12700" cmpd="sng">
                      <a:solidFill>
                        <a:srgbClr val="FFFFFF"/>
                      </a:solidFill>
                      <a:prstDash val="solid"/>
                    </a:lnR>
                    <a:lnT w="12700" cmpd="sng">
                      <a:solidFill>
                        <a:srgbClr val="C0C1D7"/>
                      </a:solidFill>
                      <a:prstDash val="solid"/>
                    </a:lnT>
                    <a:lnB w="12700" cmpd="sng">
                      <a:solidFill>
                        <a:srgbClr val="C0C1D7"/>
                      </a:solidFill>
                      <a:prstDash val="solid"/>
                    </a:lnB>
                  </a:tcPr>
                </a:tc>
                <a:tc>
                  <a:txBody>
                    <a:bodyPr/>
                    <a:lstStyle/>
                    <a:p>
                      <a:pPr marL="0" indent="0">
                        <a:buNone/>
                      </a:pPr>
                      <a:r>
                        <a:rPr sz="1300" spc="-27">
                          <a:solidFill>
                            <a:srgbClr val="272525"/>
                          </a:solidFill>
                          <a:latin typeface="Consolas"/>
                          <a:ea typeface="Consolas"/>
                          <a:cs typeface="Consolas"/>
                        </a:rPr>
                        <a:t>$course['fullname']</a:t>
                      </a:r>
                      <a:endParaRPr sz="1300">
                        <a:latin typeface="Consolas"/>
                        <a:ea typeface="Consolas"/>
                        <a:cs typeface="Consolas"/>
                      </a:endParaRPr>
                    </a:p>
                  </a:txBody>
                  <a:tcPr marL="170117" marR="170117" marT="6350" marB="6350" anchor="ctr">
                    <a:lnL w="12700" cmpd="sng">
                      <a:solidFill>
                        <a:srgbClr val="FFFFFF"/>
                      </a:solidFill>
                      <a:prstDash val="solid"/>
                    </a:lnL>
                    <a:lnR w="12700" cmpd="sng">
                      <a:solidFill>
                        <a:srgbClr val="FFFFFF"/>
                      </a:solidFill>
                      <a:prstDash val="solid"/>
                    </a:lnR>
                    <a:lnT w="12700" cmpd="sng">
                      <a:solidFill>
                        <a:srgbClr val="C0C1D7"/>
                      </a:solidFill>
                      <a:prstDash val="solid"/>
                    </a:lnT>
                    <a:lnB w="12700" cmpd="sng">
                      <a:solidFill>
                        <a:srgbClr val="C0C1D7"/>
                      </a:solidFill>
                      <a:prstDash val="solid"/>
                    </a:lnB>
                  </a:tcPr>
                </a:tc>
                <a:tc>
                  <a:txBody>
                    <a:bodyPr/>
                    <a:lstStyle/>
                    <a:p>
                      <a:pPr marL="0" indent="0">
                        <a:buNone/>
                      </a:pPr>
                      <a:r>
                        <a:rPr sz="1300" spc="-27">
                          <a:solidFill>
                            <a:srgbClr val="272525"/>
                          </a:solidFill>
                          <a:latin typeface="Inter"/>
                          <a:ea typeface="Inter"/>
                          <a:cs typeface="Inter"/>
                        </a:rPr>
                        <a:t>Name</a:t>
                      </a:r>
                      <a:endParaRPr sz="1300">
                        <a:latin typeface="Inter"/>
                        <a:ea typeface="Inter"/>
                        <a:cs typeface="Inter"/>
                      </a:endParaRPr>
                    </a:p>
                  </a:txBody>
                  <a:tcPr marL="170117" marR="170117" marT="6350" marB="6350" anchor="ctr">
                    <a:lnL w="12700" cmpd="sng">
                      <a:solidFill>
                        <a:srgbClr val="FFFFFF"/>
                      </a:solidFill>
                      <a:prstDash val="solid"/>
                    </a:lnL>
                    <a:lnR w="12700" cmpd="sng">
                      <a:solidFill>
                        <a:srgbClr val="C0C1D7"/>
                      </a:solidFill>
                      <a:prstDash val="solid"/>
                    </a:lnR>
                    <a:lnT w="12700" cmpd="sng">
                      <a:solidFill>
                        <a:srgbClr val="C0C1D7"/>
                      </a:solidFill>
                      <a:prstDash val="solid"/>
                    </a:lnT>
                    <a:lnB w="12700" cmpd="sng">
                      <a:solidFill>
                        <a:srgbClr val="C0C1D7"/>
                      </a:solidFill>
                      <a:prstDash val="solid"/>
                    </a:lnB>
                  </a:tcPr>
                </a:tc>
                <a:extLst>
                  <a:ext uri="{0D108BD9-81ED-4DB2-BD59-A6C34878D82A}">
                    <a16:rowId xmlns:a16="http://schemas.microsoft.com/office/drawing/2014/main" val="10002"/>
                  </a:ext>
                </a:extLst>
              </a:tr>
            </a:tbl>
          </a:graphicData>
        </a:graphic>
      </p:graphicFrame>
      <p:sp>
        <p:nvSpPr>
          <p:cNvPr id="10" name="Text 7">
            <a:extLst>
              <a:ext uri="{FF2B5EF4-FFF2-40B4-BE49-F238E27FC236}">
                <a16:creationId xmlns:a16="http://schemas.microsoft.com/office/drawing/2014/main" id="{4BA5178D-A2B8-457F-B20A-705A2A5FBC60}"/>
              </a:ext>
            </a:extLst>
          </p:cNvPr>
          <p:cNvSpPr>
            <a:spLocks noGrp="1"/>
          </p:cNvSpPr>
          <p:nvPr/>
        </p:nvSpPr>
        <p:spPr>
          <a:xfrm>
            <a:off x="6873802" y="4530725"/>
            <a:ext cx="4662669" cy="517128"/>
          </a:xfrm>
          <a:prstGeom prst="rect">
            <a:avLst/>
          </a:prstGeom>
          <a:noFill/>
        </p:spPr>
        <p:txBody>
          <a:bodyPr wrap="square" lIns="0" tIns="0" rIns="0" bIns="0" anchor="t">
            <a:normAutofit/>
          </a:bodyPr>
          <a:lstStyle/>
          <a:p>
            <a:pPr marL="0" indent="0" algn="l">
              <a:lnSpc>
                <a:spcPct val="127000"/>
              </a:lnSpc>
              <a:buNone/>
            </a:pPr>
            <a:r>
              <a:rPr sz="1300" spc="-27">
                <a:solidFill>
                  <a:srgbClr val="272525"/>
                </a:solidFill>
                <a:latin typeface="Inter"/>
                <a:ea typeface="Inter"/>
                <a:cs typeface="Inter"/>
              </a:rPr>
              <a:t>Values can have different types: text, numbers, and booleans. Keys must match exactly, including spelling.</a:t>
            </a:r>
            <a:endParaRPr sz="1300"/>
          </a:p>
        </p:txBody>
      </p:sp>
      <p:sp>
        <p:nvSpPr>
          <p:cNvPr id="11" name="Shape 8">
            <a:extLst>
              <a:ext uri="{FF2B5EF4-FFF2-40B4-BE49-F238E27FC236}">
                <a16:creationId xmlns:a16="http://schemas.microsoft.com/office/drawing/2014/main" id="{06C92CDD-B3E6-4A8A-BE70-BE91CB354A59}"/>
              </a:ext>
            </a:extLst>
          </p:cNvPr>
          <p:cNvSpPr>
            <a:spLocks noGrp="1"/>
          </p:cNvSpPr>
          <p:nvPr/>
        </p:nvSpPr>
        <p:spPr>
          <a:xfrm>
            <a:off x="661475" y="5357813"/>
            <a:ext cx="10868745" cy="892870"/>
          </a:xfrm>
          <a:prstGeom prst="roundRect">
            <a:avLst>
              <a:gd name="adj" fmla="val 8002"/>
            </a:avLst>
          </a:prstGeom>
          <a:solidFill>
            <a:srgbClr val="DADBF1"/>
          </a:solidFill>
        </p:spPr>
        <p:txBody>
          <a:bodyPr/>
          <a:lstStyle/>
          <a:p>
            <a:endParaRPr/>
          </a:p>
        </p:txBody>
      </p:sp>
      <p:pic>
        <p:nvPicPr>
          <p:cNvPr id="26" name="Image 0"/>
          <p:cNvPicPr>
            <a:picLocks noChangeAspect="1"/>
          </p:cNvPicPr>
          <p:nvPr/>
        </p:nvPicPr>
        <p:blipFill>
          <a:blip r:embed="rId3"/>
          <a:stretch>
            <a:fillRect/>
          </a:stretch>
        </p:blipFill>
        <p:spPr>
          <a:xfrm>
            <a:off x="831532" y="5575995"/>
            <a:ext cx="212620" cy="170061"/>
          </a:xfrm>
          <a:prstGeom prst="rect">
            <a:avLst/>
          </a:prstGeom>
        </p:spPr>
      </p:pic>
      <p:sp>
        <p:nvSpPr>
          <p:cNvPr id="13" name="Text 9">
            <a:extLst>
              <a:ext uri="{FF2B5EF4-FFF2-40B4-BE49-F238E27FC236}">
                <a16:creationId xmlns:a16="http://schemas.microsoft.com/office/drawing/2014/main" id="{5A31ABC7-DE96-44BB-833F-CCF4CA551431}"/>
              </a:ext>
            </a:extLst>
          </p:cNvPr>
          <p:cNvSpPr>
            <a:spLocks noGrp="1"/>
          </p:cNvSpPr>
          <p:nvPr/>
        </p:nvSpPr>
        <p:spPr>
          <a:xfrm>
            <a:off x="1214209" y="5553373"/>
            <a:ext cx="10145955" cy="517128"/>
          </a:xfrm>
          <a:prstGeom prst="rect">
            <a:avLst/>
          </a:prstGeom>
          <a:noFill/>
        </p:spPr>
        <p:txBody>
          <a:bodyPr wrap="square" lIns="0" tIns="0" rIns="0" bIns="0" anchor="t">
            <a:normAutofit/>
          </a:bodyPr>
          <a:lstStyle/>
          <a:p>
            <a:pPr marL="0" indent="0" algn="l">
              <a:lnSpc>
                <a:spcPct val="127000"/>
              </a:lnSpc>
              <a:buNone/>
            </a:pPr>
            <a:r>
              <a:rPr sz="1300" spc="-27">
                <a:solidFill>
                  <a:srgbClr val="000000"/>
                </a:solidFill>
                <a:latin typeface="Inter"/>
                <a:ea typeface="Inter"/>
                <a:cs typeface="Inter"/>
              </a:rPr>
              <a:t>Use associative arrays when each value has a clear label. This is still an array, not yet an object. Associative arrays use </a:t>
            </a:r>
            <a:r>
              <a:rPr sz="1300" spc="-27">
                <a:solidFill>
                  <a:srgbClr val="000000"/>
                </a:solidFill>
                <a:highlight>
                  <a:srgbClr val="F2F2F2"/>
                </a:highlight>
                <a:latin typeface="Consolas"/>
                <a:ea typeface="Consolas"/>
                <a:cs typeface="Consolas"/>
              </a:rPr>
              <a:t>[ ]</a:t>
            </a:r>
            <a:r>
              <a:rPr sz="1300" spc="-27">
                <a:solidFill>
                  <a:srgbClr val="000000"/>
                </a:solidFill>
                <a:latin typeface="Inter"/>
                <a:ea typeface="Inter"/>
                <a:cs typeface="Inter"/>
              </a:rPr>
              <a:t>; object properties use the </a:t>
            </a:r>
            <a:r>
              <a:rPr sz="1300" spc="-27">
                <a:solidFill>
                  <a:srgbClr val="000000"/>
                </a:solidFill>
                <a:highlight>
                  <a:srgbClr val="F2F2F2"/>
                </a:highlight>
                <a:latin typeface="Consolas"/>
                <a:ea typeface="Consolas"/>
                <a:cs typeface="Consolas"/>
              </a:rPr>
              <a:t>-&gt;</a:t>
            </a:r>
            <a:r>
              <a:rPr sz="1300" spc="-27">
                <a:solidFill>
                  <a:srgbClr val="000000"/>
                </a:solidFill>
                <a:latin typeface="Inter"/>
                <a:ea typeface="Inter"/>
                <a:cs typeface="Inter"/>
              </a:rPr>
              <a:t> arrow operator.</a:t>
            </a:r>
            <a:endParaRPr sz="1300"/>
          </a:p>
        </p:txBody>
      </p:sp>
    </p:spTree>
    <p:extLst>
      <p:ext uri="{BB962C8B-B14F-4D97-AF65-F5344CB8AC3E}">
        <p14:creationId xmlns:p14="http://schemas.microsoft.com/office/powerpoint/2010/main" val="1642287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82348B-941F-407B-B645-0A6BF5E90AB5}"/>
              </a:ext>
            </a:extLst>
          </p:cNvPr>
          <p:cNvSpPr>
            <a:spLocks noGrp="1"/>
          </p:cNvSpPr>
          <p:nvPr/>
        </p:nvSpPr>
        <p:spPr>
          <a:xfrm>
            <a:off x="661475" y="696416"/>
            <a:ext cx="463737" cy="186630"/>
          </a:xfrm>
          <a:prstGeom prst="roundRect">
            <a:avLst>
              <a:gd name="adj" fmla="val 22119"/>
            </a:avLst>
          </a:prstGeom>
          <a:solidFill>
            <a:srgbClr val="DADBF1"/>
          </a:solidFill>
        </p:spPr>
        <p:txBody>
          <a:bodyPr/>
          <a:lstStyle/>
          <a:p>
            <a:endParaRPr/>
          </a:p>
        </p:txBody>
      </p:sp>
      <p:sp>
        <p:nvSpPr>
          <p:cNvPr id="3" name="Text 1">
            <a:extLst>
              <a:ext uri="{FF2B5EF4-FFF2-40B4-BE49-F238E27FC236}">
                <a16:creationId xmlns:a16="http://schemas.microsoft.com/office/drawing/2014/main" id="{CDB24BFD-6825-40BA-92D4-63C9C54E2DC0}"/>
              </a:ext>
            </a:extLst>
          </p:cNvPr>
          <p:cNvSpPr>
            <a:spLocks noGrp="1"/>
          </p:cNvSpPr>
          <p:nvPr/>
        </p:nvSpPr>
        <p:spPr>
          <a:xfrm>
            <a:off x="735093" y="733227"/>
            <a:ext cx="926085" cy="113010"/>
          </a:xfrm>
          <a:prstGeom prst="rect">
            <a:avLst/>
          </a:prstGeom>
          <a:noFill/>
        </p:spPr>
        <p:txBody>
          <a:bodyPr wrap="none" lIns="0" tIns="0" rIns="0" bIns="0" anchor="t"/>
          <a:lstStyle/>
          <a:p>
            <a:pPr marL="0" indent="0" algn="l">
              <a:lnSpc>
                <a:spcPct val="96000"/>
              </a:lnSpc>
              <a:buNone/>
            </a:pPr>
            <a:r>
              <a:rPr sz="750" spc="-19">
                <a:solidFill>
                  <a:srgbClr val="272525"/>
                </a:solidFill>
                <a:latin typeface="Inter"/>
                <a:ea typeface="Inter"/>
                <a:cs typeface="Inter"/>
              </a:rPr>
              <a:t>LOOPS</a:t>
            </a:r>
            <a:endParaRPr sz="750"/>
          </a:p>
        </p:txBody>
      </p:sp>
      <p:sp>
        <p:nvSpPr>
          <p:cNvPr id="4" name="Text 2">
            <a:extLst>
              <a:ext uri="{FF2B5EF4-FFF2-40B4-BE49-F238E27FC236}">
                <a16:creationId xmlns:a16="http://schemas.microsoft.com/office/drawing/2014/main" id="{BDA092D0-B252-4428-A2E3-A1C9B306FC42}"/>
              </a:ext>
            </a:extLst>
          </p:cNvPr>
          <p:cNvSpPr>
            <a:spLocks noGrp="1"/>
          </p:cNvSpPr>
          <p:nvPr/>
        </p:nvSpPr>
        <p:spPr>
          <a:xfrm>
            <a:off x="661475" y="914896"/>
            <a:ext cx="10868745" cy="396677"/>
          </a:xfrm>
          <a:prstGeom prst="rect">
            <a:avLst/>
          </a:prstGeom>
          <a:noFill/>
        </p:spPr>
        <p:txBody>
          <a:bodyPr wrap="none" lIns="0" tIns="0" rIns="0" bIns="0" anchor="t"/>
          <a:lstStyle/>
          <a:p>
            <a:pPr marL="0" indent="0" algn="l">
              <a:lnSpc>
                <a:spcPct val="104000"/>
              </a:lnSpc>
              <a:buNone/>
            </a:pPr>
            <a:r>
              <a:rPr sz="2400" b="1" spc="-73">
                <a:solidFill>
                  <a:srgbClr val="000000"/>
                </a:solidFill>
                <a:latin typeface="Inter Bold"/>
                <a:ea typeface="Inter Bold"/>
                <a:cs typeface="Inter Bold"/>
              </a:rPr>
              <a:t>Repeating Code: </a:t>
            </a:r>
            <a:r>
              <a:rPr sz="2400" b="1" spc="-73">
                <a:solidFill>
                  <a:srgbClr val="272525"/>
                </a:solidFill>
                <a:highlight>
                  <a:srgbClr val="F2F2F2"/>
                </a:highlight>
                <a:latin typeface="Consolas"/>
                <a:ea typeface="Consolas"/>
                <a:cs typeface="Consolas"/>
              </a:rPr>
              <a:t>for</a:t>
            </a:r>
            <a:r>
              <a:rPr sz="2400" b="1" spc="-73">
                <a:solidFill>
                  <a:srgbClr val="000000"/>
                </a:solidFill>
                <a:latin typeface="Inter Bold"/>
                <a:ea typeface="Inter Bold"/>
                <a:cs typeface="Inter Bold"/>
              </a:rPr>
              <a:t> and </a:t>
            </a:r>
            <a:r>
              <a:rPr sz="2400" b="1" spc="-73">
                <a:solidFill>
                  <a:srgbClr val="272525"/>
                </a:solidFill>
                <a:highlight>
                  <a:srgbClr val="F2F2F2"/>
                </a:highlight>
                <a:latin typeface="Consolas"/>
                <a:ea typeface="Consolas"/>
                <a:cs typeface="Consolas"/>
              </a:rPr>
              <a:t>foreach</a:t>
            </a:r>
            <a:endParaRPr sz="2400"/>
          </a:p>
        </p:txBody>
      </p:sp>
      <p:sp>
        <p:nvSpPr>
          <p:cNvPr id="5" name="Text 3">
            <a:extLst>
              <a:ext uri="{FF2B5EF4-FFF2-40B4-BE49-F238E27FC236}">
                <a16:creationId xmlns:a16="http://schemas.microsoft.com/office/drawing/2014/main" id="{ABEDB899-E91F-4EB0-A05B-DCA551BBC54A}"/>
              </a:ext>
            </a:extLst>
          </p:cNvPr>
          <p:cNvSpPr>
            <a:spLocks noGrp="1"/>
          </p:cNvSpPr>
          <p:nvPr/>
        </p:nvSpPr>
        <p:spPr>
          <a:xfrm>
            <a:off x="661475" y="1511102"/>
            <a:ext cx="5284556" cy="191988"/>
          </a:xfrm>
          <a:prstGeom prst="rect">
            <a:avLst/>
          </a:prstGeom>
          <a:noFill/>
        </p:spPr>
        <p:txBody>
          <a:bodyPr wrap="none" lIns="0" tIns="0" rIns="0" bIns="0" anchor="t"/>
          <a:lstStyle/>
          <a:p>
            <a:pPr marL="0" indent="0" algn="l">
              <a:lnSpc>
                <a:spcPct val="104000"/>
              </a:lnSpc>
              <a:buNone/>
            </a:pPr>
            <a:r>
              <a:rPr sz="1200" b="1" spc="-36">
                <a:solidFill>
                  <a:srgbClr val="000000"/>
                </a:solidFill>
                <a:latin typeface="Inter Bold"/>
                <a:ea typeface="Inter Bold"/>
                <a:cs typeface="Inter Bold"/>
              </a:rPr>
              <a:t>FOR , when the counter matters</a:t>
            </a:r>
            <a:endParaRPr sz="1200"/>
          </a:p>
        </p:txBody>
      </p:sp>
      <p:sp>
        <p:nvSpPr>
          <p:cNvPr id="6" name="Shape 4">
            <a:extLst>
              <a:ext uri="{FF2B5EF4-FFF2-40B4-BE49-F238E27FC236}">
                <a16:creationId xmlns:a16="http://schemas.microsoft.com/office/drawing/2014/main" id="{1FF1D541-C209-454C-88B6-B05D9CAFCBB2}"/>
              </a:ext>
            </a:extLst>
          </p:cNvPr>
          <p:cNvSpPr>
            <a:spLocks noGrp="1"/>
          </p:cNvSpPr>
          <p:nvPr/>
        </p:nvSpPr>
        <p:spPr>
          <a:xfrm>
            <a:off x="661475" y="1792883"/>
            <a:ext cx="5284556" cy="1031478"/>
          </a:xfrm>
          <a:prstGeom prst="roundRect">
            <a:avLst>
              <a:gd name="adj" fmla="val 5003"/>
            </a:avLst>
          </a:prstGeom>
          <a:solidFill>
            <a:srgbClr val="F2F2F2"/>
          </a:solidFill>
        </p:spPr>
        <p:txBody>
          <a:bodyPr/>
          <a:lstStyle/>
          <a:p>
            <a:endParaRPr/>
          </a:p>
        </p:txBody>
      </p:sp>
      <p:sp>
        <p:nvSpPr>
          <p:cNvPr id="7" name="Text 5">
            <a:extLst>
              <a:ext uri="{FF2B5EF4-FFF2-40B4-BE49-F238E27FC236}">
                <a16:creationId xmlns:a16="http://schemas.microsoft.com/office/drawing/2014/main" id="{8B44821B-5446-475C-BEC3-791D671A797B}"/>
              </a:ext>
            </a:extLst>
          </p:cNvPr>
          <p:cNvSpPr>
            <a:spLocks noGrp="1"/>
          </p:cNvSpPr>
          <p:nvPr/>
        </p:nvSpPr>
        <p:spPr>
          <a:xfrm>
            <a:off x="808811" y="1915716"/>
            <a:ext cx="4989884" cy="785813"/>
          </a:xfrm>
          <a:prstGeom prst="rect">
            <a:avLst/>
          </a:prstGeom>
          <a:noFill/>
        </p:spPr>
        <p:txBody>
          <a:bodyPr wrap="square" lIns="0" tIns="0" rIns="0" bIns="0" anchor="t">
            <a:normAutofit/>
          </a:bodyPr>
          <a:lstStyle/>
          <a:p>
            <a:pPr marL="0" indent="0" algn="l">
              <a:lnSpc>
                <a:spcPct val="133000"/>
              </a:lnSpc>
              <a:buNone/>
            </a:pPr>
            <a:r>
              <a:rPr sz="950" spc="-19">
                <a:solidFill>
                  <a:srgbClr val="D73A49"/>
                </a:solidFill>
                <a:latin typeface="Consolas"/>
                <a:ea typeface="Consolas"/>
                <a:cs typeface="Consolas"/>
              </a:rPr>
              <a:t>for ($i = 1; $i &lt;= 3; $i++) {
    echo "Attempt $i&lt;br&gt;";
}
</a:t>
            </a:r>
            <a:endParaRPr sz="950"/>
          </a:p>
        </p:txBody>
      </p:sp>
      <p:pic>
        <p:nvPicPr>
          <p:cNvPr id="45"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914154"/>
            <a:ext cx="5284556" cy="711299"/>
          </a:xfrm>
          <a:prstGeom prst="rect">
            <a:avLst/>
          </a:prstGeom>
        </p:spPr>
      </p:pic>
      <p:sp>
        <p:nvSpPr>
          <p:cNvPr id="9" name="Text 6">
            <a:extLst>
              <a:ext uri="{FF2B5EF4-FFF2-40B4-BE49-F238E27FC236}">
                <a16:creationId xmlns:a16="http://schemas.microsoft.com/office/drawing/2014/main" id="{10F4DA11-5686-4398-8A31-61ECBCBA1270}"/>
              </a:ext>
            </a:extLst>
          </p:cNvPr>
          <p:cNvSpPr>
            <a:spLocks noGrp="1"/>
          </p:cNvSpPr>
          <p:nvPr/>
        </p:nvSpPr>
        <p:spPr>
          <a:xfrm>
            <a:off x="847803" y="3049687"/>
            <a:ext cx="4962699" cy="191988"/>
          </a:xfrm>
          <a:prstGeom prst="rect">
            <a:avLst/>
          </a:prstGeom>
          <a:noFill/>
        </p:spPr>
        <p:txBody>
          <a:bodyPr wrap="none" lIns="0" tIns="0" rIns="0" bIns="0" anchor="t"/>
          <a:lstStyle/>
          <a:p>
            <a:pPr marL="0" indent="0" algn="l">
              <a:lnSpc>
                <a:spcPct val="104000"/>
              </a:lnSpc>
              <a:buNone/>
            </a:pPr>
            <a:r>
              <a:rPr sz="1200" b="1" spc="-36">
                <a:solidFill>
                  <a:srgbClr val="272525"/>
                </a:solidFill>
                <a:latin typeface="Inter Bold"/>
                <a:ea typeface="Inter Bold"/>
                <a:cs typeface="Inter Bold"/>
              </a:rPr>
              <a:t>Start</a:t>
            </a:r>
            <a:endParaRPr sz="1200"/>
          </a:p>
        </p:txBody>
      </p:sp>
      <p:sp>
        <p:nvSpPr>
          <p:cNvPr id="10" name="Text 7">
            <a:extLst>
              <a:ext uri="{FF2B5EF4-FFF2-40B4-BE49-F238E27FC236}">
                <a16:creationId xmlns:a16="http://schemas.microsoft.com/office/drawing/2014/main" id="{3F7F432E-E683-4A6B-A1EE-0CD9D4E219FD}"/>
              </a:ext>
            </a:extLst>
          </p:cNvPr>
          <p:cNvSpPr>
            <a:spLocks noGrp="1"/>
          </p:cNvSpPr>
          <p:nvPr/>
        </p:nvSpPr>
        <p:spPr>
          <a:xfrm>
            <a:off x="847803" y="3321447"/>
            <a:ext cx="4962699" cy="168473"/>
          </a:xfrm>
          <a:prstGeom prst="rect">
            <a:avLst/>
          </a:prstGeom>
          <a:noFill/>
        </p:spPr>
        <p:txBody>
          <a:bodyPr wrap="none" lIns="0" tIns="0" rIns="0" bIns="0" anchor="t"/>
          <a:lstStyle/>
          <a:p>
            <a:pPr marL="0" indent="0" algn="l">
              <a:lnSpc>
                <a:spcPct val="110000"/>
              </a:lnSpc>
              <a:buNone/>
            </a:pPr>
            <a:r>
              <a:rPr sz="950" spc="-19">
                <a:solidFill>
                  <a:srgbClr val="272525"/>
                </a:solidFill>
                <a:highlight>
                  <a:srgbClr val="F2F2F2"/>
                </a:highlight>
                <a:latin typeface="Consolas"/>
                <a:ea typeface="Consolas"/>
                <a:cs typeface="Consolas"/>
              </a:rPr>
              <a:t>$i = 1</a:t>
            </a:r>
            <a:r>
              <a:rPr sz="950" spc="-19">
                <a:solidFill>
                  <a:srgbClr val="272525"/>
                </a:solidFill>
                <a:latin typeface="Inter"/>
                <a:ea typeface="Inter"/>
                <a:cs typeface="Inter"/>
              </a:rPr>
              <a:t>  initialise once</a:t>
            </a:r>
            <a:endParaRPr sz="950"/>
          </a:p>
        </p:txBody>
      </p:sp>
      <p:pic>
        <p:nvPicPr>
          <p:cNvPr id="48" name="Image 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705225"/>
            <a:ext cx="5284556" cy="711299"/>
          </a:xfrm>
          <a:prstGeom prst="rect">
            <a:avLst/>
          </a:prstGeom>
        </p:spPr>
      </p:pic>
      <p:sp>
        <p:nvSpPr>
          <p:cNvPr id="12" name="Text 8">
            <a:extLst>
              <a:ext uri="{FF2B5EF4-FFF2-40B4-BE49-F238E27FC236}">
                <a16:creationId xmlns:a16="http://schemas.microsoft.com/office/drawing/2014/main" id="{04711B1C-A5EF-4AA5-BE64-2536182D7779}"/>
              </a:ext>
            </a:extLst>
          </p:cNvPr>
          <p:cNvSpPr>
            <a:spLocks noGrp="1"/>
          </p:cNvSpPr>
          <p:nvPr/>
        </p:nvSpPr>
        <p:spPr>
          <a:xfrm>
            <a:off x="847803" y="3840758"/>
            <a:ext cx="4962699" cy="191988"/>
          </a:xfrm>
          <a:prstGeom prst="rect">
            <a:avLst/>
          </a:prstGeom>
          <a:noFill/>
        </p:spPr>
        <p:txBody>
          <a:bodyPr wrap="none" lIns="0" tIns="0" rIns="0" bIns="0" anchor="t"/>
          <a:lstStyle/>
          <a:p>
            <a:pPr marL="0" indent="0" algn="l">
              <a:lnSpc>
                <a:spcPct val="104000"/>
              </a:lnSpc>
              <a:buNone/>
            </a:pPr>
            <a:r>
              <a:rPr sz="1200" b="1" spc="-36">
                <a:solidFill>
                  <a:srgbClr val="272525"/>
                </a:solidFill>
                <a:latin typeface="Inter Bold"/>
                <a:ea typeface="Inter Bold"/>
                <a:cs typeface="Inter Bold"/>
              </a:rPr>
              <a:t>Condition</a:t>
            </a:r>
            <a:endParaRPr sz="1200"/>
          </a:p>
        </p:txBody>
      </p:sp>
      <p:sp>
        <p:nvSpPr>
          <p:cNvPr id="13" name="Text 9">
            <a:extLst>
              <a:ext uri="{FF2B5EF4-FFF2-40B4-BE49-F238E27FC236}">
                <a16:creationId xmlns:a16="http://schemas.microsoft.com/office/drawing/2014/main" id="{863090EE-EA1D-4B03-B992-7CC02E693237}"/>
              </a:ext>
            </a:extLst>
          </p:cNvPr>
          <p:cNvSpPr>
            <a:spLocks noGrp="1"/>
          </p:cNvSpPr>
          <p:nvPr/>
        </p:nvSpPr>
        <p:spPr>
          <a:xfrm>
            <a:off x="847803" y="4112518"/>
            <a:ext cx="4962699" cy="168473"/>
          </a:xfrm>
          <a:prstGeom prst="rect">
            <a:avLst/>
          </a:prstGeom>
          <a:noFill/>
        </p:spPr>
        <p:txBody>
          <a:bodyPr wrap="none" lIns="0" tIns="0" rIns="0" bIns="0" anchor="t"/>
          <a:lstStyle/>
          <a:p>
            <a:pPr marL="0" indent="0" algn="l">
              <a:lnSpc>
                <a:spcPct val="110000"/>
              </a:lnSpc>
              <a:buNone/>
            </a:pPr>
            <a:r>
              <a:rPr sz="950" spc="-19">
                <a:solidFill>
                  <a:srgbClr val="272525"/>
                </a:solidFill>
                <a:highlight>
                  <a:srgbClr val="F2F2F2"/>
                </a:highlight>
                <a:latin typeface="Consolas"/>
                <a:ea typeface="Consolas"/>
                <a:cs typeface="Consolas"/>
              </a:rPr>
              <a:t>$i &lt;= 3</a:t>
            </a:r>
            <a:r>
              <a:rPr sz="950" spc="-19">
                <a:solidFill>
                  <a:srgbClr val="272525"/>
                </a:solidFill>
                <a:latin typeface="Inter"/>
                <a:ea typeface="Inter"/>
                <a:cs typeface="Inter"/>
              </a:rPr>
              <a:t> test before each run</a:t>
            </a:r>
            <a:endParaRPr sz="950"/>
          </a:p>
        </p:txBody>
      </p:sp>
      <p:pic>
        <p:nvPicPr>
          <p:cNvPr id="51" name="Imag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496296"/>
            <a:ext cx="5284556" cy="711299"/>
          </a:xfrm>
          <a:prstGeom prst="rect">
            <a:avLst/>
          </a:prstGeom>
        </p:spPr>
      </p:pic>
      <p:sp>
        <p:nvSpPr>
          <p:cNvPr id="15" name="Text 10">
            <a:extLst>
              <a:ext uri="{FF2B5EF4-FFF2-40B4-BE49-F238E27FC236}">
                <a16:creationId xmlns:a16="http://schemas.microsoft.com/office/drawing/2014/main" id="{C84EE94F-2F64-4548-AE37-AFEB23B51CE3}"/>
              </a:ext>
            </a:extLst>
          </p:cNvPr>
          <p:cNvSpPr>
            <a:spLocks noGrp="1"/>
          </p:cNvSpPr>
          <p:nvPr/>
        </p:nvSpPr>
        <p:spPr>
          <a:xfrm>
            <a:off x="847803" y="4631829"/>
            <a:ext cx="4962699" cy="191988"/>
          </a:xfrm>
          <a:prstGeom prst="rect">
            <a:avLst/>
          </a:prstGeom>
          <a:noFill/>
        </p:spPr>
        <p:txBody>
          <a:bodyPr wrap="none" lIns="0" tIns="0" rIns="0" bIns="0" anchor="t"/>
          <a:lstStyle/>
          <a:p>
            <a:pPr marL="0" indent="0" algn="l">
              <a:lnSpc>
                <a:spcPct val="104000"/>
              </a:lnSpc>
              <a:buNone/>
            </a:pPr>
            <a:r>
              <a:rPr sz="1200" b="1" spc="-36">
                <a:solidFill>
                  <a:srgbClr val="272525"/>
                </a:solidFill>
                <a:latin typeface="Inter Bold"/>
                <a:ea typeface="Inter Bold"/>
                <a:cs typeface="Inter Bold"/>
              </a:rPr>
              <a:t>Update</a:t>
            </a:r>
            <a:endParaRPr sz="1200"/>
          </a:p>
        </p:txBody>
      </p:sp>
      <p:sp>
        <p:nvSpPr>
          <p:cNvPr id="16" name="Text 11">
            <a:extLst>
              <a:ext uri="{FF2B5EF4-FFF2-40B4-BE49-F238E27FC236}">
                <a16:creationId xmlns:a16="http://schemas.microsoft.com/office/drawing/2014/main" id="{5E58E2E4-CCF6-4897-8D71-F77F896C65E5}"/>
              </a:ext>
            </a:extLst>
          </p:cNvPr>
          <p:cNvSpPr>
            <a:spLocks noGrp="1"/>
          </p:cNvSpPr>
          <p:nvPr/>
        </p:nvSpPr>
        <p:spPr>
          <a:xfrm>
            <a:off x="847803" y="4903589"/>
            <a:ext cx="4962699" cy="168473"/>
          </a:xfrm>
          <a:prstGeom prst="rect">
            <a:avLst/>
          </a:prstGeom>
          <a:noFill/>
        </p:spPr>
        <p:txBody>
          <a:bodyPr wrap="none" lIns="0" tIns="0" rIns="0" bIns="0" anchor="t"/>
          <a:lstStyle/>
          <a:p>
            <a:pPr marL="0" indent="0" algn="l">
              <a:lnSpc>
                <a:spcPct val="110000"/>
              </a:lnSpc>
              <a:buNone/>
            </a:pPr>
            <a:r>
              <a:rPr sz="950" spc="-19">
                <a:solidFill>
                  <a:srgbClr val="272525"/>
                </a:solidFill>
                <a:highlight>
                  <a:srgbClr val="F2F2F2"/>
                </a:highlight>
                <a:latin typeface="Consolas"/>
                <a:ea typeface="Consolas"/>
                <a:cs typeface="Consolas"/>
              </a:rPr>
              <a:t>$i++</a:t>
            </a:r>
            <a:r>
              <a:rPr sz="950" spc="-19">
                <a:solidFill>
                  <a:srgbClr val="272525"/>
                </a:solidFill>
                <a:latin typeface="Inter"/>
                <a:ea typeface="Inter"/>
                <a:cs typeface="Inter"/>
              </a:rPr>
              <a:t>  add one after each run</a:t>
            </a:r>
            <a:endParaRPr sz="950"/>
          </a:p>
        </p:txBody>
      </p:sp>
      <p:sp>
        <p:nvSpPr>
          <p:cNvPr id="17" name="Text 12">
            <a:extLst>
              <a:ext uri="{FF2B5EF4-FFF2-40B4-BE49-F238E27FC236}">
                <a16:creationId xmlns:a16="http://schemas.microsoft.com/office/drawing/2014/main" id="{BB9E97D6-2C2A-4978-975E-ECE42C92C8BD}"/>
              </a:ext>
            </a:extLst>
          </p:cNvPr>
          <p:cNvSpPr>
            <a:spLocks noGrp="1"/>
          </p:cNvSpPr>
          <p:nvPr/>
        </p:nvSpPr>
        <p:spPr>
          <a:xfrm>
            <a:off x="6252014" y="1511102"/>
            <a:ext cx="5284556" cy="191988"/>
          </a:xfrm>
          <a:prstGeom prst="rect">
            <a:avLst/>
          </a:prstGeom>
          <a:noFill/>
        </p:spPr>
        <p:txBody>
          <a:bodyPr wrap="none" lIns="0" tIns="0" rIns="0" bIns="0" anchor="t"/>
          <a:lstStyle/>
          <a:p>
            <a:pPr marL="0" indent="0" algn="l">
              <a:lnSpc>
                <a:spcPct val="104000"/>
              </a:lnSpc>
              <a:buNone/>
            </a:pPr>
            <a:r>
              <a:rPr sz="1200" b="1" spc="-36">
                <a:solidFill>
                  <a:srgbClr val="000000"/>
                </a:solidFill>
                <a:latin typeface="Inter Bold"/>
                <a:ea typeface="Inter Bold"/>
                <a:cs typeface="Inter Bold"/>
              </a:rPr>
              <a:t>FOREACH , when processing a collection</a:t>
            </a:r>
            <a:endParaRPr sz="1200"/>
          </a:p>
        </p:txBody>
      </p:sp>
      <p:sp>
        <p:nvSpPr>
          <p:cNvPr id="18" name="Shape 13">
            <a:extLst>
              <a:ext uri="{FF2B5EF4-FFF2-40B4-BE49-F238E27FC236}">
                <a16:creationId xmlns:a16="http://schemas.microsoft.com/office/drawing/2014/main" id="{3A47624E-AFB1-4968-9B09-CECC6C365276}"/>
              </a:ext>
            </a:extLst>
          </p:cNvPr>
          <p:cNvSpPr>
            <a:spLocks noGrp="1"/>
          </p:cNvSpPr>
          <p:nvPr/>
        </p:nvSpPr>
        <p:spPr>
          <a:xfrm>
            <a:off x="6252014" y="1792883"/>
            <a:ext cx="5284556" cy="1424384"/>
          </a:xfrm>
          <a:prstGeom prst="roundRect">
            <a:avLst>
              <a:gd name="adj" fmla="val 3623"/>
            </a:avLst>
          </a:prstGeom>
          <a:solidFill>
            <a:srgbClr val="F2F2F2"/>
          </a:solidFill>
        </p:spPr>
        <p:txBody>
          <a:bodyPr/>
          <a:lstStyle/>
          <a:p>
            <a:endParaRPr/>
          </a:p>
        </p:txBody>
      </p:sp>
      <p:sp>
        <p:nvSpPr>
          <p:cNvPr id="19" name="Text 14">
            <a:extLst>
              <a:ext uri="{FF2B5EF4-FFF2-40B4-BE49-F238E27FC236}">
                <a16:creationId xmlns:a16="http://schemas.microsoft.com/office/drawing/2014/main" id="{B1AC01D6-37F0-498B-9B8C-8CB37E38B53B}"/>
              </a:ext>
            </a:extLst>
          </p:cNvPr>
          <p:cNvSpPr>
            <a:spLocks noGrp="1"/>
          </p:cNvSpPr>
          <p:nvPr/>
        </p:nvSpPr>
        <p:spPr>
          <a:xfrm>
            <a:off x="6399350" y="1915716"/>
            <a:ext cx="4989884" cy="1178719"/>
          </a:xfrm>
          <a:prstGeom prst="rect">
            <a:avLst/>
          </a:prstGeom>
          <a:noFill/>
        </p:spPr>
        <p:txBody>
          <a:bodyPr wrap="square" lIns="0" tIns="0" rIns="0" bIns="0" anchor="t">
            <a:normAutofit/>
          </a:bodyPr>
          <a:lstStyle/>
          <a:p>
            <a:pPr marL="0" indent="0" algn="l">
              <a:lnSpc>
                <a:spcPct val="133000"/>
              </a:lnSpc>
              <a:buNone/>
            </a:pPr>
            <a:r>
              <a:rPr sz="950" spc="-19">
                <a:solidFill>
                  <a:srgbClr val="005CC5"/>
                </a:solidFill>
                <a:latin typeface="Consolas"/>
                <a:ea typeface="Consolas"/>
                <a:cs typeface="Consolas"/>
              </a:rPr>
              <a:t>$topics = ['HTML', 'CSS', 'PHP'];
foreach ($topics as $topic) {
    echo $topic . '&lt;br&gt;';
}
</a:t>
            </a:r>
            <a:endParaRPr sz="950"/>
          </a:p>
        </p:txBody>
      </p:sp>
      <p:pic>
        <p:nvPicPr>
          <p:cNvPr id="57" name="Image 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52014" y="3307060"/>
            <a:ext cx="5284556" cy="711299"/>
          </a:xfrm>
          <a:prstGeom prst="rect">
            <a:avLst/>
          </a:prstGeom>
        </p:spPr>
      </p:pic>
      <p:sp>
        <p:nvSpPr>
          <p:cNvPr id="21" name="Text 15">
            <a:extLst>
              <a:ext uri="{FF2B5EF4-FFF2-40B4-BE49-F238E27FC236}">
                <a16:creationId xmlns:a16="http://schemas.microsoft.com/office/drawing/2014/main" id="{BA7E5088-EAF1-4A45-83E8-45D239EA6E19}"/>
              </a:ext>
            </a:extLst>
          </p:cNvPr>
          <p:cNvSpPr>
            <a:spLocks noGrp="1"/>
          </p:cNvSpPr>
          <p:nvPr/>
        </p:nvSpPr>
        <p:spPr>
          <a:xfrm>
            <a:off x="6438342" y="3442593"/>
            <a:ext cx="4962699" cy="191988"/>
          </a:xfrm>
          <a:prstGeom prst="rect">
            <a:avLst/>
          </a:prstGeom>
          <a:noFill/>
        </p:spPr>
        <p:txBody>
          <a:bodyPr wrap="none" lIns="0" tIns="0" rIns="0" bIns="0" anchor="t"/>
          <a:lstStyle/>
          <a:p>
            <a:pPr marL="0" indent="0" algn="l">
              <a:lnSpc>
                <a:spcPct val="104000"/>
              </a:lnSpc>
              <a:buNone/>
            </a:pPr>
            <a:r>
              <a:rPr sz="1200" b="1" spc="-36">
                <a:solidFill>
                  <a:srgbClr val="272525"/>
                </a:solidFill>
                <a:latin typeface="Inter Bold"/>
                <a:ea typeface="Inter Bold"/>
                <a:cs typeface="Inter Bold"/>
              </a:rPr>
              <a:t>Plain language</a:t>
            </a:r>
            <a:endParaRPr sz="1200"/>
          </a:p>
        </p:txBody>
      </p:sp>
      <p:sp>
        <p:nvSpPr>
          <p:cNvPr id="22" name="Text 16">
            <a:extLst>
              <a:ext uri="{FF2B5EF4-FFF2-40B4-BE49-F238E27FC236}">
                <a16:creationId xmlns:a16="http://schemas.microsoft.com/office/drawing/2014/main" id="{6F7A596F-84A5-43FD-8113-666D29F06795}"/>
              </a:ext>
            </a:extLst>
          </p:cNvPr>
          <p:cNvSpPr>
            <a:spLocks noGrp="1"/>
          </p:cNvSpPr>
          <p:nvPr/>
        </p:nvSpPr>
        <p:spPr>
          <a:xfrm>
            <a:off x="6438342" y="3714353"/>
            <a:ext cx="4962699" cy="168473"/>
          </a:xfrm>
          <a:prstGeom prst="rect">
            <a:avLst/>
          </a:prstGeom>
          <a:noFill/>
        </p:spPr>
        <p:txBody>
          <a:bodyPr wrap="none" lIns="0" tIns="0" rIns="0" bIns="0" anchor="t"/>
          <a:lstStyle/>
          <a:p>
            <a:pPr marL="0" indent="0" algn="l">
              <a:lnSpc>
                <a:spcPct val="110000"/>
              </a:lnSpc>
              <a:buNone/>
            </a:pPr>
            <a:r>
              <a:rPr sz="950" spc="-19">
                <a:solidFill>
                  <a:srgbClr val="272525"/>
                </a:solidFill>
                <a:latin typeface="Inter"/>
                <a:ea typeface="Inter"/>
                <a:cs typeface="Inter"/>
              </a:rPr>
              <a:t>"For each value in </a:t>
            </a:r>
            <a:r>
              <a:rPr sz="950" spc="-19">
                <a:solidFill>
                  <a:srgbClr val="272525"/>
                </a:solidFill>
                <a:highlight>
                  <a:srgbClr val="F2F2F2"/>
                </a:highlight>
                <a:latin typeface="Consolas"/>
                <a:ea typeface="Consolas"/>
                <a:cs typeface="Consolas"/>
              </a:rPr>
              <a:t>$topics</a:t>
            </a:r>
            <a:r>
              <a:rPr sz="950" spc="-19">
                <a:solidFill>
                  <a:srgbClr val="272525"/>
                </a:solidFill>
                <a:latin typeface="Inter"/>
                <a:ea typeface="Inter"/>
                <a:cs typeface="Inter"/>
              </a:rPr>
              <a:t>, temporarily call it </a:t>
            </a:r>
            <a:r>
              <a:rPr sz="950" spc="-19">
                <a:solidFill>
                  <a:srgbClr val="272525"/>
                </a:solidFill>
                <a:highlight>
                  <a:srgbClr val="F2F2F2"/>
                </a:highlight>
                <a:latin typeface="Consolas"/>
                <a:ea typeface="Consolas"/>
                <a:cs typeface="Consolas"/>
              </a:rPr>
              <a:t>$topic</a:t>
            </a:r>
            <a:r>
              <a:rPr sz="950" spc="-19">
                <a:solidFill>
                  <a:srgbClr val="272525"/>
                </a:solidFill>
                <a:latin typeface="Inter"/>
                <a:ea typeface="Inter"/>
                <a:cs typeface="Inter"/>
              </a:rPr>
              <a:t>."</a:t>
            </a:r>
            <a:endParaRPr sz="950"/>
          </a:p>
        </p:txBody>
      </p:sp>
      <p:pic>
        <p:nvPicPr>
          <p:cNvPr id="60" name="Image 4"/>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52014" y="4098131"/>
            <a:ext cx="5284556" cy="711299"/>
          </a:xfrm>
          <a:prstGeom prst="rect">
            <a:avLst/>
          </a:prstGeom>
        </p:spPr>
      </p:pic>
      <p:sp>
        <p:nvSpPr>
          <p:cNvPr id="24" name="Text 17">
            <a:extLst>
              <a:ext uri="{FF2B5EF4-FFF2-40B4-BE49-F238E27FC236}">
                <a16:creationId xmlns:a16="http://schemas.microsoft.com/office/drawing/2014/main" id="{7D243F93-9A8A-4BA5-AB49-F0918F5D14C9}"/>
              </a:ext>
            </a:extLst>
          </p:cNvPr>
          <p:cNvSpPr>
            <a:spLocks noGrp="1"/>
          </p:cNvSpPr>
          <p:nvPr/>
        </p:nvSpPr>
        <p:spPr>
          <a:xfrm>
            <a:off x="6438342" y="4233664"/>
            <a:ext cx="4962699" cy="191988"/>
          </a:xfrm>
          <a:prstGeom prst="rect">
            <a:avLst/>
          </a:prstGeom>
          <a:noFill/>
        </p:spPr>
        <p:txBody>
          <a:bodyPr wrap="none" lIns="0" tIns="0" rIns="0" bIns="0" anchor="t"/>
          <a:lstStyle/>
          <a:p>
            <a:pPr marL="0" indent="0" algn="l">
              <a:lnSpc>
                <a:spcPct val="104000"/>
              </a:lnSpc>
              <a:buNone/>
            </a:pPr>
            <a:r>
              <a:rPr sz="1200" b="1" spc="-36">
                <a:solidFill>
                  <a:srgbClr val="272525"/>
                </a:solidFill>
                <a:latin typeface="Inter Bold"/>
                <a:ea typeface="Inter Bold"/>
                <a:cs typeface="Inter Bold"/>
              </a:rPr>
              <a:t>Naming habit</a:t>
            </a:r>
            <a:endParaRPr sz="1200"/>
          </a:p>
        </p:txBody>
      </p:sp>
      <p:sp>
        <p:nvSpPr>
          <p:cNvPr id="25" name="Text 18">
            <a:extLst>
              <a:ext uri="{FF2B5EF4-FFF2-40B4-BE49-F238E27FC236}">
                <a16:creationId xmlns:a16="http://schemas.microsoft.com/office/drawing/2014/main" id="{CED02C39-5448-4603-87DD-9E1A96F59C9B}"/>
              </a:ext>
            </a:extLst>
          </p:cNvPr>
          <p:cNvSpPr>
            <a:spLocks noGrp="1"/>
          </p:cNvSpPr>
          <p:nvPr/>
        </p:nvSpPr>
        <p:spPr>
          <a:xfrm>
            <a:off x="6438342" y="4505424"/>
            <a:ext cx="4962699" cy="168473"/>
          </a:xfrm>
          <a:prstGeom prst="rect">
            <a:avLst/>
          </a:prstGeom>
          <a:noFill/>
        </p:spPr>
        <p:txBody>
          <a:bodyPr wrap="none" lIns="0" tIns="0" rIns="0" bIns="0" anchor="t"/>
          <a:lstStyle/>
          <a:p>
            <a:pPr marL="0" indent="0" algn="l">
              <a:lnSpc>
                <a:spcPct val="110000"/>
              </a:lnSpc>
              <a:buNone/>
            </a:pPr>
            <a:r>
              <a:rPr sz="950" spc="-19">
                <a:solidFill>
                  <a:srgbClr val="272525"/>
                </a:solidFill>
                <a:latin typeface="Inter"/>
                <a:ea typeface="Inter"/>
                <a:cs typeface="Inter"/>
              </a:rPr>
              <a:t>Use singular/plural pairs: </a:t>
            </a:r>
            <a:r>
              <a:rPr sz="950" spc="-19">
                <a:solidFill>
                  <a:srgbClr val="272525"/>
                </a:solidFill>
                <a:highlight>
                  <a:srgbClr val="F2F2F2"/>
                </a:highlight>
                <a:latin typeface="Consolas"/>
                <a:ea typeface="Consolas"/>
                <a:cs typeface="Consolas"/>
              </a:rPr>
              <a:t>$topics</a:t>
            </a:r>
            <a:r>
              <a:rPr sz="950" spc="-19">
                <a:solidFill>
                  <a:srgbClr val="272525"/>
                </a:solidFill>
                <a:latin typeface="Inter"/>
                <a:ea typeface="Inter"/>
                <a:cs typeface="Inter"/>
              </a:rPr>
              <a:t> / </a:t>
            </a:r>
            <a:r>
              <a:rPr sz="950" spc="-19">
                <a:solidFill>
                  <a:srgbClr val="272525"/>
                </a:solidFill>
                <a:highlight>
                  <a:srgbClr val="F2F2F2"/>
                </a:highlight>
                <a:latin typeface="Consolas"/>
                <a:ea typeface="Consolas"/>
                <a:cs typeface="Consolas"/>
              </a:rPr>
              <a:t>$topic</a:t>
            </a:r>
            <a:endParaRPr sz="950"/>
          </a:p>
        </p:txBody>
      </p:sp>
      <p:pic>
        <p:nvPicPr>
          <p:cNvPr id="63" name="Image 5"/>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52014" y="4889202"/>
            <a:ext cx="5284556" cy="711299"/>
          </a:xfrm>
          <a:prstGeom prst="rect">
            <a:avLst/>
          </a:prstGeom>
        </p:spPr>
      </p:pic>
      <p:sp>
        <p:nvSpPr>
          <p:cNvPr id="27" name="Text 19">
            <a:extLst>
              <a:ext uri="{FF2B5EF4-FFF2-40B4-BE49-F238E27FC236}">
                <a16:creationId xmlns:a16="http://schemas.microsoft.com/office/drawing/2014/main" id="{D6CED1CD-0E7F-47F0-B675-C3B9578D493B}"/>
              </a:ext>
            </a:extLst>
          </p:cNvPr>
          <p:cNvSpPr>
            <a:spLocks noGrp="1"/>
          </p:cNvSpPr>
          <p:nvPr/>
        </p:nvSpPr>
        <p:spPr>
          <a:xfrm>
            <a:off x="6438342" y="5024735"/>
            <a:ext cx="4962699" cy="191988"/>
          </a:xfrm>
          <a:prstGeom prst="rect">
            <a:avLst/>
          </a:prstGeom>
          <a:noFill/>
        </p:spPr>
        <p:txBody>
          <a:bodyPr wrap="none" lIns="0" tIns="0" rIns="0" bIns="0" anchor="t"/>
          <a:lstStyle/>
          <a:p>
            <a:pPr marL="0" indent="0" algn="l">
              <a:lnSpc>
                <a:spcPct val="104000"/>
              </a:lnSpc>
              <a:buNone/>
            </a:pPr>
            <a:r>
              <a:rPr sz="1200" b="1" spc="-36">
                <a:solidFill>
                  <a:srgbClr val="272525"/>
                </a:solidFill>
                <a:latin typeface="Inter Bold"/>
                <a:ea typeface="Inter Bold"/>
                <a:cs typeface="Inter Bold"/>
              </a:rPr>
              <a:t>Associative variant</a:t>
            </a:r>
            <a:endParaRPr sz="1200"/>
          </a:p>
        </p:txBody>
      </p:sp>
      <p:sp>
        <p:nvSpPr>
          <p:cNvPr id="28" name="Text 20">
            <a:extLst>
              <a:ext uri="{FF2B5EF4-FFF2-40B4-BE49-F238E27FC236}">
                <a16:creationId xmlns:a16="http://schemas.microsoft.com/office/drawing/2014/main" id="{5E7FB527-DD49-46B5-AE24-19656303555D}"/>
              </a:ext>
            </a:extLst>
          </p:cNvPr>
          <p:cNvSpPr>
            <a:spLocks noGrp="1"/>
          </p:cNvSpPr>
          <p:nvPr/>
        </p:nvSpPr>
        <p:spPr>
          <a:xfrm>
            <a:off x="6438342" y="5296495"/>
            <a:ext cx="4962699" cy="168473"/>
          </a:xfrm>
          <a:prstGeom prst="rect">
            <a:avLst/>
          </a:prstGeom>
          <a:noFill/>
        </p:spPr>
        <p:txBody>
          <a:bodyPr wrap="none" lIns="0" tIns="0" rIns="0" bIns="0" anchor="t"/>
          <a:lstStyle/>
          <a:p>
            <a:pPr marL="0" indent="0" algn="l">
              <a:lnSpc>
                <a:spcPct val="110000"/>
              </a:lnSpc>
              <a:buNone/>
            </a:pPr>
            <a:r>
              <a:rPr sz="950" spc="-19">
                <a:solidFill>
                  <a:srgbClr val="272525"/>
                </a:solidFill>
                <a:highlight>
                  <a:srgbClr val="F2F2F2"/>
                </a:highlight>
                <a:latin typeface="Consolas"/>
                <a:ea typeface="Consolas"/>
                <a:cs typeface="Consolas"/>
              </a:rPr>
              <a:t>foreach ($course as $key =&gt; $value)</a:t>
            </a:r>
            <a:endParaRPr sz="950"/>
          </a:p>
        </p:txBody>
      </p:sp>
      <p:sp>
        <p:nvSpPr>
          <p:cNvPr id="29" name="Shape 21">
            <a:extLst>
              <a:ext uri="{FF2B5EF4-FFF2-40B4-BE49-F238E27FC236}">
                <a16:creationId xmlns:a16="http://schemas.microsoft.com/office/drawing/2014/main" id="{0605A993-75F5-469E-92EC-BAC076660785}"/>
              </a:ext>
            </a:extLst>
          </p:cNvPr>
          <p:cNvSpPr>
            <a:spLocks noGrp="1"/>
          </p:cNvSpPr>
          <p:nvPr/>
        </p:nvSpPr>
        <p:spPr>
          <a:xfrm>
            <a:off x="661475" y="5780087"/>
            <a:ext cx="10868745" cy="381397"/>
          </a:xfrm>
          <a:prstGeom prst="roundRect">
            <a:avLst>
              <a:gd name="adj" fmla="val 13530"/>
            </a:avLst>
          </a:prstGeom>
          <a:solidFill>
            <a:srgbClr val="DADBF1"/>
          </a:solidFill>
        </p:spPr>
        <p:txBody>
          <a:bodyPr/>
          <a:lstStyle/>
          <a:p>
            <a:endParaRPr/>
          </a:p>
        </p:txBody>
      </p:sp>
      <p:pic>
        <p:nvPicPr>
          <p:cNvPr id="67" name="Image 6"/>
          <p:cNvPicPr>
            <a:picLocks noChangeAspect="1"/>
          </p:cNvPicPr>
          <p:nvPr/>
        </p:nvPicPr>
        <p:blipFill>
          <a:blip r:embed="rId4"/>
          <a:stretch>
            <a:fillRect/>
          </a:stretch>
        </p:blipFill>
        <p:spPr>
          <a:xfrm>
            <a:off x="784305" y="5897265"/>
            <a:ext cx="153488" cy="122833"/>
          </a:xfrm>
          <a:prstGeom prst="rect">
            <a:avLst/>
          </a:prstGeom>
        </p:spPr>
      </p:pic>
      <p:sp>
        <p:nvSpPr>
          <p:cNvPr id="31" name="Text 22">
            <a:extLst>
              <a:ext uri="{FF2B5EF4-FFF2-40B4-BE49-F238E27FC236}">
                <a16:creationId xmlns:a16="http://schemas.microsoft.com/office/drawing/2014/main" id="{26CD1F12-B7FE-48A5-ADB6-F8F2C21D241A}"/>
              </a:ext>
            </a:extLst>
          </p:cNvPr>
          <p:cNvSpPr>
            <a:spLocks noGrp="1"/>
          </p:cNvSpPr>
          <p:nvPr/>
        </p:nvSpPr>
        <p:spPr>
          <a:xfrm>
            <a:off x="1060622" y="5890518"/>
            <a:ext cx="10956353" cy="168473"/>
          </a:xfrm>
          <a:prstGeom prst="rect">
            <a:avLst/>
          </a:prstGeom>
          <a:noFill/>
        </p:spPr>
        <p:txBody>
          <a:bodyPr wrap="none" lIns="0" tIns="0" rIns="0" bIns="0" anchor="t"/>
          <a:lstStyle/>
          <a:p>
            <a:pPr marL="0" indent="0" algn="l">
              <a:lnSpc>
                <a:spcPct val="110000"/>
              </a:lnSpc>
              <a:buNone/>
            </a:pPr>
            <a:r>
              <a:rPr sz="950" spc="-19">
                <a:solidFill>
                  <a:srgbClr val="000000"/>
                </a:solidFill>
                <a:latin typeface="Inter"/>
                <a:ea typeface="Inter"/>
                <a:cs typeface="Inter"/>
              </a:rPr>
              <a:t>Use </a:t>
            </a:r>
            <a:r>
              <a:rPr sz="950" spc="-19">
                <a:solidFill>
                  <a:srgbClr val="000000"/>
                </a:solidFill>
                <a:highlight>
                  <a:srgbClr val="F2F2F2"/>
                </a:highlight>
                <a:latin typeface="Consolas"/>
                <a:ea typeface="Consolas"/>
                <a:cs typeface="Consolas"/>
              </a:rPr>
              <a:t>for</a:t>
            </a:r>
            <a:r>
              <a:rPr sz="950" spc="-19">
                <a:solidFill>
                  <a:srgbClr val="000000"/>
                </a:solidFill>
                <a:latin typeface="Inter"/>
                <a:ea typeface="Inter"/>
                <a:cs typeface="Inter"/>
              </a:rPr>
              <a:t> for controlled counting; use </a:t>
            </a:r>
            <a:r>
              <a:rPr sz="950" spc="-19">
                <a:solidFill>
                  <a:srgbClr val="000000"/>
                </a:solidFill>
                <a:highlight>
                  <a:srgbClr val="F2F2F2"/>
                </a:highlight>
                <a:latin typeface="Consolas"/>
                <a:ea typeface="Consolas"/>
                <a:cs typeface="Consolas"/>
              </a:rPr>
              <a:t>foreach</a:t>
            </a:r>
            <a:r>
              <a:rPr sz="950" spc="-19">
                <a:solidFill>
                  <a:srgbClr val="000000"/>
                </a:solidFill>
                <a:latin typeface="Inter"/>
                <a:ea typeface="Inter"/>
                <a:cs typeface="Inter"/>
              </a:rPr>
              <a:t> for each item in an array. Using </a:t>
            </a:r>
            <a:r>
              <a:rPr sz="950" spc="-19">
                <a:solidFill>
                  <a:srgbClr val="000000"/>
                </a:solidFill>
                <a:highlight>
                  <a:srgbClr val="F2F2F2"/>
                </a:highlight>
                <a:latin typeface="Consolas"/>
                <a:ea typeface="Consolas"/>
                <a:cs typeface="Consolas"/>
              </a:rPr>
              <a:t>&lt;</a:t>
            </a:r>
            <a:r>
              <a:rPr sz="950" spc="-19">
                <a:solidFill>
                  <a:srgbClr val="000000"/>
                </a:solidFill>
                <a:latin typeface="Inter"/>
                <a:ea typeface="Inter"/>
                <a:cs typeface="Inter"/>
              </a:rPr>
              <a:t> instead of </a:t>
            </a:r>
            <a:r>
              <a:rPr sz="950" spc="-19">
                <a:solidFill>
                  <a:srgbClr val="000000"/>
                </a:solidFill>
                <a:highlight>
                  <a:srgbClr val="F2F2F2"/>
                </a:highlight>
                <a:latin typeface="Consolas"/>
                <a:ea typeface="Consolas"/>
                <a:cs typeface="Consolas"/>
              </a:rPr>
              <a:t>&lt;=</a:t>
            </a:r>
            <a:r>
              <a:rPr sz="950" spc="-19">
                <a:solidFill>
                  <a:srgbClr val="000000"/>
                </a:solidFill>
                <a:latin typeface="Inter"/>
                <a:ea typeface="Inter"/>
                <a:cs typeface="Inter"/>
              </a:rPr>
              <a:t> in a </a:t>
            </a:r>
            <a:r>
              <a:rPr sz="950" spc="-19">
                <a:solidFill>
                  <a:srgbClr val="000000"/>
                </a:solidFill>
                <a:highlight>
                  <a:srgbClr val="F2F2F2"/>
                </a:highlight>
                <a:latin typeface="Consolas"/>
                <a:ea typeface="Consolas"/>
                <a:cs typeface="Consolas"/>
              </a:rPr>
              <a:t>for</a:t>
            </a:r>
            <a:r>
              <a:rPr sz="950" spc="-19">
                <a:solidFill>
                  <a:srgbClr val="000000"/>
                </a:solidFill>
                <a:latin typeface="Inter"/>
                <a:ea typeface="Inter"/>
                <a:cs typeface="Inter"/>
              </a:rPr>
              <a:t> loop is a common off-by-one error.</a:t>
            </a:r>
            <a:endParaRPr sz="950"/>
          </a:p>
        </p:txBody>
      </p:sp>
    </p:spTree>
    <p:extLst>
      <p:ext uri="{BB962C8B-B14F-4D97-AF65-F5344CB8AC3E}">
        <p14:creationId xmlns:p14="http://schemas.microsoft.com/office/powerpoint/2010/main" val="1129067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DDB945C0-60EA-427E-8F3F-624C7B764CE6}"/>
              </a:ext>
            </a:extLst>
          </p:cNvPr>
          <p:cNvSpPr>
            <a:spLocks noGrp="1"/>
          </p:cNvSpPr>
          <p:nvPr/>
        </p:nvSpPr>
        <p:spPr>
          <a:xfrm>
            <a:off x="661475" y="749895"/>
            <a:ext cx="10868745" cy="359866"/>
          </a:xfrm>
          <a:prstGeom prst="rect">
            <a:avLst/>
          </a:prstGeom>
          <a:noFill/>
        </p:spPr>
        <p:txBody>
          <a:bodyPr wrap="none" lIns="0" tIns="0" rIns="0" bIns="0" anchor="t"/>
          <a:lstStyle/>
          <a:p>
            <a:pPr marL="0" indent="0" algn="l">
              <a:lnSpc>
                <a:spcPct val="104000"/>
              </a:lnSpc>
              <a:buNone/>
            </a:pPr>
            <a:r>
              <a:rPr sz="2250" b="1" spc="-68">
                <a:solidFill>
                  <a:srgbClr val="000000"/>
                </a:solidFill>
                <a:latin typeface="Inter Bold"/>
                <a:ea typeface="Inter Bold"/>
                <a:cs typeface="Inter Bold"/>
              </a:rPr>
              <a:t>Classes and Objects: A Simple Idea</a:t>
            </a:r>
            <a:endParaRPr sz="2250"/>
          </a:p>
        </p:txBody>
      </p:sp>
      <p:sp>
        <p:nvSpPr>
          <p:cNvPr id="5" name="Text 3">
            <a:extLst>
              <a:ext uri="{FF2B5EF4-FFF2-40B4-BE49-F238E27FC236}">
                <a16:creationId xmlns:a16="http://schemas.microsoft.com/office/drawing/2014/main" id="{83CB5B70-E3AB-4CD2-83C8-061235095C20}"/>
              </a:ext>
            </a:extLst>
          </p:cNvPr>
          <p:cNvSpPr>
            <a:spLocks noGrp="1"/>
          </p:cNvSpPr>
          <p:nvPr/>
        </p:nvSpPr>
        <p:spPr>
          <a:xfrm>
            <a:off x="661475" y="1215033"/>
            <a:ext cx="11478330" cy="148233"/>
          </a:xfrm>
          <a:prstGeom prst="rect">
            <a:avLst/>
          </a:prstGeom>
          <a:noFill/>
        </p:spPr>
        <p:txBody>
          <a:bodyPr wrap="none" lIns="0" tIns="0" rIns="0" bIns="0" anchor="t"/>
          <a:lstStyle/>
          <a:p>
            <a:pPr marL="0" indent="0" algn="l">
              <a:lnSpc>
                <a:spcPct val="107000"/>
              </a:lnSpc>
              <a:buNone/>
            </a:pPr>
            <a:r>
              <a:rPr sz="900" b="1" spc="-18">
                <a:solidFill>
                  <a:srgbClr val="272525"/>
                </a:solidFill>
                <a:latin typeface="Inter"/>
                <a:ea typeface="Inter"/>
                <a:cs typeface="Inter"/>
              </a:rPr>
              <a:t>A class is a </a:t>
            </a:r>
            <a:r>
              <a:rPr sz="900" b="1" spc="-18">
                <a:solidFill>
                  <a:srgbClr val="272525"/>
                </a:solidFill>
                <a:latin typeface="Inter Bold"/>
                <a:ea typeface="Inter Bold"/>
                <a:cs typeface="Inter Bold"/>
              </a:rPr>
              <a:t>plan or template</a:t>
            </a:r>
            <a:r>
              <a:rPr sz="900" b="1" spc="-18">
                <a:solidFill>
                  <a:srgbClr val="272525"/>
                </a:solidFill>
                <a:latin typeface="Inter"/>
                <a:ea typeface="Inter"/>
                <a:cs typeface="Inter"/>
              </a:rPr>
              <a:t>. An object is one </a:t>
            </a:r>
            <a:r>
              <a:rPr sz="900" b="1" spc="-18">
                <a:solidFill>
                  <a:srgbClr val="272525"/>
                </a:solidFill>
                <a:latin typeface="Inter Bold"/>
                <a:ea typeface="Inter Bold"/>
                <a:cs typeface="Inter Bold"/>
              </a:rPr>
              <a:t>real thing</a:t>
            </a:r>
            <a:r>
              <a:rPr sz="900" b="1" spc="-18">
                <a:solidFill>
                  <a:srgbClr val="272525"/>
                </a:solidFill>
                <a:latin typeface="Inter"/>
                <a:ea typeface="Inter"/>
                <a:cs typeface="Inter"/>
              </a:rPr>
              <a:t> made from that plan , just as a house plan describes what a house contains but is not a real house itself.</a:t>
            </a:r>
            <a:endParaRPr sz="900" b="1"/>
          </a:p>
        </p:txBody>
      </p:sp>
      <p:sp>
        <p:nvSpPr>
          <p:cNvPr id="6" name="Text 4">
            <a:extLst>
              <a:ext uri="{FF2B5EF4-FFF2-40B4-BE49-F238E27FC236}">
                <a16:creationId xmlns:a16="http://schemas.microsoft.com/office/drawing/2014/main" id="{131410FD-EBE1-4B0C-94BD-90EDB92C63C7}"/>
              </a:ext>
            </a:extLst>
          </p:cNvPr>
          <p:cNvSpPr>
            <a:spLocks noGrp="1"/>
          </p:cNvSpPr>
          <p:nvPr/>
        </p:nvSpPr>
        <p:spPr>
          <a:xfrm>
            <a:off x="661475" y="1512292"/>
            <a:ext cx="5293882" cy="179884"/>
          </a:xfrm>
          <a:prstGeom prst="rect">
            <a:avLst/>
          </a:prstGeom>
          <a:noFill/>
        </p:spPr>
        <p:txBody>
          <a:bodyPr wrap="none" lIns="0" tIns="0" rIns="0" bIns="0" anchor="t"/>
          <a:lstStyle/>
          <a:p>
            <a:pPr marL="0" indent="0" algn="l">
              <a:lnSpc>
                <a:spcPct val="104000"/>
              </a:lnSpc>
              <a:buNone/>
            </a:pPr>
            <a:r>
              <a:rPr sz="1100" b="1" spc="-34">
                <a:solidFill>
                  <a:srgbClr val="000000"/>
                </a:solidFill>
                <a:latin typeface="Inter Bold"/>
                <a:ea typeface="Inter Bold"/>
                <a:cs typeface="Inter Bold"/>
              </a:rPr>
              <a:t>Simple PHP Example</a:t>
            </a:r>
            <a:endParaRPr sz="1100"/>
          </a:p>
        </p:txBody>
      </p:sp>
      <p:sp>
        <p:nvSpPr>
          <p:cNvPr id="7" name="Shape 5">
            <a:extLst>
              <a:ext uri="{FF2B5EF4-FFF2-40B4-BE49-F238E27FC236}">
                <a16:creationId xmlns:a16="http://schemas.microsoft.com/office/drawing/2014/main" id="{187470D8-B0BB-4517-8E25-BE4AF3A22B4D}"/>
              </a:ext>
            </a:extLst>
          </p:cNvPr>
          <p:cNvSpPr>
            <a:spLocks noGrp="1"/>
          </p:cNvSpPr>
          <p:nvPr/>
        </p:nvSpPr>
        <p:spPr>
          <a:xfrm>
            <a:off x="661475" y="1771055"/>
            <a:ext cx="5293882" cy="1704181"/>
          </a:xfrm>
          <a:prstGeom prst="roundRect">
            <a:avLst>
              <a:gd name="adj" fmla="val 2839"/>
            </a:avLst>
          </a:prstGeom>
          <a:solidFill>
            <a:srgbClr val="F2F2F2"/>
          </a:solidFill>
        </p:spPr>
        <p:txBody>
          <a:bodyPr/>
          <a:lstStyle/>
          <a:p>
            <a:endParaRPr/>
          </a:p>
        </p:txBody>
      </p:sp>
      <p:sp>
        <p:nvSpPr>
          <p:cNvPr id="8" name="Text 6">
            <a:extLst>
              <a:ext uri="{FF2B5EF4-FFF2-40B4-BE49-F238E27FC236}">
                <a16:creationId xmlns:a16="http://schemas.microsoft.com/office/drawing/2014/main" id="{00CA5F93-3582-414C-AEE2-766697744CC7}"/>
              </a:ext>
            </a:extLst>
          </p:cNvPr>
          <p:cNvSpPr>
            <a:spLocks noGrp="1"/>
          </p:cNvSpPr>
          <p:nvPr/>
        </p:nvSpPr>
        <p:spPr>
          <a:xfrm>
            <a:off x="799683" y="1886148"/>
            <a:ext cx="5017466" cy="1473994"/>
          </a:xfrm>
          <a:prstGeom prst="rect">
            <a:avLst/>
          </a:prstGeom>
          <a:noFill/>
        </p:spPr>
        <p:txBody>
          <a:bodyPr wrap="square" lIns="0" tIns="0" rIns="0" bIns="0" anchor="t">
            <a:normAutofit/>
          </a:bodyPr>
          <a:lstStyle/>
          <a:p>
            <a:pPr marL="0" indent="0" algn="l">
              <a:lnSpc>
                <a:spcPct val="133000"/>
              </a:lnSpc>
              <a:buNone/>
            </a:pPr>
            <a:r>
              <a:rPr sz="900" spc="-18">
                <a:solidFill>
                  <a:srgbClr val="D73A49"/>
                </a:solidFill>
                <a:latin typeface="Consolas"/>
                <a:ea typeface="Consolas"/>
                <a:cs typeface="Consolas"/>
              </a:rPr>
              <a:t>class Student {</a:t>
            </a:r>
            <a:endParaRPr sz="900"/>
          </a:p>
          <a:p>
            <a:pPr marL="0" indent="0" algn="l">
              <a:lnSpc>
                <a:spcPct val="133000"/>
              </a:lnSpc>
              <a:buNone/>
            </a:pPr>
            <a:r>
              <a:rPr sz="900" spc="-18">
                <a:solidFill>
                  <a:srgbClr val="D73A49"/>
                </a:solidFill>
                <a:latin typeface="Consolas"/>
                <a:ea typeface="Consolas"/>
                <a:cs typeface="Consolas"/>
              </a:rPr>
              <a:t>    public $name;</a:t>
            </a:r>
            <a:endParaRPr sz="900"/>
          </a:p>
          <a:p>
            <a:pPr marL="0" indent="0" algn="l">
              <a:lnSpc>
                <a:spcPct val="133000"/>
              </a:lnSpc>
              <a:buNone/>
            </a:pPr>
            <a:r>
              <a:rPr sz="900" spc="-18">
                <a:solidFill>
                  <a:srgbClr val="D73A49"/>
                </a:solidFill>
                <a:latin typeface="Consolas"/>
                <a:ea typeface="Consolas"/>
                <a:cs typeface="Consolas"/>
              </a:rPr>
              <a:t>}</a:t>
            </a:r>
            <a:endParaRPr sz="900"/>
          </a:p>
          <a:p>
            <a:pPr marL="0" indent="0" algn="l">
              <a:lnSpc>
                <a:spcPct val="133000"/>
              </a:lnSpc>
              <a:buNone/>
            </a:pPr>
            <a:endParaRPr sz="900"/>
          </a:p>
          <a:p>
            <a:pPr marL="0" indent="0" algn="l">
              <a:lnSpc>
                <a:spcPct val="133000"/>
              </a:lnSpc>
              <a:buNone/>
            </a:pPr>
            <a:r>
              <a:rPr sz="900" spc="-18">
                <a:solidFill>
                  <a:srgbClr val="D73A49"/>
                </a:solidFill>
                <a:latin typeface="Consolas"/>
                <a:ea typeface="Consolas"/>
                <a:cs typeface="Consolas"/>
              </a:rPr>
              <a:t>$student = new Student();</a:t>
            </a:r>
            <a:endParaRPr sz="900"/>
          </a:p>
          <a:p>
            <a:pPr marL="0" indent="0" algn="l">
              <a:lnSpc>
                <a:spcPct val="133000"/>
              </a:lnSpc>
              <a:buNone/>
            </a:pPr>
            <a:r>
              <a:rPr sz="900" spc="-18">
                <a:solidFill>
                  <a:srgbClr val="D73A49"/>
                </a:solidFill>
                <a:latin typeface="Consolas"/>
                <a:ea typeface="Consolas"/>
                <a:cs typeface="Consolas"/>
              </a:rPr>
              <a:t>$student-&gt;name = 'Sam';</a:t>
            </a:r>
            <a:endParaRPr sz="900"/>
          </a:p>
          <a:p>
            <a:pPr marL="0" indent="0" algn="l">
              <a:lnSpc>
                <a:spcPct val="133000"/>
              </a:lnSpc>
              <a:buNone/>
            </a:pPr>
            <a:endParaRPr sz="900"/>
          </a:p>
          <a:p>
            <a:pPr marL="0" indent="0" algn="l">
              <a:lnSpc>
                <a:spcPct val="133000"/>
              </a:lnSpc>
              <a:buNone/>
            </a:pPr>
            <a:r>
              <a:rPr sz="900" spc="-18">
                <a:solidFill>
                  <a:srgbClr val="D73A49"/>
                </a:solidFill>
                <a:latin typeface="Consolas"/>
                <a:ea typeface="Consolas"/>
                <a:cs typeface="Consolas"/>
              </a:rPr>
              <a:t>echo $student-&gt;name;</a:t>
            </a:r>
            <a:endParaRPr sz="900"/>
          </a:p>
        </p:txBody>
      </p:sp>
      <p:sp>
        <p:nvSpPr>
          <p:cNvPr id="9" name="Text 7">
            <a:extLst>
              <a:ext uri="{FF2B5EF4-FFF2-40B4-BE49-F238E27FC236}">
                <a16:creationId xmlns:a16="http://schemas.microsoft.com/office/drawing/2014/main" id="{64102F85-3757-4097-86E8-EA1778B960E4}"/>
              </a:ext>
            </a:extLst>
          </p:cNvPr>
          <p:cNvSpPr>
            <a:spLocks noGrp="1"/>
          </p:cNvSpPr>
          <p:nvPr/>
        </p:nvSpPr>
        <p:spPr>
          <a:xfrm>
            <a:off x="661475" y="3554115"/>
            <a:ext cx="5293882" cy="179884"/>
          </a:xfrm>
          <a:prstGeom prst="rect">
            <a:avLst/>
          </a:prstGeom>
          <a:noFill/>
        </p:spPr>
        <p:txBody>
          <a:bodyPr wrap="none" lIns="0" tIns="0" rIns="0" bIns="0" anchor="t"/>
          <a:lstStyle/>
          <a:p>
            <a:pPr marL="0" indent="0" algn="l">
              <a:lnSpc>
                <a:spcPct val="104000"/>
              </a:lnSpc>
              <a:buNone/>
            </a:pPr>
            <a:r>
              <a:rPr sz="1100" b="1" spc="-34">
                <a:solidFill>
                  <a:srgbClr val="000000"/>
                </a:solidFill>
                <a:latin typeface="Inter Bold"/>
                <a:ea typeface="Inter Bold"/>
                <a:cs typeface="Inter Bold"/>
              </a:rPr>
              <a:t>Explain the Symbols</a:t>
            </a:r>
            <a:endParaRPr sz="1100"/>
          </a:p>
        </p:txBody>
      </p:sp>
      <p:sp>
        <p:nvSpPr>
          <p:cNvPr id="10" name="Text 8">
            <a:extLst>
              <a:ext uri="{FF2B5EF4-FFF2-40B4-BE49-F238E27FC236}">
                <a16:creationId xmlns:a16="http://schemas.microsoft.com/office/drawing/2014/main" id="{7DAF15F9-2523-4647-9FA8-2B5F4FA65527}"/>
              </a:ext>
            </a:extLst>
          </p:cNvPr>
          <p:cNvSpPr>
            <a:spLocks noGrp="1"/>
          </p:cNvSpPr>
          <p:nvPr/>
        </p:nvSpPr>
        <p:spPr>
          <a:xfrm>
            <a:off x="661475" y="3804146"/>
            <a:ext cx="5293882" cy="320973"/>
          </a:xfrm>
          <a:prstGeom prst="rect">
            <a:avLst/>
          </a:prstGeom>
          <a:noFill/>
        </p:spPr>
        <p:txBody>
          <a:bodyPr wrap="square" lIns="0" tIns="0" rIns="0" bIns="0" anchor="t">
            <a:normAutofit/>
          </a:bodyPr>
          <a:lstStyle/>
          <a:p>
            <a:pPr marL="182880" indent="-182880" algn="l">
              <a:lnSpc>
                <a:spcPct val="107000"/>
              </a:lnSpc>
              <a:buSzPct val="100000"/>
              <a:buChar char="•"/>
            </a:pPr>
            <a:r>
              <a:rPr sz="900" spc="-18">
                <a:solidFill>
                  <a:srgbClr val="272525"/>
                </a:solidFill>
                <a:highlight>
                  <a:srgbClr val="F2F2F2"/>
                </a:highlight>
                <a:latin typeface="Consolas"/>
                <a:ea typeface="Consolas"/>
                <a:cs typeface="Consolas"/>
              </a:rPr>
              <a:t>new Student()</a:t>
            </a:r>
            <a:r>
              <a:rPr sz="900" spc="-18">
                <a:solidFill>
                  <a:srgbClr val="272525"/>
                </a:solidFill>
                <a:latin typeface="Inter"/>
                <a:ea typeface="Inter"/>
                <a:cs typeface="Inter"/>
              </a:rPr>
              <a:t> creates an object</a:t>
            </a:r>
            <a:endParaRPr sz="900"/>
          </a:p>
          <a:p>
            <a:pPr marL="182880" indent="-182880" algn="l">
              <a:lnSpc>
                <a:spcPct val="107000"/>
              </a:lnSpc>
              <a:buSzPct val="100000"/>
              <a:buChar char="•"/>
            </a:pPr>
            <a:r>
              <a:rPr sz="900" spc="-18">
                <a:solidFill>
                  <a:srgbClr val="272525"/>
                </a:solidFill>
                <a:highlight>
                  <a:srgbClr val="F2F2F2"/>
                </a:highlight>
                <a:latin typeface="Consolas"/>
                <a:ea typeface="Consolas"/>
                <a:cs typeface="Consolas"/>
              </a:rPr>
              <a:t>-&gt;</a:t>
            </a:r>
            <a:r>
              <a:rPr sz="900" spc="-18">
                <a:solidFill>
                  <a:srgbClr val="272525"/>
                </a:solidFill>
                <a:latin typeface="Inter"/>
                <a:ea typeface="Inter"/>
                <a:cs typeface="Inter"/>
              </a:rPr>
              <a:t> lets us access information inside an object</a:t>
            </a:r>
            <a:endParaRPr sz="900"/>
          </a:p>
        </p:txBody>
      </p:sp>
      <p:sp>
        <p:nvSpPr>
          <p:cNvPr id="11" name="Text 9">
            <a:extLst>
              <a:ext uri="{FF2B5EF4-FFF2-40B4-BE49-F238E27FC236}">
                <a16:creationId xmlns:a16="http://schemas.microsoft.com/office/drawing/2014/main" id="{6758EC13-33C4-4388-AA4F-21FF6D2AC900}"/>
              </a:ext>
            </a:extLst>
          </p:cNvPr>
          <p:cNvSpPr>
            <a:spLocks noGrp="1"/>
          </p:cNvSpPr>
          <p:nvPr/>
        </p:nvSpPr>
        <p:spPr>
          <a:xfrm>
            <a:off x="6242688" y="1512292"/>
            <a:ext cx="5293882" cy="179884"/>
          </a:xfrm>
          <a:prstGeom prst="rect">
            <a:avLst/>
          </a:prstGeom>
          <a:noFill/>
        </p:spPr>
        <p:txBody>
          <a:bodyPr wrap="none" lIns="0" tIns="0" rIns="0" bIns="0" anchor="t"/>
          <a:lstStyle/>
          <a:p>
            <a:pPr marL="0" indent="0" algn="l">
              <a:lnSpc>
                <a:spcPct val="104000"/>
              </a:lnSpc>
              <a:buNone/>
            </a:pPr>
            <a:r>
              <a:rPr sz="1100" b="1" spc="-34">
                <a:solidFill>
                  <a:srgbClr val="000000"/>
                </a:solidFill>
                <a:latin typeface="Inter Bold"/>
                <a:ea typeface="Inter Bold"/>
                <a:cs typeface="Inter Bold"/>
              </a:rPr>
              <a:t>Moodle Gives Us Ready-Made Objects</a:t>
            </a:r>
            <a:endParaRPr sz="1100"/>
          </a:p>
        </p:txBody>
      </p:sp>
      <p:pic>
        <p:nvPicPr>
          <p:cNvPr id="40"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42688" y="1771055"/>
            <a:ext cx="2611868" cy="653852"/>
          </a:xfrm>
          <a:prstGeom prst="rect">
            <a:avLst/>
          </a:prstGeom>
        </p:spPr>
      </p:pic>
      <p:sp>
        <p:nvSpPr>
          <p:cNvPr id="13" name="Text 10">
            <a:extLst>
              <a:ext uri="{FF2B5EF4-FFF2-40B4-BE49-F238E27FC236}">
                <a16:creationId xmlns:a16="http://schemas.microsoft.com/office/drawing/2014/main" id="{F0FC283B-7FE9-459C-ADBF-0E820BCF4174}"/>
              </a:ext>
            </a:extLst>
          </p:cNvPr>
          <p:cNvSpPr>
            <a:spLocks noGrp="1"/>
          </p:cNvSpPr>
          <p:nvPr/>
        </p:nvSpPr>
        <p:spPr>
          <a:xfrm>
            <a:off x="6421277" y="1898848"/>
            <a:ext cx="2305488" cy="179884"/>
          </a:xfrm>
          <a:prstGeom prst="rect">
            <a:avLst/>
          </a:prstGeom>
          <a:noFill/>
        </p:spPr>
        <p:txBody>
          <a:bodyPr wrap="none" lIns="0" tIns="0" rIns="0" bIns="0" anchor="t"/>
          <a:lstStyle/>
          <a:p>
            <a:pPr marL="0" indent="0" algn="l">
              <a:lnSpc>
                <a:spcPct val="104000"/>
              </a:lnSpc>
              <a:buNone/>
            </a:pPr>
            <a:r>
              <a:rPr sz="1100" b="1" spc="-34">
                <a:solidFill>
                  <a:srgbClr val="272525"/>
                </a:solidFill>
                <a:highlight>
                  <a:srgbClr val="F2F2F2"/>
                </a:highlight>
                <a:latin typeface="Consolas"/>
                <a:ea typeface="Consolas"/>
                <a:cs typeface="Consolas"/>
              </a:rPr>
              <a:t>$USER-&gt;firstname</a:t>
            </a:r>
            <a:endParaRPr sz="1100"/>
          </a:p>
        </p:txBody>
      </p:sp>
      <p:sp>
        <p:nvSpPr>
          <p:cNvPr id="14" name="Text 11">
            <a:extLst>
              <a:ext uri="{FF2B5EF4-FFF2-40B4-BE49-F238E27FC236}">
                <a16:creationId xmlns:a16="http://schemas.microsoft.com/office/drawing/2014/main" id="{38405CF7-0FE4-441D-AFD1-7F66C6E8DEDF}"/>
              </a:ext>
            </a:extLst>
          </p:cNvPr>
          <p:cNvSpPr>
            <a:spLocks noGrp="1"/>
          </p:cNvSpPr>
          <p:nvPr/>
        </p:nvSpPr>
        <p:spPr>
          <a:xfrm>
            <a:off x="6421277" y="2148880"/>
            <a:ext cx="2305488" cy="148233"/>
          </a:xfrm>
          <a:prstGeom prst="rect">
            <a:avLst/>
          </a:prstGeom>
          <a:noFill/>
        </p:spPr>
        <p:txBody>
          <a:bodyPr wrap="none" lIns="0" tIns="0" rIns="0" bIns="0" anchor="t"/>
          <a:lstStyle/>
          <a:p>
            <a:pPr marL="0" indent="0" algn="l">
              <a:lnSpc>
                <a:spcPct val="107000"/>
              </a:lnSpc>
              <a:buNone/>
            </a:pPr>
            <a:r>
              <a:rPr sz="900" spc="-18">
                <a:solidFill>
                  <a:srgbClr val="272525"/>
                </a:solidFill>
                <a:latin typeface="Inter"/>
                <a:ea typeface="Inter"/>
                <a:cs typeface="Inter"/>
              </a:rPr>
              <a:t>Current user's first name</a:t>
            </a:r>
            <a:endParaRPr sz="900"/>
          </a:p>
        </p:txBody>
      </p:sp>
      <p:pic>
        <p:nvPicPr>
          <p:cNvPr id="43" name="Image 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24702" y="1771055"/>
            <a:ext cx="2611868" cy="653852"/>
          </a:xfrm>
          <a:prstGeom prst="rect">
            <a:avLst/>
          </a:prstGeom>
        </p:spPr>
      </p:pic>
      <p:sp>
        <p:nvSpPr>
          <p:cNvPr id="16" name="Text 12">
            <a:extLst>
              <a:ext uri="{FF2B5EF4-FFF2-40B4-BE49-F238E27FC236}">
                <a16:creationId xmlns:a16="http://schemas.microsoft.com/office/drawing/2014/main" id="{D661128D-4B68-44CA-9C13-228E15B0EA9D}"/>
              </a:ext>
            </a:extLst>
          </p:cNvPr>
          <p:cNvSpPr>
            <a:spLocks noGrp="1"/>
          </p:cNvSpPr>
          <p:nvPr/>
        </p:nvSpPr>
        <p:spPr>
          <a:xfrm>
            <a:off x="9103291" y="1898848"/>
            <a:ext cx="2305488" cy="179884"/>
          </a:xfrm>
          <a:prstGeom prst="rect">
            <a:avLst/>
          </a:prstGeom>
          <a:noFill/>
        </p:spPr>
        <p:txBody>
          <a:bodyPr wrap="none" lIns="0" tIns="0" rIns="0" bIns="0" anchor="t"/>
          <a:lstStyle/>
          <a:p>
            <a:pPr marL="0" indent="0" algn="l">
              <a:lnSpc>
                <a:spcPct val="104000"/>
              </a:lnSpc>
              <a:buNone/>
            </a:pPr>
            <a:r>
              <a:rPr sz="1100" b="1" spc="-34">
                <a:solidFill>
                  <a:srgbClr val="272525"/>
                </a:solidFill>
                <a:highlight>
                  <a:srgbClr val="F2F2F2"/>
                </a:highlight>
                <a:latin typeface="Consolas"/>
                <a:ea typeface="Consolas"/>
                <a:cs typeface="Consolas"/>
              </a:rPr>
              <a:t>$CFG-&gt;wwwroot</a:t>
            </a:r>
            <a:endParaRPr sz="1100"/>
          </a:p>
        </p:txBody>
      </p:sp>
      <p:sp>
        <p:nvSpPr>
          <p:cNvPr id="17" name="Text 13">
            <a:extLst>
              <a:ext uri="{FF2B5EF4-FFF2-40B4-BE49-F238E27FC236}">
                <a16:creationId xmlns:a16="http://schemas.microsoft.com/office/drawing/2014/main" id="{A1C5A191-BAB0-4980-A614-9722A0101FAB}"/>
              </a:ext>
            </a:extLst>
          </p:cNvPr>
          <p:cNvSpPr>
            <a:spLocks noGrp="1"/>
          </p:cNvSpPr>
          <p:nvPr/>
        </p:nvSpPr>
        <p:spPr>
          <a:xfrm>
            <a:off x="9103291" y="2148880"/>
            <a:ext cx="2305488" cy="148233"/>
          </a:xfrm>
          <a:prstGeom prst="rect">
            <a:avLst/>
          </a:prstGeom>
          <a:noFill/>
        </p:spPr>
        <p:txBody>
          <a:bodyPr wrap="none" lIns="0" tIns="0" rIns="0" bIns="0" anchor="t"/>
          <a:lstStyle/>
          <a:p>
            <a:pPr marL="0" indent="0" algn="l">
              <a:lnSpc>
                <a:spcPct val="107000"/>
              </a:lnSpc>
              <a:buNone/>
            </a:pPr>
            <a:r>
              <a:rPr sz="900" spc="-18">
                <a:solidFill>
                  <a:srgbClr val="272525"/>
                </a:solidFill>
                <a:latin typeface="Inter"/>
                <a:ea typeface="Inter"/>
                <a:cs typeface="Inter"/>
              </a:rPr>
              <a:t>Moodle website address</a:t>
            </a:r>
            <a:endParaRPr sz="900"/>
          </a:p>
        </p:txBody>
      </p:sp>
      <p:pic>
        <p:nvPicPr>
          <p:cNvPr id="46" name="Imag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42688" y="2495054"/>
            <a:ext cx="2611868" cy="653852"/>
          </a:xfrm>
          <a:prstGeom prst="rect">
            <a:avLst/>
          </a:prstGeom>
        </p:spPr>
      </p:pic>
      <p:sp>
        <p:nvSpPr>
          <p:cNvPr id="19" name="Text 14">
            <a:extLst>
              <a:ext uri="{FF2B5EF4-FFF2-40B4-BE49-F238E27FC236}">
                <a16:creationId xmlns:a16="http://schemas.microsoft.com/office/drawing/2014/main" id="{FA968DE9-6CE5-4969-95D6-DB8637D0FF04}"/>
              </a:ext>
            </a:extLst>
          </p:cNvPr>
          <p:cNvSpPr>
            <a:spLocks noGrp="1"/>
          </p:cNvSpPr>
          <p:nvPr/>
        </p:nvSpPr>
        <p:spPr>
          <a:xfrm>
            <a:off x="6421277" y="2622848"/>
            <a:ext cx="2305488" cy="179884"/>
          </a:xfrm>
          <a:prstGeom prst="rect">
            <a:avLst/>
          </a:prstGeom>
          <a:noFill/>
        </p:spPr>
        <p:txBody>
          <a:bodyPr wrap="none" lIns="0" tIns="0" rIns="0" bIns="0" anchor="t"/>
          <a:lstStyle/>
          <a:p>
            <a:pPr marL="0" indent="0" algn="l">
              <a:lnSpc>
                <a:spcPct val="104000"/>
              </a:lnSpc>
              <a:buNone/>
            </a:pPr>
            <a:r>
              <a:rPr sz="1100" b="1" spc="-34">
                <a:solidFill>
                  <a:srgbClr val="272525"/>
                </a:solidFill>
                <a:highlight>
                  <a:srgbClr val="F2F2F2"/>
                </a:highlight>
                <a:latin typeface="Consolas"/>
                <a:ea typeface="Consolas"/>
                <a:cs typeface="Consolas"/>
              </a:rPr>
              <a:t>$DB</a:t>
            </a:r>
            <a:endParaRPr sz="1100"/>
          </a:p>
        </p:txBody>
      </p:sp>
      <p:sp>
        <p:nvSpPr>
          <p:cNvPr id="20" name="Text 15">
            <a:extLst>
              <a:ext uri="{FF2B5EF4-FFF2-40B4-BE49-F238E27FC236}">
                <a16:creationId xmlns:a16="http://schemas.microsoft.com/office/drawing/2014/main" id="{96445940-E9C5-48E4-A833-F636F0ABBEF3}"/>
              </a:ext>
            </a:extLst>
          </p:cNvPr>
          <p:cNvSpPr>
            <a:spLocks noGrp="1"/>
          </p:cNvSpPr>
          <p:nvPr/>
        </p:nvSpPr>
        <p:spPr>
          <a:xfrm>
            <a:off x="6421277" y="2872879"/>
            <a:ext cx="2305488" cy="148233"/>
          </a:xfrm>
          <a:prstGeom prst="rect">
            <a:avLst/>
          </a:prstGeom>
          <a:noFill/>
        </p:spPr>
        <p:txBody>
          <a:bodyPr wrap="none" lIns="0" tIns="0" rIns="0" bIns="0" anchor="t"/>
          <a:lstStyle/>
          <a:p>
            <a:pPr marL="0" indent="0" algn="l">
              <a:lnSpc>
                <a:spcPct val="107000"/>
              </a:lnSpc>
              <a:buNone/>
            </a:pPr>
            <a:r>
              <a:rPr sz="900" spc="-18">
                <a:solidFill>
                  <a:srgbClr val="272525"/>
                </a:solidFill>
                <a:latin typeface="Inter"/>
                <a:ea typeface="Inter"/>
                <a:cs typeface="Inter"/>
              </a:rPr>
              <a:t>Helps Moodle work with its database</a:t>
            </a:r>
            <a:endParaRPr sz="900"/>
          </a:p>
        </p:txBody>
      </p:sp>
      <p:pic>
        <p:nvPicPr>
          <p:cNvPr id="49" name="Image 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24702" y="2495054"/>
            <a:ext cx="2611868" cy="653852"/>
          </a:xfrm>
          <a:prstGeom prst="rect">
            <a:avLst/>
          </a:prstGeom>
        </p:spPr>
      </p:pic>
      <p:sp>
        <p:nvSpPr>
          <p:cNvPr id="22" name="Text 16">
            <a:extLst>
              <a:ext uri="{FF2B5EF4-FFF2-40B4-BE49-F238E27FC236}">
                <a16:creationId xmlns:a16="http://schemas.microsoft.com/office/drawing/2014/main" id="{32067CA9-8BCB-4404-934F-211FE27C2603}"/>
              </a:ext>
            </a:extLst>
          </p:cNvPr>
          <p:cNvSpPr>
            <a:spLocks noGrp="1"/>
          </p:cNvSpPr>
          <p:nvPr/>
        </p:nvSpPr>
        <p:spPr>
          <a:xfrm>
            <a:off x="9103291" y="2622848"/>
            <a:ext cx="2305488" cy="179884"/>
          </a:xfrm>
          <a:prstGeom prst="rect">
            <a:avLst/>
          </a:prstGeom>
          <a:noFill/>
        </p:spPr>
        <p:txBody>
          <a:bodyPr wrap="none" lIns="0" tIns="0" rIns="0" bIns="0" anchor="t"/>
          <a:lstStyle/>
          <a:p>
            <a:pPr marL="0" indent="0" algn="l">
              <a:lnSpc>
                <a:spcPct val="104000"/>
              </a:lnSpc>
              <a:buNone/>
            </a:pPr>
            <a:r>
              <a:rPr sz="1100" b="1" spc="-34">
                <a:solidFill>
                  <a:srgbClr val="272525"/>
                </a:solidFill>
                <a:highlight>
                  <a:srgbClr val="F2F2F2"/>
                </a:highlight>
                <a:latin typeface="Consolas"/>
                <a:ea typeface="Consolas"/>
                <a:cs typeface="Consolas"/>
              </a:rPr>
              <a:t>$PAGE</a:t>
            </a:r>
            <a:endParaRPr sz="1100"/>
          </a:p>
        </p:txBody>
      </p:sp>
      <p:sp>
        <p:nvSpPr>
          <p:cNvPr id="23" name="Text 17">
            <a:extLst>
              <a:ext uri="{FF2B5EF4-FFF2-40B4-BE49-F238E27FC236}">
                <a16:creationId xmlns:a16="http://schemas.microsoft.com/office/drawing/2014/main" id="{984F6B6D-C069-458C-868E-919CC9901785}"/>
              </a:ext>
            </a:extLst>
          </p:cNvPr>
          <p:cNvSpPr>
            <a:spLocks noGrp="1"/>
          </p:cNvSpPr>
          <p:nvPr/>
        </p:nvSpPr>
        <p:spPr>
          <a:xfrm>
            <a:off x="9103291" y="2872879"/>
            <a:ext cx="2305488" cy="148233"/>
          </a:xfrm>
          <a:prstGeom prst="rect">
            <a:avLst/>
          </a:prstGeom>
          <a:noFill/>
        </p:spPr>
        <p:txBody>
          <a:bodyPr wrap="none" lIns="0" tIns="0" rIns="0" bIns="0" anchor="t"/>
          <a:lstStyle/>
          <a:p>
            <a:pPr marL="0" indent="0" algn="l">
              <a:lnSpc>
                <a:spcPct val="107000"/>
              </a:lnSpc>
              <a:buNone/>
            </a:pPr>
            <a:r>
              <a:rPr sz="900" spc="-18">
                <a:solidFill>
                  <a:srgbClr val="272525"/>
                </a:solidFill>
                <a:latin typeface="Inter"/>
                <a:ea typeface="Inter"/>
                <a:cs typeface="Inter"/>
              </a:rPr>
              <a:t>Helps set up the current page</a:t>
            </a:r>
            <a:endParaRPr sz="900"/>
          </a:p>
        </p:txBody>
      </p:sp>
      <p:sp>
        <p:nvSpPr>
          <p:cNvPr id="24" name="Shape 18">
            <a:extLst>
              <a:ext uri="{FF2B5EF4-FFF2-40B4-BE49-F238E27FC236}">
                <a16:creationId xmlns:a16="http://schemas.microsoft.com/office/drawing/2014/main" id="{4CF27098-F4DA-4083-A60F-7FBFAC71479A}"/>
              </a:ext>
            </a:extLst>
          </p:cNvPr>
          <p:cNvSpPr>
            <a:spLocks noGrp="1"/>
          </p:cNvSpPr>
          <p:nvPr/>
        </p:nvSpPr>
        <p:spPr>
          <a:xfrm>
            <a:off x="661475" y="4228505"/>
            <a:ext cx="10868745" cy="339030"/>
          </a:xfrm>
          <a:prstGeom prst="roundRect">
            <a:avLst>
              <a:gd name="adj" fmla="val 14269"/>
            </a:avLst>
          </a:prstGeom>
          <a:solidFill>
            <a:srgbClr val="DADBF1"/>
          </a:solidFill>
        </p:spPr>
        <p:txBody>
          <a:bodyPr/>
          <a:lstStyle/>
          <a:p>
            <a:endParaRPr/>
          </a:p>
        </p:txBody>
      </p:sp>
      <p:pic>
        <p:nvPicPr>
          <p:cNvPr id="53" name="Image 4"/>
          <p:cNvPicPr>
            <a:picLocks noChangeAspect="1"/>
          </p:cNvPicPr>
          <p:nvPr/>
        </p:nvPicPr>
        <p:blipFill>
          <a:blip r:embed="rId4"/>
          <a:stretch>
            <a:fillRect/>
          </a:stretch>
        </p:blipFill>
        <p:spPr>
          <a:xfrm>
            <a:off x="776566" y="4328319"/>
            <a:ext cx="143963" cy="115094"/>
          </a:xfrm>
          <a:prstGeom prst="rect">
            <a:avLst/>
          </a:prstGeom>
        </p:spPr>
      </p:pic>
      <p:sp>
        <p:nvSpPr>
          <p:cNvPr id="26" name="Text 19">
            <a:extLst>
              <a:ext uri="{FF2B5EF4-FFF2-40B4-BE49-F238E27FC236}">
                <a16:creationId xmlns:a16="http://schemas.microsoft.com/office/drawing/2014/main" id="{35B4E7CB-C661-4E15-B24D-58FE6716C54F}"/>
              </a:ext>
            </a:extLst>
          </p:cNvPr>
          <p:cNvSpPr>
            <a:spLocks noGrp="1"/>
          </p:cNvSpPr>
          <p:nvPr/>
        </p:nvSpPr>
        <p:spPr>
          <a:xfrm>
            <a:off x="1035619" y="4327426"/>
            <a:ext cx="10989095" cy="148233"/>
          </a:xfrm>
          <a:prstGeom prst="rect">
            <a:avLst/>
          </a:prstGeom>
          <a:noFill/>
        </p:spPr>
        <p:txBody>
          <a:bodyPr wrap="none" lIns="0" tIns="0" rIns="0" bIns="0" anchor="t"/>
          <a:lstStyle/>
          <a:p>
            <a:pPr marL="0" indent="0" algn="l">
              <a:lnSpc>
                <a:spcPct val="107000"/>
              </a:lnSpc>
              <a:buNone/>
            </a:pPr>
            <a:r>
              <a:rPr sz="900" spc="-18">
                <a:solidFill>
                  <a:srgbClr val="000000"/>
                </a:solidFill>
                <a:latin typeface="Inter"/>
                <a:ea typeface="Inter"/>
                <a:cs typeface="Inter"/>
              </a:rPr>
              <a:t>We usually </a:t>
            </a:r>
            <a:r>
              <a:rPr sz="900" b="1" spc="-18">
                <a:solidFill>
                  <a:srgbClr val="000000"/>
                </a:solidFill>
                <a:latin typeface="Inter Bold"/>
                <a:ea typeface="Inter Bold"/>
                <a:cs typeface="Inter Bold"/>
              </a:rPr>
              <a:t>use</a:t>
            </a:r>
            <a:r>
              <a:rPr sz="900" spc="-18">
                <a:solidFill>
                  <a:srgbClr val="000000"/>
                </a:solidFill>
                <a:latin typeface="Inter"/>
                <a:ea typeface="Inter"/>
                <a:cs typeface="Inter"/>
              </a:rPr>
              <a:t> Moodle's objects, we do not create them ourselves.</a:t>
            </a:r>
            <a:endParaRPr sz="900"/>
          </a:p>
        </p:txBody>
      </p:sp>
    </p:spTree>
    <p:extLst>
      <p:ext uri="{BB962C8B-B14F-4D97-AF65-F5344CB8AC3E}">
        <p14:creationId xmlns:p14="http://schemas.microsoft.com/office/powerpoint/2010/main" val="94712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69750A4F-3FA6-4ACD-907D-ABDE7D08B5EF}"/>
              </a:ext>
            </a:extLst>
          </p:cNvPr>
          <p:cNvSpPr>
            <a:spLocks noGrp="1"/>
          </p:cNvSpPr>
          <p:nvPr/>
        </p:nvSpPr>
        <p:spPr>
          <a:xfrm>
            <a:off x="661475" y="763786"/>
            <a:ext cx="10868745" cy="366216"/>
          </a:xfrm>
          <a:prstGeom prst="rect">
            <a:avLst/>
          </a:prstGeom>
          <a:noFill/>
        </p:spPr>
        <p:txBody>
          <a:bodyPr wrap="none" lIns="0" tIns="0" rIns="0" bIns="0" anchor="t"/>
          <a:lstStyle/>
          <a:p>
            <a:pPr marL="0" indent="0" algn="l">
              <a:lnSpc>
                <a:spcPct val="104000"/>
              </a:lnSpc>
              <a:buNone/>
            </a:pPr>
            <a:r>
              <a:rPr sz="2250" b="1" spc="-68">
                <a:solidFill>
                  <a:srgbClr val="000000"/>
                </a:solidFill>
                <a:latin typeface="Inter Bold"/>
                <a:ea typeface="Inter Bold"/>
                <a:cs typeface="Inter Bold"/>
              </a:rPr>
              <a:t>Building Moodle Links with </a:t>
            </a:r>
            <a:r>
              <a:rPr sz="2250" b="1" spc="-68">
                <a:solidFill>
                  <a:srgbClr val="272525"/>
                </a:solidFill>
                <a:highlight>
                  <a:srgbClr val="F2F2F2"/>
                </a:highlight>
                <a:latin typeface="Consolas"/>
                <a:ea typeface="Consolas"/>
                <a:cs typeface="Consolas"/>
              </a:rPr>
              <a:t>moodle_url</a:t>
            </a:r>
            <a:endParaRPr sz="2250"/>
          </a:p>
        </p:txBody>
      </p:sp>
      <p:sp>
        <p:nvSpPr>
          <p:cNvPr id="5" name="Text 3">
            <a:extLst>
              <a:ext uri="{FF2B5EF4-FFF2-40B4-BE49-F238E27FC236}">
                <a16:creationId xmlns:a16="http://schemas.microsoft.com/office/drawing/2014/main" id="{76BBAD1A-C544-423C-83DA-57E63EB008B2}"/>
              </a:ext>
            </a:extLst>
          </p:cNvPr>
          <p:cNvSpPr>
            <a:spLocks noGrp="1"/>
          </p:cNvSpPr>
          <p:nvPr/>
        </p:nvSpPr>
        <p:spPr>
          <a:xfrm>
            <a:off x="661475" y="1305421"/>
            <a:ext cx="5070844" cy="179884"/>
          </a:xfrm>
          <a:prstGeom prst="rect">
            <a:avLst/>
          </a:prstGeom>
          <a:noFill/>
        </p:spPr>
        <p:txBody>
          <a:bodyPr wrap="none" lIns="0" tIns="0" rIns="0" bIns="0" anchor="t"/>
          <a:lstStyle/>
          <a:p>
            <a:pPr marL="0" indent="0" algn="l">
              <a:lnSpc>
                <a:spcPct val="104000"/>
              </a:lnSpc>
              <a:buNone/>
            </a:pPr>
            <a:r>
              <a:rPr sz="1100" b="1" spc="-34">
                <a:solidFill>
                  <a:srgbClr val="000000"/>
                </a:solidFill>
                <a:latin typeface="Inter Bold"/>
                <a:ea typeface="Inter Bold"/>
                <a:cs typeface="Inter Bold"/>
              </a:rPr>
              <a:t>The Problem</a:t>
            </a:r>
            <a:endParaRPr sz="1100"/>
          </a:p>
        </p:txBody>
      </p:sp>
      <p:sp>
        <p:nvSpPr>
          <p:cNvPr id="6" name="Text 4">
            <a:extLst>
              <a:ext uri="{FF2B5EF4-FFF2-40B4-BE49-F238E27FC236}">
                <a16:creationId xmlns:a16="http://schemas.microsoft.com/office/drawing/2014/main" id="{932B984F-CFE6-4BCD-B7FE-656C312A342A}"/>
              </a:ext>
            </a:extLst>
          </p:cNvPr>
          <p:cNvSpPr>
            <a:spLocks noGrp="1"/>
          </p:cNvSpPr>
          <p:nvPr/>
        </p:nvSpPr>
        <p:spPr>
          <a:xfrm>
            <a:off x="661475" y="1555452"/>
            <a:ext cx="5070844" cy="296466"/>
          </a:xfrm>
          <a:prstGeom prst="rect">
            <a:avLst/>
          </a:prstGeom>
          <a:noFill/>
        </p:spPr>
        <p:txBody>
          <a:bodyPr wrap="square" lIns="0" tIns="0" rIns="0" bIns="0" anchor="t">
            <a:normAutofit/>
          </a:bodyPr>
          <a:lstStyle/>
          <a:p>
            <a:pPr marL="0" indent="0" algn="l">
              <a:lnSpc>
                <a:spcPct val="107000"/>
              </a:lnSpc>
              <a:buNone/>
            </a:pPr>
            <a:r>
              <a:rPr sz="900" spc="-18">
                <a:solidFill>
                  <a:srgbClr val="272525"/>
                </a:solidFill>
                <a:latin typeface="Inter"/>
                <a:ea typeface="Inter"/>
                <a:cs typeface="Inter"/>
              </a:rPr>
              <a:t>Do not type the whole website address into every link, the site address may be different on another server, making hard-coded links unreliable.</a:t>
            </a:r>
            <a:endParaRPr sz="900"/>
          </a:p>
        </p:txBody>
      </p:sp>
      <p:sp>
        <p:nvSpPr>
          <p:cNvPr id="7" name="Text 5">
            <a:extLst>
              <a:ext uri="{FF2B5EF4-FFF2-40B4-BE49-F238E27FC236}">
                <a16:creationId xmlns:a16="http://schemas.microsoft.com/office/drawing/2014/main" id="{7CC7D0F4-F37C-4F41-9757-9FC88C482307}"/>
              </a:ext>
            </a:extLst>
          </p:cNvPr>
          <p:cNvSpPr>
            <a:spLocks noGrp="1"/>
          </p:cNvSpPr>
          <p:nvPr/>
        </p:nvSpPr>
        <p:spPr>
          <a:xfrm>
            <a:off x="661475" y="1922066"/>
            <a:ext cx="5070844" cy="179884"/>
          </a:xfrm>
          <a:prstGeom prst="rect">
            <a:avLst/>
          </a:prstGeom>
          <a:noFill/>
        </p:spPr>
        <p:txBody>
          <a:bodyPr wrap="none" lIns="0" tIns="0" rIns="0" bIns="0" anchor="t"/>
          <a:lstStyle/>
          <a:p>
            <a:pPr marL="0" indent="0" algn="l">
              <a:lnSpc>
                <a:spcPct val="104000"/>
              </a:lnSpc>
              <a:buNone/>
            </a:pPr>
            <a:r>
              <a:rPr sz="1100" b="1" spc="-34">
                <a:solidFill>
                  <a:srgbClr val="000000"/>
                </a:solidFill>
                <a:latin typeface="Inter Bold"/>
                <a:ea typeface="Inter Bold"/>
                <a:cs typeface="Inter Bold"/>
              </a:rPr>
              <a:t>Better Moodle Method</a:t>
            </a:r>
            <a:endParaRPr sz="1100"/>
          </a:p>
        </p:txBody>
      </p:sp>
      <p:sp>
        <p:nvSpPr>
          <p:cNvPr id="8" name="Shape 6">
            <a:extLst>
              <a:ext uri="{FF2B5EF4-FFF2-40B4-BE49-F238E27FC236}">
                <a16:creationId xmlns:a16="http://schemas.microsoft.com/office/drawing/2014/main" id="{7F8C29B4-6073-46AF-8546-27A47B642240}"/>
              </a:ext>
            </a:extLst>
          </p:cNvPr>
          <p:cNvSpPr>
            <a:spLocks noGrp="1"/>
          </p:cNvSpPr>
          <p:nvPr/>
        </p:nvSpPr>
        <p:spPr>
          <a:xfrm>
            <a:off x="661475" y="2180828"/>
            <a:ext cx="5070844" cy="1335683"/>
          </a:xfrm>
          <a:prstGeom prst="roundRect">
            <a:avLst>
              <a:gd name="adj" fmla="val 3622"/>
            </a:avLst>
          </a:prstGeom>
          <a:solidFill>
            <a:srgbClr val="F2F2F2"/>
          </a:solidFill>
        </p:spPr>
        <p:txBody>
          <a:bodyPr/>
          <a:lstStyle/>
          <a:p>
            <a:endParaRPr/>
          </a:p>
        </p:txBody>
      </p:sp>
      <p:sp>
        <p:nvSpPr>
          <p:cNvPr id="9" name="Text 7">
            <a:extLst>
              <a:ext uri="{FF2B5EF4-FFF2-40B4-BE49-F238E27FC236}">
                <a16:creationId xmlns:a16="http://schemas.microsoft.com/office/drawing/2014/main" id="{C9E79978-2133-4D6F-B9C2-9B4607065CE5}"/>
              </a:ext>
            </a:extLst>
          </p:cNvPr>
          <p:cNvSpPr>
            <a:spLocks noGrp="1"/>
          </p:cNvSpPr>
          <p:nvPr/>
        </p:nvSpPr>
        <p:spPr>
          <a:xfrm>
            <a:off x="799683" y="2295922"/>
            <a:ext cx="4794428" cy="1105495"/>
          </a:xfrm>
          <a:prstGeom prst="rect">
            <a:avLst/>
          </a:prstGeom>
          <a:noFill/>
        </p:spPr>
        <p:txBody>
          <a:bodyPr wrap="square" lIns="0" tIns="0" rIns="0" bIns="0" anchor="t">
            <a:normAutofit/>
          </a:bodyPr>
          <a:lstStyle/>
          <a:p>
            <a:pPr marL="0" indent="0" algn="l">
              <a:lnSpc>
                <a:spcPct val="133000"/>
              </a:lnSpc>
              <a:buNone/>
            </a:pPr>
            <a:r>
              <a:rPr sz="900" spc="-18">
                <a:solidFill>
                  <a:srgbClr val="005CC5"/>
                </a:solidFill>
                <a:latin typeface="Consolas"/>
                <a:ea typeface="Consolas"/>
                <a:cs typeface="Consolas"/>
              </a:rPr>
              <a:t>$url = new moodle_url(</a:t>
            </a:r>
            <a:endParaRPr sz="900"/>
          </a:p>
          <a:p>
            <a:pPr marL="0" indent="0" algn="l">
              <a:lnSpc>
                <a:spcPct val="133000"/>
              </a:lnSpc>
              <a:buNone/>
            </a:pPr>
            <a:r>
              <a:rPr sz="900" spc="-18">
                <a:solidFill>
                  <a:srgbClr val="005CC5"/>
                </a:solidFill>
                <a:latin typeface="Consolas"/>
                <a:ea typeface="Consolas"/>
                <a:cs typeface="Consolas"/>
              </a:rPr>
              <a:t>    '/course/view.php',</a:t>
            </a:r>
            <a:endParaRPr sz="900"/>
          </a:p>
          <a:p>
            <a:pPr marL="0" indent="0" algn="l">
              <a:lnSpc>
                <a:spcPct val="133000"/>
              </a:lnSpc>
              <a:buNone/>
            </a:pPr>
            <a:r>
              <a:rPr sz="900" spc="-18">
                <a:solidFill>
                  <a:srgbClr val="005CC5"/>
                </a:solidFill>
                <a:latin typeface="Consolas"/>
                <a:ea typeface="Consolas"/>
                <a:cs typeface="Consolas"/>
              </a:rPr>
              <a:t>    ['id' =&gt; 25]</a:t>
            </a:r>
            <a:endParaRPr sz="900"/>
          </a:p>
          <a:p>
            <a:pPr marL="0" indent="0" algn="l">
              <a:lnSpc>
                <a:spcPct val="133000"/>
              </a:lnSpc>
              <a:buNone/>
            </a:pPr>
            <a:r>
              <a:rPr sz="900" spc="-18">
                <a:solidFill>
                  <a:srgbClr val="005CC5"/>
                </a:solidFill>
                <a:latin typeface="Consolas"/>
                <a:ea typeface="Consolas"/>
                <a:cs typeface="Consolas"/>
              </a:rPr>
              <a:t>);</a:t>
            </a:r>
            <a:endParaRPr sz="900"/>
          </a:p>
          <a:p>
            <a:pPr marL="0" indent="0" algn="l">
              <a:lnSpc>
                <a:spcPct val="133000"/>
              </a:lnSpc>
              <a:buNone/>
            </a:pPr>
            <a:endParaRPr sz="900"/>
          </a:p>
          <a:p>
            <a:pPr marL="0" indent="0" algn="l">
              <a:lnSpc>
                <a:spcPct val="133000"/>
              </a:lnSpc>
              <a:buNone/>
            </a:pPr>
            <a:r>
              <a:rPr sz="900" spc="-18">
                <a:solidFill>
                  <a:srgbClr val="005CC5"/>
                </a:solidFill>
                <a:latin typeface="Consolas"/>
                <a:ea typeface="Consolas"/>
                <a:cs typeface="Consolas"/>
              </a:rPr>
              <a:t>echo html_writer::link($url, 'Open course');</a:t>
            </a:r>
            <a:endParaRPr sz="900"/>
          </a:p>
        </p:txBody>
      </p:sp>
      <p:sp>
        <p:nvSpPr>
          <p:cNvPr id="10" name="Text 8">
            <a:extLst>
              <a:ext uri="{FF2B5EF4-FFF2-40B4-BE49-F238E27FC236}">
                <a16:creationId xmlns:a16="http://schemas.microsoft.com/office/drawing/2014/main" id="{6122F33B-D32F-4736-A2B3-F40BE83B99DE}"/>
              </a:ext>
            </a:extLst>
          </p:cNvPr>
          <p:cNvSpPr>
            <a:spLocks noGrp="1"/>
          </p:cNvSpPr>
          <p:nvPr/>
        </p:nvSpPr>
        <p:spPr>
          <a:xfrm>
            <a:off x="661475" y="3595390"/>
            <a:ext cx="5070844" cy="179884"/>
          </a:xfrm>
          <a:prstGeom prst="rect">
            <a:avLst/>
          </a:prstGeom>
          <a:noFill/>
        </p:spPr>
        <p:txBody>
          <a:bodyPr wrap="none" lIns="0" tIns="0" rIns="0" bIns="0" anchor="t"/>
          <a:lstStyle/>
          <a:p>
            <a:pPr marL="0" indent="0" algn="l">
              <a:lnSpc>
                <a:spcPct val="104000"/>
              </a:lnSpc>
              <a:buNone/>
            </a:pPr>
            <a:r>
              <a:rPr sz="1100" b="1" spc="-34">
                <a:solidFill>
                  <a:srgbClr val="000000"/>
                </a:solidFill>
                <a:latin typeface="Inter Bold"/>
                <a:ea typeface="Inter Bold"/>
                <a:cs typeface="Inter Bold"/>
              </a:rPr>
              <a:t>Result</a:t>
            </a:r>
            <a:endParaRPr sz="1100"/>
          </a:p>
        </p:txBody>
      </p:sp>
      <p:sp>
        <p:nvSpPr>
          <p:cNvPr id="11" name="Text 9">
            <a:extLst>
              <a:ext uri="{FF2B5EF4-FFF2-40B4-BE49-F238E27FC236}">
                <a16:creationId xmlns:a16="http://schemas.microsoft.com/office/drawing/2014/main" id="{34E95C66-3DE0-45DE-B38D-237C2C148623}"/>
              </a:ext>
            </a:extLst>
          </p:cNvPr>
          <p:cNvSpPr>
            <a:spLocks noGrp="1"/>
          </p:cNvSpPr>
          <p:nvPr/>
        </p:nvSpPr>
        <p:spPr>
          <a:xfrm>
            <a:off x="661475" y="3845421"/>
            <a:ext cx="5680429" cy="148233"/>
          </a:xfrm>
          <a:prstGeom prst="rect">
            <a:avLst/>
          </a:prstGeom>
          <a:noFill/>
        </p:spPr>
        <p:txBody>
          <a:bodyPr wrap="none" lIns="0" tIns="0" rIns="0" bIns="0" anchor="t"/>
          <a:lstStyle/>
          <a:p>
            <a:pPr marL="0" indent="0" algn="l">
              <a:lnSpc>
                <a:spcPct val="107000"/>
              </a:lnSpc>
              <a:buNone/>
            </a:pPr>
            <a:r>
              <a:rPr sz="900" b="1" spc="-18">
                <a:solidFill>
                  <a:srgbClr val="272525"/>
                </a:solidFill>
                <a:latin typeface="Inter Bold"/>
                <a:ea typeface="Inter Bold"/>
                <a:cs typeface="Inter Bold"/>
              </a:rPr>
              <a:t>Open course</a:t>
            </a:r>
            <a:r>
              <a:rPr sz="900" spc="-18">
                <a:solidFill>
                  <a:srgbClr val="272525"/>
                </a:solidFill>
                <a:latin typeface="Inter"/>
                <a:ea typeface="Inter"/>
                <a:cs typeface="Inter"/>
              </a:rPr>
              <a:t> → Moodle builds the correct address automatically.</a:t>
            </a:r>
            <a:endParaRPr sz="900"/>
          </a:p>
        </p:txBody>
      </p:sp>
      <p:sp>
        <p:nvSpPr>
          <p:cNvPr id="12" name="Text 10">
            <a:extLst>
              <a:ext uri="{FF2B5EF4-FFF2-40B4-BE49-F238E27FC236}">
                <a16:creationId xmlns:a16="http://schemas.microsoft.com/office/drawing/2014/main" id="{16AB1A01-A970-4127-AB0F-094A68371DE1}"/>
              </a:ext>
            </a:extLst>
          </p:cNvPr>
          <p:cNvSpPr>
            <a:spLocks noGrp="1"/>
          </p:cNvSpPr>
          <p:nvPr/>
        </p:nvSpPr>
        <p:spPr>
          <a:xfrm>
            <a:off x="6019649" y="1305421"/>
            <a:ext cx="5516821" cy="179884"/>
          </a:xfrm>
          <a:prstGeom prst="rect">
            <a:avLst/>
          </a:prstGeom>
          <a:noFill/>
        </p:spPr>
        <p:txBody>
          <a:bodyPr wrap="none" lIns="0" tIns="0" rIns="0" bIns="0" anchor="t"/>
          <a:lstStyle/>
          <a:p>
            <a:pPr marL="0" indent="0" algn="l">
              <a:lnSpc>
                <a:spcPct val="104000"/>
              </a:lnSpc>
              <a:buNone/>
            </a:pPr>
            <a:r>
              <a:rPr sz="1100" b="1" spc="-34">
                <a:solidFill>
                  <a:srgbClr val="000000"/>
                </a:solidFill>
                <a:latin typeface="Inter Bold"/>
                <a:ea typeface="Inter Bold"/>
                <a:cs typeface="Inter Bold"/>
              </a:rPr>
              <a:t>What Each Part Means</a:t>
            </a:r>
            <a:endParaRPr sz="1100"/>
          </a:p>
        </p:txBody>
      </p:sp>
      <p:sp>
        <p:nvSpPr>
          <p:cNvPr id="13" name="Shape 11">
            <a:extLst>
              <a:ext uri="{FF2B5EF4-FFF2-40B4-BE49-F238E27FC236}">
                <a16:creationId xmlns:a16="http://schemas.microsoft.com/office/drawing/2014/main" id="{B37CD5A5-F7CC-4A17-8A0F-88D3D4AC1B7C}"/>
              </a:ext>
            </a:extLst>
          </p:cNvPr>
          <p:cNvSpPr>
            <a:spLocks noGrp="1"/>
          </p:cNvSpPr>
          <p:nvPr/>
        </p:nvSpPr>
        <p:spPr>
          <a:xfrm>
            <a:off x="6019649" y="1564184"/>
            <a:ext cx="259153" cy="259159"/>
          </a:xfrm>
          <a:prstGeom prst="roundRect">
            <a:avLst>
              <a:gd name="adj" fmla="val 18667"/>
            </a:avLst>
          </a:prstGeom>
          <a:solidFill>
            <a:srgbClr val="DADBF1"/>
          </a:solidFill>
          <a:ln w="6350">
            <a:solidFill>
              <a:srgbClr val="C0C1D7"/>
            </a:solidFill>
            <a:prstDash val="solid"/>
          </a:ln>
        </p:spPr>
        <p:txBody>
          <a:bodyPr/>
          <a:lstStyle/>
          <a:p>
            <a:endParaRPr/>
          </a:p>
        </p:txBody>
      </p:sp>
      <p:sp>
        <p:nvSpPr>
          <p:cNvPr id="14" name="Text 12">
            <a:extLst>
              <a:ext uri="{FF2B5EF4-FFF2-40B4-BE49-F238E27FC236}">
                <a16:creationId xmlns:a16="http://schemas.microsoft.com/office/drawing/2014/main" id="{5DEBF1B7-89D8-41FA-A349-D2130BDB30BD}"/>
              </a:ext>
            </a:extLst>
          </p:cNvPr>
          <p:cNvSpPr>
            <a:spLocks noGrp="1"/>
          </p:cNvSpPr>
          <p:nvPr/>
        </p:nvSpPr>
        <p:spPr>
          <a:xfrm>
            <a:off x="6062858" y="1585813"/>
            <a:ext cx="172736" cy="215900"/>
          </a:xfrm>
          <a:prstGeom prst="rect">
            <a:avLst/>
          </a:prstGeom>
          <a:noFill/>
        </p:spPr>
        <p:txBody>
          <a:bodyPr wrap="none" lIns="0" tIns="0" rIns="0" bIns="0" anchor="ctr"/>
          <a:lstStyle/>
          <a:p>
            <a:pPr marL="0" indent="0" algn="ctr">
              <a:lnSpc>
                <a:spcPct val="100000"/>
              </a:lnSpc>
              <a:buNone/>
            </a:pPr>
            <a:r>
              <a:rPr sz="1350" b="1" spc="-41">
                <a:solidFill>
                  <a:srgbClr val="272525"/>
                </a:solidFill>
                <a:latin typeface="Inter Bold"/>
                <a:ea typeface="Inter Bold"/>
                <a:cs typeface="Inter Bold"/>
              </a:rPr>
              <a:t>1</a:t>
            </a:r>
            <a:endParaRPr sz="1350"/>
          </a:p>
        </p:txBody>
      </p:sp>
      <p:sp>
        <p:nvSpPr>
          <p:cNvPr id="15" name="Text 13">
            <a:extLst>
              <a:ext uri="{FF2B5EF4-FFF2-40B4-BE49-F238E27FC236}">
                <a16:creationId xmlns:a16="http://schemas.microsoft.com/office/drawing/2014/main" id="{9B065AE6-BD7C-4521-A5E3-F66C6A179E84}"/>
              </a:ext>
            </a:extLst>
          </p:cNvPr>
          <p:cNvSpPr>
            <a:spLocks noGrp="1"/>
          </p:cNvSpPr>
          <p:nvPr/>
        </p:nvSpPr>
        <p:spPr>
          <a:xfrm>
            <a:off x="6348948" y="1603772"/>
            <a:ext cx="5187523" cy="179884"/>
          </a:xfrm>
          <a:prstGeom prst="rect">
            <a:avLst/>
          </a:prstGeom>
          <a:noFill/>
        </p:spPr>
        <p:txBody>
          <a:bodyPr wrap="none" lIns="0" tIns="0" rIns="0" bIns="0" anchor="t"/>
          <a:lstStyle/>
          <a:p>
            <a:pPr marL="0" indent="0" algn="l">
              <a:lnSpc>
                <a:spcPct val="104000"/>
              </a:lnSpc>
              <a:buNone/>
            </a:pPr>
            <a:r>
              <a:rPr sz="1100" b="1" spc="-34">
                <a:solidFill>
                  <a:srgbClr val="272525"/>
                </a:solidFill>
                <a:highlight>
                  <a:srgbClr val="F2F2F2"/>
                </a:highlight>
                <a:latin typeface="Consolas"/>
                <a:ea typeface="Consolas"/>
                <a:cs typeface="Consolas"/>
              </a:rPr>
              <a:t>'/course/view.php'</a:t>
            </a:r>
            <a:endParaRPr sz="1100"/>
          </a:p>
        </p:txBody>
      </p:sp>
      <p:sp>
        <p:nvSpPr>
          <p:cNvPr id="16" name="Text 14">
            <a:extLst>
              <a:ext uri="{FF2B5EF4-FFF2-40B4-BE49-F238E27FC236}">
                <a16:creationId xmlns:a16="http://schemas.microsoft.com/office/drawing/2014/main" id="{318EE755-9DF2-4FDD-AB42-C49B51D8A2C5}"/>
              </a:ext>
            </a:extLst>
          </p:cNvPr>
          <p:cNvSpPr>
            <a:spLocks noGrp="1"/>
          </p:cNvSpPr>
          <p:nvPr/>
        </p:nvSpPr>
        <p:spPr>
          <a:xfrm>
            <a:off x="6348948" y="1853803"/>
            <a:ext cx="5187523" cy="148233"/>
          </a:xfrm>
          <a:prstGeom prst="rect">
            <a:avLst/>
          </a:prstGeom>
          <a:noFill/>
        </p:spPr>
        <p:txBody>
          <a:bodyPr wrap="none" lIns="0" tIns="0" rIns="0" bIns="0" anchor="t"/>
          <a:lstStyle/>
          <a:p>
            <a:pPr marL="0" indent="0" algn="l">
              <a:lnSpc>
                <a:spcPct val="107000"/>
              </a:lnSpc>
              <a:buNone/>
            </a:pPr>
            <a:r>
              <a:rPr sz="900" spc="-18">
                <a:solidFill>
                  <a:srgbClr val="272525"/>
                </a:solidFill>
                <a:latin typeface="Inter"/>
                <a:ea typeface="Inter"/>
                <a:cs typeface="Inter"/>
              </a:rPr>
              <a:t>The page to open , the internal Moodle path</a:t>
            </a:r>
            <a:endParaRPr sz="900"/>
          </a:p>
        </p:txBody>
      </p:sp>
      <p:sp>
        <p:nvSpPr>
          <p:cNvPr id="17" name="Shape 15">
            <a:extLst>
              <a:ext uri="{FF2B5EF4-FFF2-40B4-BE49-F238E27FC236}">
                <a16:creationId xmlns:a16="http://schemas.microsoft.com/office/drawing/2014/main" id="{59567FFF-2271-4569-B571-7AD708BD6B4A}"/>
              </a:ext>
            </a:extLst>
          </p:cNvPr>
          <p:cNvSpPr>
            <a:spLocks noGrp="1"/>
          </p:cNvSpPr>
          <p:nvPr/>
        </p:nvSpPr>
        <p:spPr>
          <a:xfrm>
            <a:off x="6019649" y="2142331"/>
            <a:ext cx="259153" cy="259159"/>
          </a:xfrm>
          <a:prstGeom prst="roundRect">
            <a:avLst>
              <a:gd name="adj" fmla="val 18667"/>
            </a:avLst>
          </a:prstGeom>
          <a:solidFill>
            <a:srgbClr val="DADBF1"/>
          </a:solidFill>
          <a:ln w="6350">
            <a:solidFill>
              <a:srgbClr val="C0C1D7"/>
            </a:solidFill>
            <a:prstDash val="solid"/>
          </a:ln>
        </p:spPr>
        <p:txBody>
          <a:bodyPr/>
          <a:lstStyle/>
          <a:p>
            <a:endParaRPr/>
          </a:p>
        </p:txBody>
      </p:sp>
      <p:sp>
        <p:nvSpPr>
          <p:cNvPr id="18" name="Text 16">
            <a:extLst>
              <a:ext uri="{FF2B5EF4-FFF2-40B4-BE49-F238E27FC236}">
                <a16:creationId xmlns:a16="http://schemas.microsoft.com/office/drawing/2014/main" id="{5526449C-39D3-42B7-AB33-E756A5B186DA}"/>
              </a:ext>
            </a:extLst>
          </p:cNvPr>
          <p:cNvSpPr>
            <a:spLocks noGrp="1"/>
          </p:cNvSpPr>
          <p:nvPr/>
        </p:nvSpPr>
        <p:spPr>
          <a:xfrm>
            <a:off x="6062858" y="2163961"/>
            <a:ext cx="172736" cy="215900"/>
          </a:xfrm>
          <a:prstGeom prst="rect">
            <a:avLst/>
          </a:prstGeom>
          <a:noFill/>
        </p:spPr>
        <p:txBody>
          <a:bodyPr wrap="none" lIns="0" tIns="0" rIns="0" bIns="0" anchor="ctr"/>
          <a:lstStyle/>
          <a:p>
            <a:pPr marL="0" indent="0" algn="ctr">
              <a:lnSpc>
                <a:spcPct val="100000"/>
              </a:lnSpc>
              <a:buNone/>
            </a:pPr>
            <a:r>
              <a:rPr sz="1350" b="1" spc="-41">
                <a:solidFill>
                  <a:srgbClr val="272525"/>
                </a:solidFill>
                <a:latin typeface="Inter Bold"/>
                <a:ea typeface="Inter Bold"/>
                <a:cs typeface="Inter Bold"/>
              </a:rPr>
              <a:t>2</a:t>
            </a:r>
            <a:endParaRPr sz="1350"/>
          </a:p>
        </p:txBody>
      </p:sp>
      <p:sp>
        <p:nvSpPr>
          <p:cNvPr id="19" name="Text 17">
            <a:extLst>
              <a:ext uri="{FF2B5EF4-FFF2-40B4-BE49-F238E27FC236}">
                <a16:creationId xmlns:a16="http://schemas.microsoft.com/office/drawing/2014/main" id="{8E3193D6-0344-4C92-8A41-F9F06124B2AD}"/>
              </a:ext>
            </a:extLst>
          </p:cNvPr>
          <p:cNvSpPr>
            <a:spLocks noGrp="1"/>
          </p:cNvSpPr>
          <p:nvPr/>
        </p:nvSpPr>
        <p:spPr>
          <a:xfrm>
            <a:off x="6348948" y="2181920"/>
            <a:ext cx="5187523" cy="179884"/>
          </a:xfrm>
          <a:prstGeom prst="rect">
            <a:avLst/>
          </a:prstGeom>
          <a:noFill/>
        </p:spPr>
        <p:txBody>
          <a:bodyPr wrap="none" lIns="0" tIns="0" rIns="0" bIns="0" anchor="t"/>
          <a:lstStyle/>
          <a:p>
            <a:pPr marL="0" indent="0" algn="l">
              <a:lnSpc>
                <a:spcPct val="104000"/>
              </a:lnSpc>
              <a:buNone/>
            </a:pPr>
            <a:r>
              <a:rPr sz="1100" b="1" spc="-34">
                <a:solidFill>
                  <a:srgbClr val="272525"/>
                </a:solidFill>
                <a:highlight>
                  <a:srgbClr val="F2F2F2"/>
                </a:highlight>
                <a:latin typeface="Consolas"/>
                <a:ea typeface="Consolas"/>
                <a:cs typeface="Consolas"/>
              </a:rPr>
              <a:t>['id' =&gt; 25]</a:t>
            </a:r>
            <a:endParaRPr sz="1100"/>
          </a:p>
        </p:txBody>
      </p:sp>
      <p:sp>
        <p:nvSpPr>
          <p:cNvPr id="20" name="Text 18">
            <a:extLst>
              <a:ext uri="{FF2B5EF4-FFF2-40B4-BE49-F238E27FC236}">
                <a16:creationId xmlns:a16="http://schemas.microsoft.com/office/drawing/2014/main" id="{99491F43-E4F6-4B13-AC9B-B244B2EA8BAB}"/>
              </a:ext>
            </a:extLst>
          </p:cNvPr>
          <p:cNvSpPr>
            <a:spLocks noGrp="1"/>
          </p:cNvSpPr>
          <p:nvPr/>
        </p:nvSpPr>
        <p:spPr>
          <a:xfrm>
            <a:off x="6348948" y="2431951"/>
            <a:ext cx="5187523" cy="148233"/>
          </a:xfrm>
          <a:prstGeom prst="rect">
            <a:avLst/>
          </a:prstGeom>
          <a:noFill/>
        </p:spPr>
        <p:txBody>
          <a:bodyPr wrap="none" lIns="0" tIns="0" rIns="0" bIns="0" anchor="t"/>
          <a:lstStyle/>
          <a:p>
            <a:pPr marL="0" indent="0" algn="l">
              <a:lnSpc>
                <a:spcPct val="107000"/>
              </a:lnSpc>
              <a:buNone/>
            </a:pPr>
            <a:r>
              <a:rPr sz="900" spc="-18">
                <a:solidFill>
                  <a:srgbClr val="272525"/>
                </a:solidFill>
                <a:latin typeface="Inter"/>
                <a:ea typeface="Inter"/>
                <a:cs typeface="Inter"/>
              </a:rPr>
              <a:t>Information sent to that page , a key-and-value pair (25 is an invented example)</a:t>
            </a:r>
            <a:endParaRPr sz="900"/>
          </a:p>
        </p:txBody>
      </p:sp>
      <p:sp>
        <p:nvSpPr>
          <p:cNvPr id="21" name="Shape 19">
            <a:extLst>
              <a:ext uri="{FF2B5EF4-FFF2-40B4-BE49-F238E27FC236}">
                <a16:creationId xmlns:a16="http://schemas.microsoft.com/office/drawing/2014/main" id="{426511AC-0D07-4A79-A1F3-52E4D5332681}"/>
              </a:ext>
            </a:extLst>
          </p:cNvPr>
          <p:cNvSpPr>
            <a:spLocks noGrp="1"/>
          </p:cNvSpPr>
          <p:nvPr/>
        </p:nvSpPr>
        <p:spPr>
          <a:xfrm>
            <a:off x="6019649" y="2720479"/>
            <a:ext cx="259153" cy="259159"/>
          </a:xfrm>
          <a:prstGeom prst="roundRect">
            <a:avLst>
              <a:gd name="adj" fmla="val 18667"/>
            </a:avLst>
          </a:prstGeom>
          <a:solidFill>
            <a:srgbClr val="DADBF1"/>
          </a:solidFill>
          <a:ln w="6350">
            <a:solidFill>
              <a:srgbClr val="C0C1D7"/>
            </a:solidFill>
            <a:prstDash val="solid"/>
          </a:ln>
        </p:spPr>
        <p:txBody>
          <a:bodyPr/>
          <a:lstStyle/>
          <a:p>
            <a:endParaRPr/>
          </a:p>
        </p:txBody>
      </p:sp>
      <p:sp>
        <p:nvSpPr>
          <p:cNvPr id="22" name="Text 20">
            <a:extLst>
              <a:ext uri="{FF2B5EF4-FFF2-40B4-BE49-F238E27FC236}">
                <a16:creationId xmlns:a16="http://schemas.microsoft.com/office/drawing/2014/main" id="{B1A4D6BE-D716-42BA-B21E-FA65CA9D77A5}"/>
              </a:ext>
            </a:extLst>
          </p:cNvPr>
          <p:cNvSpPr>
            <a:spLocks noGrp="1"/>
          </p:cNvSpPr>
          <p:nvPr/>
        </p:nvSpPr>
        <p:spPr>
          <a:xfrm>
            <a:off x="6062858" y="2742109"/>
            <a:ext cx="172736" cy="215900"/>
          </a:xfrm>
          <a:prstGeom prst="rect">
            <a:avLst/>
          </a:prstGeom>
          <a:noFill/>
        </p:spPr>
        <p:txBody>
          <a:bodyPr wrap="none" lIns="0" tIns="0" rIns="0" bIns="0" anchor="ctr"/>
          <a:lstStyle/>
          <a:p>
            <a:pPr marL="0" indent="0" algn="ctr">
              <a:lnSpc>
                <a:spcPct val="100000"/>
              </a:lnSpc>
              <a:buNone/>
            </a:pPr>
            <a:r>
              <a:rPr sz="1350" b="1" spc="-41">
                <a:solidFill>
                  <a:srgbClr val="272525"/>
                </a:solidFill>
                <a:latin typeface="Inter Bold"/>
                <a:ea typeface="Inter Bold"/>
                <a:cs typeface="Inter Bold"/>
              </a:rPr>
              <a:t>3</a:t>
            </a:r>
            <a:endParaRPr sz="1350"/>
          </a:p>
        </p:txBody>
      </p:sp>
      <p:sp>
        <p:nvSpPr>
          <p:cNvPr id="23" name="Text 21">
            <a:extLst>
              <a:ext uri="{FF2B5EF4-FFF2-40B4-BE49-F238E27FC236}">
                <a16:creationId xmlns:a16="http://schemas.microsoft.com/office/drawing/2014/main" id="{0548C70D-E137-4A05-90A9-8730F81E0E73}"/>
              </a:ext>
            </a:extLst>
          </p:cNvPr>
          <p:cNvSpPr>
            <a:spLocks noGrp="1"/>
          </p:cNvSpPr>
          <p:nvPr/>
        </p:nvSpPr>
        <p:spPr>
          <a:xfrm>
            <a:off x="6348948" y="2760067"/>
            <a:ext cx="5187523" cy="179884"/>
          </a:xfrm>
          <a:prstGeom prst="rect">
            <a:avLst/>
          </a:prstGeom>
          <a:noFill/>
        </p:spPr>
        <p:txBody>
          <a:bodyPr wrap="none" lIns="0" tIns="0" rIns="0" bIns="0" anchor="t"/>
          <a:lstStyle/>
          <a:p>
            <a:pPr marL="0" indent="0" algn="l">
              <a:lnSpc>
                <a:spcPct val="104000"/>
              </a:lnSpc>
              <a:buNone/>
            </a:pPr>
            <a:r>
              <a:rPr sz="1100" b="1" spc="-34">
                <a:solidFill>
                  <a:srgbClr val="272525"/>
                </a:solidFill>
                <a:highlight>
                  <a:srgbClr val="F2F2F2"/>
                </a:highlight>
                <a:latin typeface="Consolas"/>
                <a:ea typeface="Consolas"/>
                <a:cs typeface="Consolas"/>
              </a:rPr>
              <a:t>'Open course'</a:t>
            </a:r>
            <a:endParaRPr sz="1100"/>
          </a:p>
        </p:txBody>
      </p:sp>
      <p:sp>
        <p:nvSpPr>
          <p:cNvPr id="24" name="Text 22">
            <a:extLst>
              <a:ext uri="{FF2B5EF4-FFF2-40B4-BE49-F238E27FC236}">
                <a16:creationId xmlns:a16="http://schemas.microsoft.com/office/drawing/2014/main" id="{F6D264BA-82F0-48FC-BFA1-190B3CB01286}"/>
              </a:ext>
            </a:extLst>
          </p:cNvPr>
          <p:cNvSpPr>
            <a:spLocks noGrp="1"/>
          </p:cNvSpPr>
          <p:nvPr/>
        </p:nvSpPr>
        <p:spPr>
          <a:xfrm>
            <a:off x="6348948" y="3010098"/>
            <a:ext cx="5187523" cy="148233"/>
          </a:xfrm>
          <a:prstGeom prst="rect">
            <a:avLst/>
          </a:prstGeom>
          <a:noFill/>
        </p:spPr>
        <p:txBody>
          <a:bodyPr wrap="none" lIns="0" tIns="0" rIns="0" bIns="0" anchor="t"/>
          <a:lstStyle/>
          <a:p>
            <a:pPr marL="0" indent="0" algn="l">
              <a:lnSpc>
                <a:spcPct val="107000"/>
              </a:lnSpc>
              <a:buNone/>
            </a:pPr>
            <a:r>
              <a:rPr sz="900" spc="-18">
                <a:solidFill>
                  <a:srgbClr val="272525"/>
                </a:solidFill>
                <a:latin typeface="Inter"/>
                <a:ea typeface="Inter"/>
                <a:cs typeface="Inter"/>
              </a:rPr>
              <a:t>The words the user clicks, the visible link text</a:t>
            </a:r>
            <a:endParaRPr sz="900"/>
          </a:p>
        </p:txBody>
      </p:sp>
      <p:sp>
        <p:nvSpPr>
          <p:cNvPr id="25" name="Shape 23">
            <a:extLst>
              <a:ext uri="{FF2B5EF4-FFF2-40B4-BE49-F238E27FC236}">
                <a16:creationId xmlns:a16="http://schemas.microsoft.com/office/drawing/2014/main" id="{60DCBE5A-8A5E-4390-8818-2D23731CEC78}"/>
              </a:ext>
            </a:extLst>
          </p:cNvPr>
          <p:cNvSpPr>
            <a:spLocks noGrp="1"/>
          </p:cNvSpPr>
          <p:nvPr/>
        </p:nvSpPr>
        <p:spPr>
          <a:xfrm>
            <a:off x="661475" y="4135636"/>
            <a:ext cx="10868745" cy="339030"/>
          </a:xfrm>
          <a:prstGeom prst="roundRect">
            <a:avLst>
              <a:gd name="adj" fmla="val 14269"/>
            </a:avLst>
          </a:prstGeom>
          <a:solidFill>
            <a:srgbClr val="DADBF1"/>
          </a:solidFill>
        </p:spPr>
        <p:txBody>
          <a:bodyPr/>
          <a:lstStyle/>
          <a:p>
            <a:endParaRPr/>
          </a:p>
        </p:txBody>
      </p:sp>
      <p:pic>
        <p:nvPicPr>
          <p:cNvPr id="51" name="Image 0"/>
          <p:cNvPicPr>
            <a:picLocks noChangeAspect="1"/>
          </p:cNvPicPr>
          <p:nvPr/>
        </p:nvPicPr>
        <p:blipFill>
          <a:blip r:embed="rId3"/>
          <a:stretch>
            <a:fillRect/>
          </a:stretch>
        </p:blipFill>
        <p:spPr>
          <a:xfrm>
            <a:off x="776566" y="4235450"/>
            <a:ext cx="143963" cy="115094"/>
          </a:xfrm>
          <a:prstGeom prst="rect">
            <a:avLst/>
          </a:prstGeom>
        </p:spPr>
      </p:pic>
      <p:sp>
        <p:nvSpPr>
          <p:cNvPr id="27" name="Text 24">
            <a:extLst>
              <a:ext uri="{FF2B5EF4-FFF2-40B4-BE49-F238E27FC236}">
                <a16:creationId xmlns:a16="http://schemas.microsoft.com/office/drawing/2014/main" id="{EECA81A6-F4F3-48A9-BE37-8652E031A5DC}"/>
              </a:ext>
            </a:extLst>
          </p:cNvPr>
          <p:cNvSpPr>
            <a:spLocks noGrp="1"/>
          </p:cNvSpPr>
          <p:nvPr/>
        </p:nvSpPr>
        <p:spPr>
          <a:xfrm>
            <a:off x="1035619" y="4234557"/>
            <a:ext cx="10989095" cy="148233"/>
          </a:xfrm>
          <a:prstGeom prst="rect">
            <a:avLst/>
          </a:prstGeom>
          <a:noFill/>
        </p:spPr>
        <p:txBody>
          <a:bodyPr wrap="none" lIns="0" tIns="0" rIns="0" bIns="0" anchor="t"/>
          <a:lstStyle/>
          <a:p>
            <a:pPr marL="0" indent="0" algn="l">
              <a:lnSpc>
                <a:spcPct val="107000"/>
              </a:lnSpc>
              <a:buNone/>
            </a:pPr>
            <a:r>
              <a:rPr sz="900" spc="-18">
                <a:solidFill>
                  <a:srgbClr val="000000"/>
                </a:solidFill>
                <a:highlight>
                  <a:srgbClr val="F2F2F2"/>
                </a:highlight>
                <a:latin typeface="Consolas"/>
                <a:ea typeface="Consolas"/>
                <a:cs typeface="Consolas"/>
              </a:rPr>
              <a:t>moodle_url</a:t>
            </a:r>
            <a:r>
              <a:rPr sz="900" spc="-18">
                <a:solidFill>
                  <a:srgbClr val="000000"/>
                </a:solidFill>
                <a:latin typeface="Inter"/>
                <a:ea typeface="Inter"/>
                <a:cs typeface="Inter"/>
              </a:rPr>
              <a:t> builds the address; </a:t>
            </a:r>
            <a:r>
              <a:rPr sz="900" spc="-18">
                <a:solidFill>
                  <a:srgbClr val="000000"/>
                </a:solidFill>
                <a:highlight>
                  <a:srgbClr val="F2F2F2"/>
                </a:highlight>
                <a:latin typeface="Consolas"/>
                <a:ea typeface="Consolas"/>
                <a:cs typeface="Consolas"/>
              </a:rPr>
              <a:t>html_writer::link</a:t>
            </a:r>
            <a:r>
              <a:rPr sz="900" spc="-18">
                <a:solidFill>
                  <a:srgbClr val="000000"/>
                </a:solidFill>
                <a:latin typeface="Inter"/>
                <a:ea typeface="Inter"/>
                <a:cs typeface="Inter"/>
              </a:rPr>
              <a:t> makes it clickable.</a:t>
            </a:r>
            <a:endParaRPr sz="900"/>
          </a:p>
        </p:txBody>
      </p:sp>
    </p:spTree>
    <p:extLst>
      <p:ext uri="{BB962C8B-B14F-4D97-AF65-F5344CB8AC3E}">
        <p14:creationId xmlns:p14="http://schemas.microsoft.com/office/powerpoint/2010/main" val="851810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85CDC59B-689D-4C83-9784-B52C50A31CC5}"/>
              </a:ext>
            </a:extLst>
          </p:cNvPr>
          <p:cNvSpPr>
            <a:spLocks noGrp="1"/>
          </p:cNvSpPr>
          <p:nvPr/>
        </p:nvSpPr>
        <p:spPr>
          <a:xfrm>
            <a:off x="714456" y="630238"/>
            <a:ext cx="854450" cy="81161"/>
          </a:xfrm>
          <a:prstGeom prst="rect">
            <a:avLst/>
          </a:prstGeom>
          <a:noFill/>
        </p:spPr>
        <p:txBody>
          <a:bodyPr wrap="none" lIns="0" tIns="0" rIns="0" bIns="0" anchor="t"/>
          <a:lstStyle/>
          <a:p>
            <a:pPr marL="0" indent="0" algn="l">
              <a:lnSpc>
                <a:spcPct val="96000"/>
              </a:lnSpc>
              <a:buNone/>
            </a:pPr>
            <a:endParaRPr sz="550"/>
          </a:p>
        </p:txBody>
      </p:sp>
      <p:sp>
        <p:nvSpPr>
          <p:cNvPr id="4" name="Text 2">
            <a:extLst>
              <a:ext uri="{FF2B5EF4-FFF2-40B4-BE49-F238E27FC236}">
                <a16:creationId xmlns:a16="http://schemas.microsoft.com/office/drawing/2014/main" id="{FE160BE1-F0CF-449B-AB36-B01601EECC16}"/>
              </a:ext>
            </a:extLst>
          </p:cNvPr>
          <p:cNvSpPr>
            <a:spLocks noGrp="1"/>
          </p:cNvSpPr>
          <p:nvPr/>
        </p:nvSpPr>
        <p:spPr>
          <a:xfrm>
            <a:off x="661475" y="754360"/>
            <a:ext cx="10868745" cy="275927"/>
          </a:xfrm>
          <a:prstGeom prst="rect">
            <a:avLst/>
          </a:prstGeom>
          <a:noFill/>
        </p:spPr>
        <p:txBody>
          <a:bodyPr wrap="none" lIns="0" tIns="0" rIns="0" bIns="0" anchor="t"/>
          <a:lstStyle/>
          <a:p>
            <a:pPr marL="0" indent="0" algn="l">
              <a:lnSpc>
                <a:spcPct val="104000"/>
              </a:lnSpc>
              <a:buNone/>
            </a:pPr>
            <a:r>
              <a:rPr sz="1700" b="1" spc="-52">
                <a:solidFill>
                  <a:srgbClr val="000000"/>
                </a:solidFill>
                <a:latin typeface="Inter Bold"/>
                <a:ea typeface="Inter Bold"/>
                <a:cs typeface="Inter Bold"/>
              </a:rPr>
              <a:t>Session Keys: Checking That an Action Is Genuine</a:t>
            </a:r>
            <a:endParaRPr sz="1700"/>
          </a:p>
        </p:txBody>
      </p:sp>
      <p:sp>
        <p:nvSpPr>
          <p:cNvPr id="5" name="Text 3">
            <a:extLst>
              <a:ext uri="{FF2B5EF4-FFF2-40B4-BE49-F238E27FC236}">
                <a16:creationId xmlns:a16="http://schemas.microsoft.com/office/drawing/2014/main" id="{AA0EA6BE-15D2-4793-AF04-BBD94637EF8E}"/>
              </a:ext>
            </a:extLst>
          </p:cNvPr>
          <p:cNvSpPr>
            <a:spLocks noGrp="1"/>
          </p:cNvSpPr>
          <p:nvPr/>
        </p:nvSpPr>
        <p:spPr>
          <a:xfrm>
            <a:off x="661475" y="1133277"/>
            <a:ext cx="5548372" cy="138013"/>
          </a:xfrm>
          <a:prstGeom prst="rect">
            <a:avLst/>
          </a:prstGeom>
          <a:noFill/>
        </p:spPr>
        <p:txBody>
          <a:bodyPr wrap="none" lIns="0" tIns="0" rIns="0" bIns="0" anchor="t"/>
          <a:lstStyle/>
          <a:p>
            <a:pPr marL="0" indent="0" algn="l">
              <a:lnSpc>
                <a:spcPct val="104000"/>
              </a:lnSpc>
              <a:buNone/>
            </a:pPr>
            <a:r>
              <a:rPr sz="850" b="1" spc="-26">
                <a:solidFill>
                  <a:srgbClr val="000000"/>
                </a:solidFill>
                <a:latin typeface="Inter Bold"/>
                <a:ea typeface="Inter Bold"/>
                <a:cs typeface="Inter Bold"/>
              </a:rPr>
              <a:t>The Problem</a:t>
            </a:r>
            <a:endParaRPr sz="850"/>
          </a:p>
        </p:txBody>
      </p:sp>
      <p:sp>
        <p:nvSpPr>
          <p:cNvPr id="6" name="Text 4">
            <a:extLst>
              <a:ext uri="{FF2B5EF4-FFF2-40B4-BE49-F238E27FC236}">
                <a16:creationId xmlns:a16="http://schemas.microsoft.com/office/drawing/2014/main" id="{FA2197CB-984D-4F9E-A32C-C1331C2038D1}"/>
              </a:ext>
            </a:extLst>
          </p:cNvPr>
          <p:cNvSpPr>
            <a:spLocks noGrp="1"/>
          </p:cNvSpPr>
          <p:nvPr/>
        </p:nvSpPr>
        <p:spPr>
          <a:xfrm>
            <a:off x="661475" y="1312466"/>
            <a:ext cx="5548372" cy="207169"/>
          </a:xfrm>
          <a:prstGeom prst="rect">
            <a:avLst/>
          </a:prstGeom>
          <a:noFill/>
        </p:spPr>
        <p:txBody>
          <a:bodyPr wrap="square" lIns="0" tIns="0" rIns="0" bIns="0" anchor="t">
            <a:normAutofit/>
          </a:bodyPr>
          <a:lstStyle/>
          <a:p>
            <a:pPr marL="0" indent="0" algn="l">
              <a:lnSpc>
                <a:spcPct val="98000"/>
              </a:lnSpc>
              <a:buNone/>
            </a:pPr>
            <a:r>
              <a:rPr sz="650" spc="-14">
                <a:solidFill>
                  <a:srgbClr val="272525"/>
                </a:solidFill>
                <a:latin typeface="Inter"/>
                <a:ea typeface="Inter"/>
                <a:cs typeface="Inter"/>
              </a:rPr>
              <a:t>A user is logged in. A harmful website tries to make their browser send an unwanted Moodle request. Because the user is already logged in, Moodle needs another way to check that the action came through the expected Moodle page.</a:t>
            </a:r>
            <a:endParaRPr sz="650"/>
          </a:p>
        </p:txBody>
      </p:sp>
      <p:sp>
        <p:nvSpPr>
          <p:cNvPr id="7" name="Text 5">
            <a:extLst>
              <a:ext uri="{FF2B5EF4-FFF2-40B4-BE49-F238E27FC236}">
                <a16:creationId xmlns:a16="http://schemas.microsoft.com/office/drawing/2014/main" id="{268C9023-6C7F-4BE4-A7C6-8C115B127BC7}"/>
              </a:ext>
            </a:extLst>
          </p:cNvPr>
          <p:cNvSpPr>
            <a:spLocks noGrp="1"/>
          </p:cNvSpPr>
          <p:nvPr/>
        </p:nvSpPr>
        <p:spPr>
          <a:xfrm>
            <a:off x="661475" y="1560810"/>
            <a:ext cx="5548372" cy="138013"/>
          </a:xfrm>
          <a:prstGeom prst="rect">
            <a:avLst/>
          </a:prstGeom>
          <a:noFill/>
        </p:spPr>
        <p:txBody>
          <a:bodyPr wrap="none" lIns="0" tIns="0" rIns="0" bIns="0" anchor="t"/>
          <a:lstStyle/>
          <a:p>
            <a:pPr marL="0" indent="0" algn="l">
              <a:lnSpc>
                <a:spcPct val="104000"/>
              </a:lnSpc>
              <a:buNone/>
            </a:pPr>
            <a:r>
              <a:rPr sz="850" b="1" spc="-26">
                <a:solidFill>
                  <a:srgbClr val="000000"/>
                </a:solidFill>
                <a:latin typeface="Inter Bold"/>
                <a:ea typeface="Inter Bold"/>
                <a:cs typeface="Inter Bold"/>
              </a:rPr>
              <a:t>Moodle's Protection</a:t>
            </a:r>
            <a:endParaRPr sz="850"/>
          </a:p>
        </p:txBody>
      </p:sp>
      <p:pic>
        <p:nvPicPr>
          <p:cNvPr id="48" name="Image 0"/>
          <p:cNvPicPr>
            <a:picLocks noChangeAspect="1"/>
          </p:cNvPicPr>
          <p:nvPr/>
        </p:nvPicPr>
        <p:blipFill>
          <a:blip r:embed="rId3"/>
          <a:stretch>
            <a:fillRect/>
          </a:stretch>
        </p:blipFill>
        <p:spPr>
          <a:xfrm>
            <a:off x="1632405" y="1745159"/>
            <a:ext cx="3606412" cy="1582043"/>
          </a:xfrm>
          <a:prstGeom prst="rect">
            <a:avLst/>
          </a:prstGeom>
        </p:spPr>
      </p:pic>
      <p:sp>
        <p:nvSpPr>
          <p:cNvPr id="9" name="Text 6">
            <a:extLst>
              <a:ext uri="{FF2B5EF4-FFF2-40B4-BE49-F238E27FC236}">
                <a16:creationId xmlns:a16="http://schemas.microsoft.com/office/drawing/2014/main" id="{8A06A4D9-91E7-4306-9BE3-01D84828132C}"/>
              </a:ext>
            </a:extLst>
          </p:cNvPr>
          <p:cNvSpPr>
            <a:spLocks noGrp="1"/>
          </p:cNvSpPr>
          <p:nvPr/>
        </p:nvSpPr>
        <p:spPr>
          <a:xfrm>
            <a:off x="2514824" y="2967618"/>
            <a:ext cx="780745" cy="97596"/>
          </a:xfrm>
          <a:prstGeom prst="rect">
            <a:avLst/>
          </a:prstGeom>
          <a:noFill/>
        </p:spPr>
        <p:txBody>
          <a:bodyPr wrap="none" lIns="0" tIns="0" rIns="0" bIns="0" anchor="t"/>
          <a:lstStyle/>
          <a:p>
            <a:pPr marL="0" indent="0" algn="ctr">
              <a:lnSpc>
                <a:spcPct val="104000"/>
              </a:lnSpc>
              <a:buNone/>
            </a:pPr>
            <a:r>
              <a:rPr sz="600" b="1" spc="-18">
                <a:solidFill>
                  <a:srgbClr val="000000"/>
                </a:solidFill>
                <a:latin typeface="Inter Bold"/>
                <a:ea typeface="Inter Bold"/>
                <a:cs typeface="Inter Bold"/>
              </a:rPr>
              <a:t>Add session key</a:t>
            </a:r>
            <a:endParaRPr sz="600"/>
          </a:p>
        </p:txBody>
      </p:sp>
      <p:sp>
        <p:nvSpPr>
          <p:cNvPr id="10" name="Text 7">
            <a:extLst>
              <a:ext uri="{FF2B5EF4-FFF2-40B4-BE49-F238E27FC236}">
                <a16:creationId xmlns:a16="http://schemas.microsoft.com/office/drawing/2014/main" id="{B9AA13EC-3EDF-4B23-B4EF-591FB4FC6907}"/>
              </a:ext>
            </a:extLst>
          </p:cNvPr>
          <p:cNvSpPr>
            <a:spLocks noGrp="1"/>
          </p:cNvSpPr>
          <p:nvPr/>
        </p:nvSpPr>
        <p:spPr>
          <a:xfrm>
            <a:off x="2499371" y="3092975"/>
            <a:ext cx="811649" cy="57256"/>
          </a:xfrm>
          <a:prstGeom prst="rect">
            <a:avLst/>
          </a:prstGeom>
          <a:noFill/>
        </p:spPr>
        <p:txBody>
          <a:bodyPr wrap="none" lIns="0" tIns="0" rIns="0" bIns="0" anchor="t"/>
          <a:lstStyle/>
          <a:p>
            <a:pPr marL="0" indent="0" algn="ctr">
              <a:lnSpc>
                <a:spcPct val="76000"/>
              </a:lnSpc>
              <a:buNone/>
            </a:pPr>
            <a:r>
              <a:rPr sz="450" spc="-8">
                <a:solidFill>
                  <a:srgbClr val="272525"/>
                </a:solidFill>
                <a:latin typeface="Inter"/>
                <a:ea typeface="Inter"/>
                <a:cs typeface="Inter"/>
              </a:rPr>
              <a:t>Attach key to the action URL</a:t>
            </a:r>
            <a:endParaRPr sz="450"/>
          </a:p>
        </p:txBody>
      </p:sp>
      <p:sp>
        <p:nvSpPr>
          <p:cNvPr id="11" name="Text 8">
            <a:extLst>
              <a:ext uri="{FF2B5EF4-FFF2-40B4-BE49-F238E27FC236}">
                <a16:creationId xmlns:a16="http://schemas.microsoft.com/office/drawing/2014/main" id="{3315C476-5916-461B-8354-120A5ED80F95}"/>
              </a:ext>
            </a:extLst>
          </p:cNvPr>
          <p:cNvSpPr>
            <a:spLocks noGrp="1"/>
          </p:cNvSpPr>
          <p:nvPr/>
        </p:nvSpPr>
        <p:spPr>
          <a:xfrm>
            <a:off x="3575769" y="1907948"/>
            <a:ext cx="780745" cy="97596"/>
          </a:xfrm>
          <a:prstGeom prst="rect">
            <a:avLst/>
          </a:prstGeom>
          <a:noFill/>
        </p:spPr>
        <p:txBody>
          <a:bodyPr wrap="none" lIns="0" tIns="0" rIns="0" bIns="0" anchor="t"/>
          <a:lstStyle/>
          <a:p>
            <a:pPr marL="0" indent="0" algn="ctr">
              <a:lnSpc>
                <a:spcPct val="104000"/>
              </a:lnSpc>
              <a:buNone/>
            </a:pPr>
            <a:r>
              <a:rPr sz="600" b="1" spc="-18">
                <a:solidFill>
                  <a:srgbClr val="000000"/>
                </a:solidFill>
                <a:latin typeface="Inter Bold"/>
                <a:ea typeface="Inter Bold"/>
                <a:cs typeface="Inter Bold"/>
              </a:rPr>
              <a:t>Verify key</a:t>
            </a:r>
            <a:endParaRPr sz="600"/>
          </a:p>
        </p:txBody>
      </p:sp>
      <p:sp>
        <p:nvSpPr>
          <p:cNvPr id="12" name="Text 9">
            <a:extLst>
              <a:ext uri="{FF2B5EF4-FFF2-40B4-BE49-F238E27FC236}">
                <a16:creationId xmlns:a16="http://schemas.microsoft.com/office/drawing/2014/main" id="{18495044-8C5D-4BC9-9C9A-01A092261DD8}"/>
              </a:ext>
            </a:extLst>
          </p:cNvPr>
          <p:cNvSpPr>
            <a:spLocks noGrp="1"/>
          </p:cNvSpPr>
          <p:nvPr/>
        </p:nvSpPr>
        <p:spPr>
          <a:xfrm>
            <a:off x="3560317" y="2033304"/>
            <a:ext cx="811649" cy="114512"/>
          </a:xfrm>
          <a:prstGeom prst="rect">
            <a:avLst/>
          </a:prstGeom>
          <a:noFill/>
        </p:spPr>
        <p:txBody>
          <a:bodyPr wrap="square" lIns="0" tIns="0" rIns="0" bIns="0" anchor="t">
            <a:normAutofit/>
          </a:bodyPr>
          <a:lstStyle/>
          <a:p>
            <a:pPr marL="0" indent="0" algn="ctr">
              <a:lnSpc>
                <a:spcPct val="76000"/>
              </a:lnSpc>
              <a:buNone/>
            </a:pPr>
            <a:r>
              <a:rPr sz="450" spc="-8">
                <a:solidFill>
                  <a:srgbClr val="272525"/>
                </a:solidFill>
                <a:latin typeface="Inter"/>
                <a:ea typeface="Inter"/>
                <a:cs typeface="Inter"/>
              </a:rPr>
              <a:t>Check the same key on receiving page</a:t>
            </a:r>
            <a:endParaRPr sz="450"/>
          </a:p>
        </p:txBody>
      </p:sp>
      <p:sp>
        <p:nvSpPr>
          <p:cNvPr id="13" name="Text 10">
            <a:extLst>
              <a:ext uri="{FF2B5EF4-FFF2-40B4-BE49-F238E27FC236}">
                <a16:creationId xmlns:a16="http://schemas.microsoft.com/office/drawing/2014/main" id="{656D97D8-F01C-474B-B2E1-9E24AD7689F3}"/>
              </a:ext>
            </a:extLst>
          </p:cNvPr>
          <p:cNvSpPr>
            <a:spLocks noGrp="1"/>
          </p:cNvSpPr>
          <p:nvPr/>
        </p:nvSpPr>
        <p:spPr>
          <a:xfrm>
            <a:off x="661475" y="3373537"/>
            <a:ext cx="5548372" cy="138013"/>
          </a:xfrm>
          <a:prstGeom prst="rect">
            <a:avLst/>
          </a:prstGeom>
          <a:noFill/>
        </p:spPr>
        <p:txBody>
          <a:bodyPr wrap="none" lIns="0" tIns="0" rIns="0" bIns="0" anchor="t"/>
          <a:lstStyle/>
          <a:p>
            <a:pPr marL="0" indent="0" algn="l">
              <a:lnSpc>
                <a:spcPct val="104000"/>
              </a:lnSpc>
              <a:buNone/>
            </a:pPr>
            <a:r>
              <a:rPr sz="850" b="1" spc="-26">
                <a:solidFill>
                  <a:srgbClr val="000000"/>
                </a:solidFill>
                <a:latin typeface="Inter Bold"/>
                <a:ea typeface="Inter Bold"/>
                <a:cs typeface="Inter Bold"/>
              </a:rPr>
              <a:t>Creating the Action URL</a:t>
            </a:r>
            <a:endParaRPr sz="850"/>
          </a:p>
        </p:txBody>
      </p:sp>
      <p:sp>
        <p:nvSpPr>
          <p:cNvPr id="14" name="Shape 11">
            <a:extLst>
              <a:ext uri="{FF2B5EF4-FFF2-40B4-BE49-F238E27FC236}">
                <a16:creationId xmlns:a16="http://schemas.microsoft.com/office/drawing/2014/main" id="{7B408B57-070C-4F80-A0E6-B0246B53468E}"/>
              </a:ext>
            </a:extLst>
          </p:cNvPr>
          <p:cNvSpPr>
            <a:spLocks noGrp="1"/>
          </p:cNvSpPr>
          <p:nvPr/>
        </p:nvSpPr>
        <p:spPr>
          <a:xfrm>
            <a:off x="661475" y="3557885"/>
            <a:ext cx="5548372" cy="741759"/>
          </a:xfrm>
          <a:prstGeom prst="roundRect">
            <a:avLst>
              <a:gd name="adj" fmla="val 5000"/>
            </a:avLst>
          </a:prstGeom>
          <a:solidFill>
            <a:srgbClr val="F2F2F2"/>
          </a:solidFill>
        </p:spPr>
        <p:txBody>
          <a:bodyPr/>
          <a:lstStyle/>
          <a:p>
            <a:endParaRPr/>
          </a:p>
        </p:txBody>
      </p:sp>
      <p:sp>
        <p:nvSpPr>
          <p:cNvPr id="15" name="Text 12">
            <a:extLst>
              <a:ext uri="{FF2B5EF4-FFF2-40B4-BE49-F238E27FC236}">
                <a16:creationId xmlns:a16="http://schemas.microsoft.com/office/drawing/2014/main" id="{B9DCE71C-938C-4124-BCB7-5C287F09998C}"/>
              </a:ext>
            </a:extLst>
          </p:cNvPr>
          <p:cNvSpPr>
            <a:spLocks noGrp="1"/>
          </p:cNvSpPr>
          <p:nvPr/>
        </p:nvSpPr>
        <p:spPr>
          <a:xfrm>
            <a:off x="767438" y="3646190"/>
            <a:ext cx="5336446" cy="565150"/>
          </a:xfrm>
          <a:prstGeom prst="rect">
            <a:avLst/>
          </a:prstGeom>
          <a:noFill/>
        </p:spPr>
        <p:txBody>
          <a:bodyPr wrap="square" lIns="0" tIns="0" rIns="0" bIns="0" anchor="t">
            <a:normAutofit/>
          </a:bodyPr>
          <a:lstStyle/>
          <a:p>
            <a:pPr marL="0" indent="0" algn="l">
              <a:lnSpc>
                <a:spcPct val="133000"/>
              </a:lnSpc>
              <a:buNone/>
            </a:pPr>
            <a:r>
              <a:rPr sz="650" spc="-14">
                <a:solidFill>
                  <a:srgbClr val="005CC5"/>
                </a:solidFill>
                <a:latin typeface="Consolas"/>
                <a:ea typeface="Consolas"/>
                <a:cs typeface="Consolas"/>
              </a:rPr>
              <a:t>$url = new moodle_url(</a:t>
            </a:r>
            <a:endParaRPr sz="650"/>
          </a:p>
          <a:p>
            <a:pPr marL="0" indent="0" algn="l">
              <a:lnSpc>
                <a:spcPct val="133000"/>
              </a:lnSpc>
              <a:buNone/>
            </a:pPr>
            <a:r>
              <a:rPr sz="650" spc="-14">
                <a:solidFill>
                  <a:srgbClr val="005CC5"/>
                </a:solidFill>
                <a:latin typeface="Consolas"/>
                <a:ea typeface="Consolas"/>
                <a:cs typeface="Consolas"/>
              </a:rPr>
              <a:t>    '/local/example/action.php',</a:t>
            </a:r>
            <a:endParaRPr sz="650"/>
          </a:p>
          <a:p>
            <a:pPr marL="0" indent="0" algn="l">
              <a:lnSpc>
                <a:spcPct val="133000"/>
              </a:lnSpc>
              <a:buNone/>
            </a:pPr>
            <a:r>
              <a:rPr sz="650" spc="-14">
                <a:solidFill>
                  <a:srgbClr val="005CC5"/>
                </a:solidFill>
                <a:latin typeface="Consolas"/>
                <a:ea typeface="Consolas"/>
                <a:cs typeface="Consolas"/>
              </a:rPr>
              <a:t>    ['itemid' =&gt; 7, 'sesskey' =&gt; sesskey()]</a:t>
            </a:r>
            <a:endParaRPr sz="650"/>
          </a:p>
          <a:p>
            <a:pPr marL="0" indent="0" algn="l">
              <a:lnSpc>
                <a:spcPct val="133000"/>
              </a:lnSpc>
              <a:buNone/>
            </a:pPr>
            <a:r>
              <a:rPr sz="650" spc="-14">
                <a:solidFill>
                  <a:srgbClr val="005CC5"/>
                </a:solidFill>
                <a:latin typeface="Consolas"/>
                <a:ea typeface="Consolas"/>
                <a:cs typeface="Consolas"/>
              </a:rPr>
              <a:t>);</a:t>
            </a:r>
            <a:endParaRPr sz="650"/>
          </a:p>
        </p:txBody>
      </p:sp>
      <p:sp>
        <p:nvSpPr>
          <p:cNvPr id="16" name="Text 13">
            <a:extLst>
              <a:ext uri="{FF2B5EF4-FFF2-40B4-BE49-F238E27FC236}">
                <a16:creationId xmlns:a16="http://schemas.microsoft.com/office/drawing/2014/main" id="{43C79067-9B72-4A33-B389-8BBAA450D65C}"/>
              </a:ext>
            </a:extLst>
          </p:cNvPr>
          <p:cNvSpPr>
            <a:spLocks noGrp="1"/>
          </p:cNvSpPr>
          <p:nvPr/>
        </p:nvSpPr>
        <p:spPr>
          <a:xfrm>
            <a:off x="661475" y="4345980"/>
            <a:ext cx="5548372" cy="138013"/>
          </a:xfrm>
          <a:prstGeom prst="rect">
            <a:avLst/>
          </a:prstGeom>
          <a:noFill/>
        </p:spPr>
        <p:txBody>
          <a:bodyPr wrap="none" lIns="0" tIns="0" rIns="0" bIns="0" anchor="t"/>
          <a:lstStyle/>
          <a:p>
            <a:pPr marL="0" indent="0" algn="l">
              <a:lnSpc>
                <a:spcPct val="104000"/>
              </a:lnSpc>
              <a:buNone/>
            </a:pPr>
            <a:r>
              <a:rPr sz="850" b="1" spc="-26">
                <a:solidFill>
                  <a:srgbClr val="000000"/>
                </a:solidFill>
                <a:latin typeface="Inter Bold"/>
                <a:ea typeface="Inter Bold"/>
                <a:cs typeface="Inter Bold"/>
              </a:rPr>
              <a:t>Checking the Request</a:t>
            </a:r>
            <a:endParaRPr sz="850"/>
          </a:p>
        </p:txBody>
      </p:sp>
      <p:sp>
        <p:nvSpPr>
          <p:cNvPr id="17" name="Shape 14">
            <a:extLst>
              <a:ext uri="{FF2B5EF4-FFF2-40B4-BE49-F238E27FC236}">
                <a16:creationId xmlns:a16="http://schemas.microsoft.com/office/drawing/2014/main" id="{FA18583F-C9CB-4FB4-8661-128DF149A59F}"/>
              </a:ext>
            </a:extLst>
          </p:cNvPr>
          <p:cNvSpPr>
            <a:spLocks noGrp="1"/>
          </p:cNvSpPr>
          <p:nvPr/>
        </p:nvSpPr>
        <p:spPr>
          <a:xfrm>
            <a:off x="661475" y="4530328"/>
            <a:ext cx="5548372" cy="459184"/>
          </a:xfrm>
          <a:prstGeom prst="roundRect">
            <a:avLst>
              <a:gd name="adj" fmla="val 8077"/>
            </a:avLst>
          </a:prstGeom>
          <a:solidFill>
            <a:srgbClr val="F2F2F2"/>
          </a:solidFill>
        </p:spPr>
        <p:txBody>
          <a:bodyPr/>
          <a:lstStyle/>
          <a:p>
            <a:endParaRPr/>
          </a:p>
        </p:txBody>
      </p:sp>
      <p:sp>
        <p:nvSpPr>
          <p:cNvPr id="18" name="Text 15">
            <a:extLst>
              <a:ext uri="{FF2B5EF4-FFF2-40B4-BE49-F238E27FC236}">
                <a16:creationId xmlns:a16="http://schemas.microsoft.com/office/drawing/2014/main" id="{7640EB0F-7FC4-402A-8E6A-36B06B2D2272}"/>
              </a:ext>
            </a:extLst>
          </p:cNvPr>
          <p:cNvSpPr>
            <a:spLocks noGrp="1"/>
          </p:cNvSpPr>
          <p:nvPr/>
        </p:nvSpPr>
        <p:spPr>
          <a:xfrm>
            <a:off x="767438" y="4618633"/>
            <a:ext cx="5336446" cy="282575"/>
          </a:xfrm>
          <a:prstGeom prst="rect">
            <a:avLst/>
          </a:prstGeom>
          <a:noFill/>
        </p:spPr>
        <p:txBody>
          <a:bodyPr wrap="square" lIns="0" tIns="0" rIns="0" bIns="0" anchor="t">
            <a:normAutofit/>
          </a:bodyPr>
          <a:lstStyle/>
          <a:p>
            <a:pPr marL="0" indent="0" algn="l">
              <a:lnSpc>
                <a:spcPct val="133000"/>
              </a:lnSpc>
              <a:buNone/>
            </a:pPr>
            <a:r>
              <a:rPr sz="650" spc="-14">
                <a:solidFill>
                  <a:srgbClr val="E36209"/>
                </a:solidFill>
                <a:latin typeface="Consolas"/>
                <a:ea typeface="Consolas"/>
                <a:cs typeface="Consolas"/>
              </a:rPr>
              <a:t>require_login();</a:t>
            </a:r>
            <a:endParaRPr sz="650"/>
          </a:p>
          <a:p>
            <a:pPr marL="0" indent="0" algn="l">
              <a:lnSpc>
                <a:spcPct val="133000"/>
              </a:lnSpc>
              <a:buNone/>
            </a:pPr>
            <a:r>
              <a:rPr sz="650" spc="-14">
                <a:solidFill>
                  <a:srgbClr val="E36209"/>
                </a:solidFill>
                <a:latin typeface="Consolas"/>
                <a:ea typeface="Consolas"/>
                <a:cs typeface="Consolas"/>
              </a:rPr>
              <a:t>require_sesskey();</a:t>
            </a:r>
            <a:endParaRPr sz="650"/>
          </a:p>
        </p:txBody>
      </p:sp>
      <p:sp>
        <p:nvSpPr>
          <p:cNvPr id="19" name="Text 16">
            <a:extLst>
              <a:ext uri="{FF2B5EF4-FFF2-40B4-BE49-F238E27FC236}">
                <a16:creationId xmlns:a16="http://schemas.microsoft.com/office/drawing/2014/main" id="{61D04F51-8562-4018-A929-922039D06C0A}"/>
              </a:ext>
            </a:extLst>
          </p:cNvPr>
          <p:cNvSpPr>
            <a:spLocks noGrp="1"/>
          </p:cNvSpPr>
          <p:nvPr/>
        </p:nvSpPr>
        <p:spPr>
          <a:xfrm>
            <a:off x="6431496" y="1740098"/>
            <a:ext cx="5104975" cy="138013"/>
          </a:xfrm>
          <a:prstGeom prst="rect">
            <a:avLst/>
          </a:prstGeom>
          <a:noFill/>
        </p:spPr>
        <p:txBody>
          <a:bodyPr wrap="none" lIns="0" tIns="0" rIns="0" bIns="0" anchor="t"/>
          <a:lstStyle/>
          <a:p>
            <a:pPr marL="0" indent="0" algn="l">
              <a:lnSpc>
                <a:spcPct val="104000"/>
              </a:lnSpc>
              <a:buNone/>
            </a:pPr>
            <a:r>
              <a:rPr sz="850" b="1" spc="-26">
                <a:solidFill>
                  <a:srgbClr val="000000"/>
                </a:solidFill>
                <a:latin typeface="Inter Bold"/>
                <a:ea typeface="Inter Bold"/>
                <a:cs typeface="Inter Bold"/>
              </a:rPr>
              <a:t>Three Separate Checks — Each Has One Job</a:t>
            </a:r>
            <a:endParaRPr sz="850"/>
          </a:p>
        </p:txBody>
      </p:sp>
      <p:pic>
        <p:nvPicPr>
          <p:cNvPr id="60"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31496" y="1924447"/>
            <a:ext cx="5104975" cy="702568"/>
          </a:xfrm>
          <a:prstGeom prst="rect">
            <a:avLst/>
          </a:prstGeom>
        </p:spPr>
      </p:pic>
      <p:pic>
        <p:nvPicPr>
          <p:cNvPr id="61"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17757" y="2000151"/>
            <a:ext cx="132454" cy="132457"/>
          </a:xfrm>
          <a:prstGeom prst="rect">
            <a:avLst/>
          </a:prstGeom>
        </p:spPr>
      </p:pic>
      <p:sp>
        <p:nvSpPr>
          <p:cNvPr id="22" name="Text 17">
            <a:extLst>
              <a:ext uri="{FF2B5EF4-FFF2-40B4-BE49-F238E27FC236}">
                <a16:creationId xmlns:a16="http://schemas.microsoft.com/office/drawing/2014/main" id="{3D123A39-6190-4414-BC61-9FFA8249D870}"/>
              </a:ext>
            </a:extLst>
          </p:cNvPr>
          <p:cNvSpPr>
            <a:spLocks noGrp="1"/>
          </p:cNvSpPr>
          <p:nvPr/>
        </p:nvSpPr>
        <p:spPr>
          <a:xfrm>
            <a:off x="6532498" y="2243237"/>
            <a:ext cx="4902970" cy="138013"/>
          </a:xfrm>
          <a:prstGeom prst="rect">
            <a:avLst/>
          </a:prstGeom>
          <a:noFill/>
        </p:spPr>
        <p:txBody>
          <a:bodyPr wrap="none" lIns="0" tIns="0" rIns="0" bIns="0" anchor="t"/>
          <a:lstStyle/>
          <a:p>
            <a:pPr marL="0" indent="0" algn="l">
              <a:lnSpc>
                <a:spcPct val="104000"/>
              </a:lnSpc>
              <a:buNone/>
            </a:pPr>
            <a:r>
              <a:rPr sz="850" b="1" spc="-26">
                <a:solidFill>
                  <a:srgbClr val="272525"/>
                </a:solidFill>
                <a:latin typeface="Inter Bold"/>
                <a:ea typeface="Inter Bold"/>
                <a:cs typeface="Inter Bold"/>
              </a:rPr>
              <a:t>Session Key</a:t>
            </a:r>
            <a:endParaRPr sz="850"/>
          </a:p>
        </p:txBody>
      </p:sp>
      <p:sp>
        <p:nvSpPr>
          <p:cNvPr id="23" name="Text 18">
            <a:extLst>
              <a:ext uri="{FF2B5EF4-FFF2-40B4-BE49-F238E27FC236}">
                <a16:creationId xmlns:a16="http://schemas.microsoft.com/office/drawing/2014/main" id="{BA8D73CE-6DAD-44AB-852F-EE1D80957F1F}"/>
              </a:ext>
            </a:extLst>
          </p:cNvPr>
          <p:cNvSpPr>
            <a:spLocks noGrp="1"/>
          </p:cNvSpPr>
          <p:nvPr/>
        </p:nvSpPr>
        <p:spPr>
          <a:xfrm>
            <a:off x="6532498" y="2422426"/>
            <a:ext cx="4902970" cy="103584"/>
          </a:xfrm>
          <a:prstGeom prst="rect">
            <a:avLst/>
          </a:prstGeom>
          <a:noFill/>
        </p:spPr>
        <p:txBody>
          <a:bodyPr wrap="none" lIns="0" tIns="0" rIns="0" bIns="0" anchor="t"/>
          <a:lstStyle/>
          <a:p>
            <a:pPr marL="0" indent="0" algn="l">
              <a:lnSpc>
                <a:spcPct val="98000"/>
              </a:lnSpc>
              <a:buNone/>
            </a:pPr>
            <a:r>
              <a:rPr sz="650" spc="-14">
                <a:solidFill>
                  <a:srgbClr val="272525"/>
                </a:solidFill>
                <a:latin typeface="Inter"/>
                <a:ea typeface="Inter"/>
                <a:cs typeface="Inter"/>
              </a:rPr>
              <a:t>Is this a genuine request from this session? </a:t>
            </a:r>
            <a:r>
              <a:rPr sz="650" spc="-14">
                <a:solidFill>
                  <a:srgbClr val="272525"/>
                </a:solidFill>
                <a:highlight>
                  <a:srgbClr val="F2F2F2"/>
                </a:highlight>
                <a:latin typeface="Consolas"/>
                <a:ea typeface="Consolas"/>
                <a:cs typeface="Consolas"/>
              </a:rPr>
              <a:t>sesskey()</a:t>
            </a:r>
            <a:r>
              <a:rPr sz="650" spc="-14">
                <a:solidFill>
                  <a:srgbClr val="272525"/>
                </a:solidFill>
                <a:latin typeface="Inter"/>
                <a:ea typeface="Inter"/>
                <a:cs typeface="Inter"/>
              </a:rPr>
              <a:t> adds a temporary secret value; </a:t>
            </a:r>
            <a:r>
              <a:rPr sz="650" spc="-14">
                <a:solidFill>
                  <a:srgbClr val="272525"/>
                </a:solidFill>
                <a:highlight>
                  <a:srgbClr val="F2F2F2"/>
                </a:highlight>
                <a:latin typeface="Consolas"/>
                <a:ea typeface="Consolas"/>
                <a:cs typeface="Consolas"/>
              </a:rPr>
              <a:t>require_sesskey()</a:t>
            </a:r>
            <a:r>
              <a:rPr sz="650" spc="-14">
                <a:solidFill>
                  <a:srgbClr val="272525"/>
                </a:solidFill>
                <a:latin typeface="Inter"/>
                <a:ea typeface="Inter"/>
                <a:cs typeface="Inter"/>
              </a:rPr>
              <a:t> verifies it.</a:t>
            </a:r>
            <a:endParaRPr sz="650"/>
          </a:p>
        </p:txBody>
      </p:sp>
      <p:pic>
        <p:nvPicPr>
          <p:cNvPr id="64" name="Image 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31496" y="2668191"/>
            <a:ext cx="5104975" cy="702568"/>
          </a:xfrm>
          <a:prstGeom prst="rect">
            <a:avLst/>
          </a:prstGeom>
        </p:spPr>
      </p:pic>
      <p:pic>
        <p:nvPicPr>
          <p:cNvPr id="65" name="Image 4"/>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17757" y="2743895"/>
            <a:ext cx="132454" cy="132457"/>
          </a:xfrm>
          <a:prstGeom prst="rect">
            <a:avLst/>
          </a:prstGeom>
        </p:spPr>
      </p:pic>
      <p:sp>
        <p:nvSpPr>
          <p:cNvPr id="26" name="Text 19">
            <a:extLst>
              <a:ext uri="{FF2B5EF4-FFF2-40B4-BE49-F238E27FC236}">
                <a16:creationId xmlns:a16="http://schemas.microsoft.com/office/drawing/2014/main" id="{FD432390-2C61-4148-BCD0-0D2013BE146C}"/>
              </a:ext>
            </a:extLst>
          </p:cNvPr>
          <p:cNvSpPr>
            <a:spLocks noGrp="1"/>
          </p:cNvSpPr>
          <p:nvPr/>
        </p:nvSpPr>
        <p:spPr>
          <a:xfrm>
            <a:off x="6532498" y="2986980"/>
            <a:ext cx="4902970" cy="138013"/>
          </a:xfrm>
          <a:prstGeom prst="rect">
            <a:avLst/>
          </a:prstGeom>
          <a:noFill/>
        </p:spPr>
        <p:txBody>
          <a:bodyPr wrap="none" lIns="0" tIns="0" rIns="0" bIns="0" anchor="t"/>
          <a:lstStyle/>
          <a:p>
            <a:pPr marL="0" indent="0" algn="l">
              <a:lnSpc>
                <a:spcPct val="104000"/>
              </a:lnSpc>
              <a:buNone/>
            </a:pPr>
            <a:r>
              <a:rPr sz="850" b="1" spc="-26">
                <a:solidFill>
                  <a:srgbClr val="272525"/>
                </a:solidFill>
                <a:latin typeface="Inter Bold"/>
                <a:ea typeface="Inter Bold"/>
                <a:cs typeface="Inter Bold"/>
              </a:rPr>
              <a:t>Capability Check</a:t>
            </a:r>
            <a:endParaRPr sz="850"/>
          </a:p>
        </p:txBody>
      </p:sp>
      <p:sp>
        <p:nvSpPr>
          <p:cNvPr id="27" name="Text 20">
            <a:extLst>
              <a:ext uri="{FF2B5EF4-FFF2-40B4-BE49-F238E27FC236}">
                <a16:creationId xmlns:a16="http://schemas.microsoft.com/office/drawing/2014/main" id="{03F8742E-07E7-4AF3-ACB9-3097CA86C9C1}"/>
              </a:ext>
            </a:extLst>
          </p:cNvPr>
          <p:cNvSpPr>
            <a:spLocks noGrp="1"/>
          </p:cNvSpPr>
          <p:nvPr/>
        </p:nvSpPr>
        <p:spPr>
          <a:xfrm>
            <a:off x="6532498" y="3166170"/>
            <a:ext cx="4902970" cy="103584"/>
          </a:xfrm>
          <a:prstGeom prst="rect">
            <a:avLst/>
          </a:prstGeom>
          <a:noFill/>
        </p:spPr>
        <p:txBody>
          <a:bodyPr wrap="none" lIns="0" tIns="0" rIns="0" bIns="0" anchor="t"/>
          <a:lstStyle/>
          <a:p>
            <a:pPr marL="0" indent="0" algn="l">
              <a:lnSpc>
                <a:spcPct val="98000"/>
              </a:lnSpc>
              <a:buNone/>
            </a:pPr>
            <a:r>
              <a:rPr sz="650" spc="-14">
                <a:solidFill>
                  <a:srgbClr val="272525"/>
                </a:solidFill>
                <a:latin typeface="Inter"/>
                <a:ea typeface="Inter"/>
                <a:cs typeface="Inter"/>
              </a:rPr>
              <a:t>Is this user </a:t>
            </a:r>
            <a:r>
              <a:rPr sz="650" b="1" spc="-14">
                <a:solidFill>
                  <a:srgbClr val="272525"/>
                </a:solidFill>
                <a:latin typeface="Inter Bold"/>
                <a:ea typeface="Inter Bold"/>
                <a:cs typeface="Inter Bold"/>
              </a:rPr>
              <a:t>allowed</a:t>
            </a:r>
            <a:r>
              <a:rPr sz="650" spc="-14">
                <a:solidFill>
                  <a:srgbClr val="272525"/>
                </a:solidFill>
                <a:latin typeface="Inter"/>
                <a:ea typeface="Inter"/>
                <a:cs typeface="Inter"/>
              </a:rPr>
              <a:t> to perform the action? Session keys do not decide permission — this check does.</a:t>
            </a:r>
            <a:endParaRPr sz="650"/>
          </a:p>
        </p:txBody>
      </p:sp>
      <p:pic>
        <p:nvPicPr>
          <p:cNvPr id="68" name="Image 5"/>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31496" y="3411934"/>
            <a:ext cx="5104975" cy="702568"/>
          </a:xfrm>
          <a:prstGeom prst="rect">
            <a:avLst/>
          </a:prstGeom>
        </p:spPr>
      </p:pic>
      <p:pic>
        <p:nvPicPr>
          <p:cNvPr id="69" name="Image 6"/>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17757" y="3487638"/>
            <a:ext cx="132454" cy="132457"/>
          </a:xfrm>
          <a:prstGeom prst="rect">
            <a:avLst/>
          </a:prstGeom>
        </p:spPr>
      </p:pic>
      <p:sp>
        <p:nvSpPr>
          <p:cNvPr id="30" name="Text 21">
            <a:extLst>
              <a:ext uri="{FF2B5EF4-FFF2-40B4-BE49-F238E27FC236}">
                <a16:creationId xmlns:a16="http://schemas.microsoft.com/office/drawing/2014/main" id="{B717F628-E958-4EDD-A808-391DDB2A884A}"/>
              </a:ext>
            </a:extLst>
          </p:cNvPr>
          <p:cNvSpPr>
            <a:spLocks noGrp="1"/>
          </p:cNvSpPr>
          <p:nvPr/>
        </p:nvSpPr>
        <p:spPr>
          <a:xfrm>
            <a:off x="6532498" y="3730724"/>
            <a:ext cx="4902970" cy="138013"/>
          </a:xfrm>
          <a:prstGeom prst="rect">
            <a:avLst/>
          </a:prstGeom>
          <a:noFill/>
        </p:spPr>
        <p:txBody>
          <a:bodyPr wrap="none" lIns="0" tIns="0" rIns="0" bIns="0" anchor="t"/>
          <a:lstStyle/>
          <a:p>
            <a:pPr marL="0" indent="0" algn="l">
              <a:lnSpc>
                <a:spcPct val="104000"/>
              </a:lnSpc>
              <a:buNone/>
            </a:pPr>
            <a:r>
              <a:rPr sz="850" b="1" spc="-26">
                <a:solidFill>
                  <a:srgbClr val="272525"/>
                </a:solidFill>
                <a:latin typeface="Inter Bold"/>
                <a:ea typeface="Inter Bold"/>
                <a:cs typeface="Inter Bold"/>
              </a:rPr>
              <a:t>Parameter Check</a:t>
            </a:r>
            <a:endParaRPr sz="850"/>
          </a:p>
        </p:txBody>
      </p:sp>
      <p:sp>
        <p:nvSpPr>
          <p:cNvPr id="31" name="Text 22">
            <a:extLst>
              <a:ext uri="{FF2B5EF4-FFF2-40B4-BE49-F238E27FC236}">
                <a16:creationId xmlns:a16="http://schemas.microsoft.com/office/drawing/2014/main" id="{ED63ED10-5CDD-4BCF-B8E4-BA2895EFD2A9}"/>
              </a:ext>
            </a:extLst>
          </p:cNvPr>
          <p:cNvSpPr>
            <a:spLocks noGrp="1"/>
          </p:cNvSpPr>
          <p:nvPr/>
        </p:nvSpPr>
        <p:spPr>
          <a:xfrm>
            <a:off x="6532498" y="3909913"/>
            <a:ext cx="4902970" cy="103584"/>
          </a:xfrm>
          <a:prstGeom prst="rect">
            <a:avLst/>
          </a:prstGeom>
          <a:noFill/>
        </p:spPr>
        <p:txBody>
          <a:bodyPr wrap="none" lIns="0" tIns="0" rIns="0" bIns="0" anchor="t"/>
          <a:lstStyle/>
          <a:p>
            <a:pPr marL="0" indent="0" algn="l">
              <a:lnSpc>
                <a:spcPct val="98000"/>
              </a:lnSpc>
              <a:buNone/>
            </a:pPr>
            <a:r>
              <a:rPr sz="650" spc="-14">
                <a:solidFill>
                  <a:srgbClr val="272525"/>
                </a:solidFill>
                <a:latin typeface="Inter"/>
                <a:ea typeface="Inter"/>
                <a:cs typeface="Inter"/>
              </a:rPr>
              <a:t>Is the supplied information valid? Ensure values such as </a:t>
            </a:r>
            <a:r>
              <a:rPr sz="650" spc="-14">
                <a:solidFill>
                  <a:srgbClr val="272525"/>
                </a:solidFill>
                <a:highlight>
                  <a:srgbClr val="F2F2F2"/>
                </a:highlight>
                <a:latin typeface="Consolas"/>
                <a:ea typeface="Consolas"/>
                <a:cs typeface="Consolas"/>
              </a:rPr>
              <a:t>itemid</a:t>
            </a:r>
            <a:r>
              <a:rPr sz="650" spc="-14">
                <a:solidFill>
                  <a:srgbClr val="272525"/>
                </a:solidFill>
                <a:latin typeface="Inter"/>
                <a:ea typeface="Inter"/>
                <a:cs typeface="Inter"/>
              </a:rPr>
              <a:t> have the expected type and format.</a:t>
            </a:r>
            <a:endParaRPr sz="650"/>
          </a:p>
        </p:txBody>
      </p:sp>
      <p:sp>
        <p:nvSpPr>
          <p:cNvPr id="32" name="Shape 23">
            <a:extLst>
              <a:ext uri="{FF2B5EF4-FFF2-40B4-BE49-F238E27FC236}">
                <a16:creationId xmlns:a16="http://schemas.microsoft.com/office/drawing/2014/main" id="{822AB146-2B1E-4CEC-AA4B-46FE6867B428}"/>
              </a:ext>
            </a:extLst>
          </p:cNvPr>
          <p:cNvSpPr>
            <a:spLocks noGrp="1"/>
          </p:cNvSpPr>
          <p:nvPr/>
        </p:nvSpPr>
        <p:spPr>
          <a:xfrm>
            <a:off x="6431496" y="4160838"/>
            <a:ext cx="5104975" cy="221853"/>
          </a:xfrm>
          <a:prstGeom prst="roundRect">
            <a:avLst>
              <a:gd name="adj" fmla="val 16718"/>
            </a:avLst>
          </a:prstGeom>
          <a:solidFill>
            <a:srgbClr val="DADBF1"/>
          </a:solidFill>
        </p:spPr>
        <p:txBody>
          <a:bodyPr/>
          <a:lstStyle/>
          <a:p>
            <a:endParaRPr/>
          </a:p>
        </p:txBody>
      </p:sp>
      <p:pic>
        <p:nvPicPr>
          <p:cNvPr id="73" name="Image 7"/>
          <p:cNvPicPr>
            <a:picLocks noChangeAspect="1"/>
          </p:cNvPicPr>
          <p:nvPr/>
        </p:nvPicPr>
        <p:blipFill>
          <a:blip r:embed="rId8"/>
          <a:stretch>
            <a:fillRect/>
          </a:stretch>
        </p:blipFill>
        <p:spPr>
          <a:xfrm>
            <a:off x="6519799" y="4229298"/>
            <a:ext cx="110328" cy="88305"/>
          </a:xfrm>
          <a:prstGeom prst="rect">
            <a:avLst/>
          </a:prstGeom>
        </p:spPr>
      </p:pic>
      <p:sp>
        <p:nvSpPr>
          <p:cNvPr id="34" name="Text 24">
            <a:extLst>
              <a:ext uri="{FF2B5EF4-FFF2-40B4-BE49-F238E27FC236}">
                <a16:creationId xmlns:a16="http://schemas.microsoft.com/office/drawing/2014/main" id="{C52C43D2-80BD-49D1-B0C6-F8997E3F59B8}"/>
              </a:ext>
            </a:extLst>
          </p:cNvPr>
          <p:cNvSpPr>
            <a:spLocks noGrp="1"/>
          </p:cNvSpPr>
          <p:nvPr/>
        </p:nvSpPr>
        <p:spPr>
          <a:xfrm>
            <a:off x="6718430" y="4219972"/>
            <a:ext cx="5339323" cy="103584"/>
          </a:xfrm>
          <a:prstGeom prst="rect">
            <a:avLst/>
          </a:prstGeom>
          <a:noFill/>
        </p:spPr>
        <p:txBody>
          <a:bodyPr wrap="none" lIns="0" tIns="0" rIns="0" bIns="0" anchor="t"/>
          <a:lstStyle/>
          <a:p>
            <a:pPr marL="0" indent="0" algn="l">
              <a:lnSpc>
                <a:spcPct val="98000"/>
              </a:lnSpc>
              <a:buNone/>
            </a:pPr>
            <a:r>
              <a:rPr sz="650" spc="-14">
                <a:solidFill>
                  <a:srgbClr val="000000"/>
                </a:solidFill>
                <a:latin typeface="Inter"/>
                <a:ea typeface="Inter"/>
                <a:cs typeface="Inter"/>
              </a:rPr>
              <a:t>For actions that change data: </a:t>
            </a:r>
            <a:r>
              <a:rPr sz="650" b="1" spc="-14">
                <a:solidFill>
                  <a:srgbClr val="000000"/>
                </a:solidFill>
                <a:latin typeface="Inter Bold"/>
                <a:ea typeface="Inter Bold"/>
                <a:cs typeface="Inter Bold"/>
              </a:rPr>
              <a:t>login + session key + permission + valid input.</a:t>
            </a:r>
            <a:endParaRPr sz="650"/>
          </a:p>
        </p:txBody>
      </p:sp>
    </p:spTree>
    <p:extLst>
      <p:ext uri="{BB962C8B-B14F-4D97-AF65-F5344CB8AC3E}">
        <p14:creationId xmlns:p14="http://schemas.microsoft.com/office/powerpoint/2010/main" val="319569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03E598C-E340-4C16-966A-F805EA6CBD4F}"/>
              </a:ext>
            </a:extLst>
          </p:cNvPr>
          <p:cNvSpPr>
            <a:spLocks noGrp="1"/>
          </p:cNvSpPr>
          <p:nvPr/>
        </p:nvSpPr>
        <p:spPr>
          <a:xfrm>
            <a:off x="400050" y="266700"/>
            <a:ext cx="4000500" cy="285750"/>
          </a:xfrm>
          <a:prstGeom prst="rect">
            <a:avLst/>
          </a:prstGeom>
          <a:noFill/>
          <a:ln w="0">
            <a:noFill/>
            <a:prstDash val="solid"/>
          </a:ln>
        </p:spPr>
        <p:txBody>
          <a:bodyPr wrap="square" anchor="t">
            <a:norm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QUESTION 1 • ANSWER</a:t>
            </a:r>
          </a:p>
        </p:txBody>
      </p:sp>
      <p:sp>
        <p:nvSpPr>
          <p:cNvPr id="2" name="Rectangle 1">
            <a:extLst>
              <a:ext uri="{FF2B5EF4-FFF2-40B4-BE49-F238E27FC236}">
                <a16:creationId xmlns:a16="http://schemas.microsoft.com/office/drawing/2014/main" id="{213D542B-A5DD-4B32-8BEC-8D5F121E940C}"/>
              </a:ext>
            </a:extLst>
          </p:cNvPr>
          <p:cNvSpPr>
            <a:spLocks noGrp="1"/>
          </p:cNvSpPr>
          <p:nvPr/>
        </p:nvSpPr>
        <p:spPr>
          <a:xfrm>
            <a:off x="400050" y="619125"/>
            <a:ext cx="11144250" cy="666750"/>
          </a:xfrm>
          <a:prstGeom prst="rect">
            <a:avLst/>
          </a:prstGeom>
          <a:noFill/>
          <a:ln w="0">
            <a:noFill/>
            <a:prstDash val="solid"/>
          </a:ln>
        </p:spPr>
        <p:txBody>
          <a:bodyPr wrap="square" anchor="t">
            <a:normAutofit/>
          </a:bodyPr>
          <a:lstStyle/>
          <a:p>
            <a:pPr algn="l">
              <a:buNone/>
              <a:defRPr sz="2850" b="1">
                <a:solidFill>
                  <a:srgbClr val="111111"/>
                </a:solidFill>
                <a:latin typeface="Arial"/>
                <a:ea typeface="Arial"/>
                <a:cs typeface="Arial"/>
              </a:defRPr>
            </a:pPr>
            <a:r>
              <a:rPr sz="2850" b="1">
                <a:solidFill>
                  <a:srgbClr val="111111"/>
                </a:solidFill>
                <a:latin typeface="Arial"/>
                <a:ea typeface="Arial"/>
                <a:cs typeface="Arial"/>
              </a:rPr>
              <a:t>Question 1: Why Moodle uses PHP</a:t>
            </a:r>
          </a:p>
        </p:txBody>
      </p:sp>
      <p:sp>
        <p:nvSpPr>
          <p:cNvPr id="3" name="Rectangle 2">
            <a:extLst>
              <a:ext uri="{FF2B5EF4-FFF2-40B4-BE49-F238E27FC236}">
                <a16:creationId xmlns:a16="http://schemas.microsoft.com/office/drawing/2014/main" id="{A4251D33-9C0A-4473-A16F-D151F28865D4}"/>
              </a:ext>
            </a:extLst>
          </p:cNvPr>
          <p:cNvSpPr>
            <a:spLocks noGrp="1"/>
          </p:cNvSpPr>
          <p:nvPr/>
        </p:nvSpPr>
        <p:spPr>
          <a:xfrm>
            <a:off x="400050" y="1352550"/>
            <a:ext cx="11391900" cy="19050"/>
          </a:xfrm>
          <a:prstGeom prst="rect">
            <a:avLst/>
          </a:prstGeom>
          <a:solidFill>
            <a:srgbClr val="B8BCC4"/>
          </a:solidFill>
          <a:ln w="0">
            <a:noFill/>
            <a:prstDash val="solid"/>
          </a:ln>
        </p:spPr>
        <p:txBody>
          <a:bodyPr/>
          <a:lstStyle/>
          <a:p>
            <a:endParaRPr/>
          </a:p>
        </p:txBody>
      </p:sp>
      <p:sp>
        <p:nvSpPr>
          <p:cNvPr id="4" name="Rectangle 3">
            <a:extLst>
              <a:ext uri="{FF2B5EF4-FFF2-40B4-BE49-F238E27FC236}">
                <a16:creationId xmlns:a16="http://schemas.microsoft.com/office/drawing/2014/main" id="{BEE5622C-66C0-4609-A8EE-7B365A67DC26}"/>
              </a:ext>
            </a:extLst>
          </p:cNvPr>
          <p:cNvSpPr>
            <a:spLocks noGrp="1"/>
          </p:cNvSpPr>
          <p:nvPr/>
        </p:nvSpPr>
        <p:spPr>
          <a:xfrm>
            <a:off x="11191875" y="6343650"/>
            <a:ext cx="590550" cy="228600"/>
          </a:xfrm>
          <a:prstGeom prst="rect">
            <a:avLst/>
          </a:prstGeom>
          <a:noFill/>
          <a:ln w="0">
            <a:noFill/>
            <a:prstDash val="solid"/>
          </a:ln>
        </p:spPr>
        <p:txBody>
          <a:bodyPr wrap="square" anchor="t">
            <a:normAutofit fontScale="93214" lnSpcReduction="10000"/>
          </a:bodyPr>
          <a:lstStyle/>
          <a:p>
            <a:pPr algn="r">
              <a:buNone/>
              <a:defRPr sz="1050" b="0">
                <a:solidFill>
                  <a:srgbClr val="59616C"/>
                </a:solidFill>
                <a:latin typeface="Arial"/>
                <a:ea typeface="Arial"/>
                <a:cs typeface="Arial"/>
              </a:defRPr>
            </a:pPr>
            <a:r>
              <a:rPr sz="1050" b="0">
                <a:solidFill>
                  <a:srgbClr val="59616C"/>
                </a:solidFill>
                <a:latin typeface="Arial"/>
                <a:ea typeface="Arial"/>
                <a:cs typeface="Arial"/>
              </a:rPr>
              <a:t>15</a:t>
            </a:r>
          </a:p>
        </p:txBody>
      </p:sp>
      <p:sp>
        <p:nvSpPr>
          <p:cNvPr id="5" name="Rectangle 4">
            <a:extLst>
              <a:ext uri="{FF2B5EF4-FFF2-40B4-BE49-F238E27FC236}">
                <a16:creationId xmlns:a16="http://schemas.microsoft.com/office/drawing/2014/main" id="{A05792D1-C370-4A28-BF7C-98533CE35414}"/>
              </a:ext>
            </a:extLst>
          </p:cNvPr>
          <p:cNvSpPr>
            <a:spLocks noGrp="1"/>
          </p:cNvSpPr>
          <p:nvPr/>
        </p:nvSpPr>
        <p:spPr>
          <a:xfrm>
            <a:off x="400050" y="2333625"/>
            <a:ext cx="2571750" cy="2190750"/>
          </a:xfrm>
          <a:prstGeom prst="rect">
            <a:avLst/>
          </a:prstGeom>
          <a:solidFill>
            <a:srgbClr val="EDEDED"/>
          </a:solidFill>
          <a:ln w="0">
            <a:noFill/>
            <a:prstDash val="solid"/>
          </a:ln>
        </p:spPr>
        <p:txBody>
          <a:bodyPr/>
          <a:lstStyle/>
          <a:p>
            <a:endParaRPr/>
          </a:p>
        </p:txBody>
      </p:sp>
      <p:sp>
        <p:nvSpPr>
          <p:cNvPr id="6" name="Rectangle 5">
            <a:extLst>
              <a:ext uri="{FF2B5EF4-FFF2-40B4-BE49-F238E27FC236}">
                <a16:creationId xmlns:a16="http://schemas.microsoft.com/office/drawing/2014/main" id="{CDD206FB-BB07-41C2-99D7-126E91D1D623}"/>
              </a:ext>
            </a:extLst>
          </p:cNvPr>
          <p:cNvSpPr>
            <a:spLocks noGrp="1"/>
          </p:cNvSpPr>
          <p:nvPr/>
        </p:nvSpPr>
        <p:spPr>
          <a:xfrm>
            <a:off x="609600" y="2571750"/>
            <a:ext cx="2143125" cy="285750"/>
          </a:xfrm>
          <a:prstGeom prst="rect">
            <a:avLst/>
          </a:prstGeom>
          <a:noFill/>
          <a:ln w="0">
            <a:noFill/>
            <a:prstDash val="solid"/>
          </a:ln>
        </p:spPr>
        <p:txBody>
          <a:bodyPr wrap="square" anchor="t">
            <a:normAutofit fontScale="94444" lnSpcReduction="10000"/>
          </a:bodyPr>
          <a:lstStyle/>
          <a:p>
            <a:pPr algn="l">
              <a:buNone/>
              <a:defRPr sz="1350" b="1">
                <a:solidFill>
                  <a:srgbClr val="3D8DFF"/>
                </a:solidFill>
                <a:latin typeface="Arial"/>
                <a:ea typeface="Arial"/>
                <a:cs typeface="Arial"/>
              </a:defRPr>
            </a:pPr>
            <a:r>
              <a:rPr sz="1350" b="1">
                <a:solidFill>
                  <a:srgbClr val="3D8DFF"/>
                </a:solidFill>
                <a:latin typeface="Arial"/>
                <a:ea typeface="Arial"/>
                <a:cs typeface="Arial"/>
              </a:rPr>
              <a:t>WHY PHP?</a:t>
            </a:r>
          </a:p>
        </p:txBody>
      </p:sp>
      <p:sp>
        <p:nvSpPr>
          <p:cNvPr id="7" name="Rectangle 6">
            <a:extLst>
              <a:ext uri="{FF2B5EF4-FFF2-40B4-BE49-F238E27FC236}">
                <a16:creationId xmlns:a16="http://schemas.microsoft.com/office/drawing/2014/main" id="{FE9D5072-DE80-4C00-8072-B7CE5C40A446}"/>
              </a:ext>
            </a:extLst>
          </p:cNvPr>
          <p:cNvSpPr>
            <a:spLocks noGrp="1"/>
          </p:cNvSpPr>
          <p:nvPr/>
        </p:nvSpPr>
        <p:spPr>
          <a:xfrm>
            <a:off x="609600" y="3143250"/>
            <a:ext cx="2143125" cy="904875"/>
          </a:xfrm>
          <a:prstGeom prst="rect">
            <a:avLst/>
          </a:prstGeom>
          <a:noFill/>
          <a:ln w="0">
            <a:noFill/>
            <a:prstDash val="solid"/>
          </a:ln>
        </p:spPr>
        <p:txBody>
          <a:bodyPr wrap="square" anchor="t">
            <a:normAutofit/>
          </a:bodyPr>
          <a:lstStyle/>
          <a:p>
            <a:pPr algn="l">
              <a:buNone/>
              <a:defRPr sz="1650" b="1">
                <a:solidFill>
                  <a:srgbClr val="111111"/>
                </a:solidFill>
                <a:latin typeface="Arial"/>
                <a:ea typeface="Arial"/>
                <a:cs typeface="Arial"/>
              </a:defRPr>
            </a:pPr>
            <a:r>
              <a:rPr sz="1650" b="1">
                <a:solidFill>
                  <a:srgbClr val="111111"/>
                </a:solidFill>
                <a:latin typeface="Arial"/>
                <a:ea typeface="Arial"/>
                <a:cs typeface="Arial"/>
              </a:rPr>
              <a:t>To make pages respond to users, data and actions</a:t>
            </a:r>
          </a:p>
        </p:txBody>
      </p:sp>
      <p:sp>
        <p:nvSpPr>
          <p:cNvPr id="8" name="Rectangle 7">
            <a:extLst>
              <a:ext uri="{FF2B5EF4-FFF2-40B4-BE49-F238E27FC236}">
                <a16:creationId xmlns:a16="http://schemas.microsoft.com/office/drawing/2014/main" id="{EE7B2BBC-8B86-4562-98B0-D3984D750D93}"/>
              </a:ext>
            </a:extLst>
          </p:cNvPr>
          <p:cNvSpPr>
            <a:spLocks noGrp="1"/>
          </p:cNvSpPr>
          <p:nvPr/>
        </p:nvSpPr>
        <p:spPr>
          <a:xfrm>
            <a:off x="3248025" y="2333625"/>
            <a:ext cx="2571750" cy="2190750"/>
          </a:xfrm>
          <a:prstGeom prst="rect">
            <a:avLst/>
          </a:prstGeom>
          <a:solidFill>
            <a:srgbClr val="DFF3FC"/>
          </a:solidFill>
          <a:ln w="0">
            <a:noFill/>
            <a:prstDash val="solid"/>
          </a:ln>
        </p:spPr>
        <p:txBody>
          <a:bodyPr/>
          <a:lstStyle/>
          <a:p>
            <a:endParaRPr/>
          </a:p>
        </p:txBody>
      </p:sp>
      <p:sp>
        <p:nvSpPr>
          <p:cNvPr id="9" name="Rectangle 8">
            <a:extLst>
              <a:ext uri="{FF2B5EF4-FFF2-40B4-BE49-F238E27FC236}">
                <a16:creationId xmlns:a16="http://schemas.microsoft.com/office/drawing/2014/main" id="{F995DB68-E1D5-490D-990D-4CF7964E5FF8}"/>
              </a:ext>
            </a:extLst>
          </p:cNvPr>
          <p:cNvSpPr>
            <a:spLocks noGrp="1"/>
          </p:cNvSpPr>
          <p:nvPr/>
        </p:nvSpPr>
        <p:spPr>
          <a:xfrm>
            <a:off x="3457575" y="2571750"/>
            <a:ext cx="2143125" cy="285750"/>
          </a:xfrm>
          <a:prstGeom prst="rect">
            <a:avLst/>
          </a:prstGeom>
          <a:noFill/>
          <a:ln w="0">
            <a:noFill/>
            <a:prstDash val="solid"/>
          </a:ln>
        </p:spPr>
        <p:txBody>
          <a:bodyPr wrap="square" anchor="t">
            <a:normAutofit fontScale="94444" lnSpcReduction="10000"/>
          </a:bodyPr>
          <a:lstStyle/>
          <a:p>
            <a:pPr algn="l">
              <a:buNone/>
              <a:defRPr sz="1350" b="1">
                <a:solidFill>
                  <a:srgbClr val="3D8DFF"/>
                </a:solidFill>
                <a:latin typeface="Arial"/>
                <a:ea typeface="Arial"/>
                <a:cs typeface="Arial"/>
              </a:defRPr>
            </a:pPr>
            <a:r>
              <a:rPr sz="1350" b="1">
                <a:solidFill>
                  <a:srgbClr val="3D8DFF"/>
                </a:solidFill>
                <a:latin typeface="Arial"/>
                <a:ea typeface="Arial"/>
                <a:cs typeface="Arial"/>
              </a:rPr>
              <a:t>ALL PAGES?</a:t>
            </a:r>
          </a:p>
        </p:txBody>
      </p:sp>
      <p:sp>
        <p:nvSpPr>
          <p:cNvPr id="10" name="Rectangle 9">
            <a:extLst>
              <a:ext uri="{FF2B5EF4-FFF2-40B4-BE49-F238E27FC236}">
                <a16:creationId xmlns:a16="http://schemas.microsoft.com/office/drawing/2014/main" id="{BD88040A-5B54-435B-BAB4-9A0B1304C01A}"/>
              </a:ext>
            </a:extLst>
          </p:cNvPr>
          <p:cNvSpPr>
            <a:spLocks noGrp="1"/>
          </p:cNvSpPr>
          <p:nvPr/>
        </p:nvSpPr>
        <p:spPr>
          <a:xfrm>
            <a:off x="3457575" y="3143250"/>
            <a:ext cx="2143125" cy="904875"/>
          </a:xfrm>
          <a:prstGeom prst="rect">
            <a:avLst/>
          </a:prstGeom>
          <a:noFill/>
          <a:ln w="0">
            <a:noFill/>
            <a:prstDash val="solid"/>
          </a:ln>
        </p:spPr>
        <p:txBody>
          <a:bodyPr wrap="square" anchor="t">
            <a:normAutofit/>
          </a:bodyPr>
          <a:lstStyle/>
          <a:p>
            <a:pPr algn="l">
              <a:buNone/>
              <a:defRPr sz="1650" b="1">
                <a:solidFill>
                  <a:srgbClr val="111111"/>
                </a:solidFill>
                <a:latin typeface="Arial"/>
                <a:ea typeface="Arial"/>
                <a:cs typeface="Arial"/>
              </a:defRPr>
            </a:pPr>
            <a:r>
              <a:rPr sz="1650" b="1">
                <a:solidFill>
                  <a:srgbClr val="111111"/>
                </a:solidFill>
                <a:latin typeface="Arial"/>
                <a:ea typeface="Arial"/>
                <a:cs typeface="Arial"/>
              </a:rPr>
              <a:t>No. Static pages can use HTML and CSS alone</a:t>
            </a:r>
          </a:p>
        </p:txBody>
      </p:sp>
      <p:sp>
        <p:nvSpPr>
          <p:cNvPr id="11" name="Rectangle 10">
            <a:extLst>
              <a:ext uri="{FF2B5EF4-FFF2-40B4-BE49-F238E27FC236}">
                <a16:creationId xmlns:a16="http://schemas.microsoft.com/office/drawing/2014/main" id="{28EEF73F-9BFE-4017-BD46-35E5F83BC35F}"/>
              </a:ext>
            </a:extLst>
          </p:cNvPr>
          <p:cNvSpPr>
            <a:spLocks noGrp="1"/>
          </p:cNvSpPr>
          <p:nvPr/>
        </p:nvSpPr>
        <p:spPr>
          <a:xfrm>
            <a:off x="6096000" y="2333625"/>
            <a:ext cx="2571750" cy="2190750"/>
          </a:xfrm>
          <a:prstGeom prst="rect">
            <a:avLst/>
          </a:prstGeom>
          <a:solidFill>
            <a:srgbClr val="EDEDED"/>
          </a:solidFill>
          <a:ln w="0">
            <a:noFill/>
            <a:prstDash val="solid"/>
          </a:ln>
        </p:spPr>
        <p:txBody>
          <a:bodyPr/>
          <a:lstStyle/>
          <a:p>
            <a:endParaRPr/>
          </a:p>
        </p:txBody>
      </p:sp>
      <p:sp>
        <p:nvSpPr>
          <p:cNvPr id="12" name="Rectangle 11">
            <a:extLst>
              <a:ext uri="{FF2B5EF4-FFF2-40B4-BE49-F238E27FC236}">
                <a16:creationId xmlns:a16="http://schemas.microsoft.com/office/drawing/2014/main" id="{9E1DA555-6957-412E-A67C-5EFE1E779D0E}"/>
              </a:ext>
            </a:extLst>
          </p:cNvPr>
          <p:cNvSpPr>
            <a:spLocks noGrp="1"/>
          </p:cNvSpPr>
          <p:nvPr/>
        </p:nvSpPr>
        <p:spPr>
          <a:xfrm>
            <a:off x="6305550" y="2571750"/>
            <a:ext cx="2143125" cy="285750"/>
          </a:xfrm>
          <a:prstGeom prst="rect">
            <a:avLst/>
          </a:prstGeom>
          <a:noFill/>
          <a:ln w="0">
            <a:noFill/>
            <a:prstDash val="solid"/>
          </a:ln>
        </p:spPr>
        <p:txBody>
          <a:bodyPr wrap="square" anchor="t">
            <a:normAutofit fontScale="94444" lnSpcReduction="10000"/>
          </a:bodyPr>
          <a:lstStyle/>
          <a:p>
            <a:pPr algn="l">
              <a:buNone/>
              <a:defRPr sz="1350" b="1">
                <a:solidFill>
                  <a:srgbClr val="3D8DFF"/>
                </a:solidFill>
                <a:latin typeface="Arial"/>
                <a:ea typeface="Arial"/>
                <a:cs typeface="Arial"/>
              </a:defRPr>
            </a:pPr>
            <a:r>
              <a:rPr sz="1350" b="1">
                <a:solidFill>
                  <a:srgbClr val="3D8DFF"/>
                </a:solidFill>
                <a:latin typeface="Arial"/>
                <a:ea typeface="Arial"/>
                <a:cs typeface="Arial"/>
              </a:rPr>
              <a:t>WHERE?</a:t>
            </a:r>
          </a:p>
        </p:txBody>
      </p:sp>
      <p:sp>
        <p:nvSpPr>
          <p:cNvPr id="13" name="Rectangle 12">
            <a:extLst>
              <a:ext uri="{FF2B5EF4-FFF2-40B4-BE49-F238E27FC236}">
                <a16:creationId xmlns:a16="http://schemas.microsoft.com/office/drawing/2014/main" id="{60EE2FE9-DCD6-4352-B22A-91362E01A4FC}"/>
              </a:ext>
            </a:extLst>
          </p:cNvPr>
          <p:cNvSpPr>
            <a:spLocks noGrp="1"/>
          </p:cNvSpPr>
          <p:nvPr/>
        </p:nvSpPr>
        <p:spPr>
          <a:xfrm>
            <a:off x="6305550" y="3143250"/>
            <a:ext cx="2143125" cy="904875"/>
          </a:xfrm>
          <a:prstGeom prst="rect">
            <a:avLst/>
          </a:prstGeom>
          <a:noFill/>
          <a:ln w="0">
            <a:noFill/>
            <a:prstDash val="solid"/>
          </a:ln>
        </p:spPr>
        <p:txBody>
          <a:bodyPr wrap="square" anchor="t">
            <a:normAutofit fontScale="97443"/>
          </a:bodyPr>
          <a:lstStyle/>
          <a:p>
            <a:pPr algn="l">
              <a:buNone/>
              <a:defRPr sz="1650" b="1">
                <a:solidFill>
                  <a:srgbClr val="111111"/>
                </a:solidFill>
                <a:latin typeface="Arial"/>
                <a:ea typeface="Arial"/>
                <a:cs typeface="Arial"/>
              </a:defRPr>
            </a:pPr>
            <a:r>
              <a:rPr sz="1650" b="1">
                <a:solidFill>
                  <a:srgbClr val="111111"/>
                </a:solidFill>
                <a:latin typeface="Arial"/>
                <a:ea typeface="Arial"/>
                <a:cs typeface="Arial"/>
              </a:rPr>
              <a:t>The server executes PHP; the browser gets its result</a:t>
            </a:r>
          </a:p>
        </p:txBody>
      </p:sp>
      <p:sp>
        <p:nvSpPr>
          <p:cNvPr id="14" name="Rectangle 13">
            <a:extLst>
              <a:ext uri="{FF2B5EF4-FFF2-40B4-BE49-F238E27FC236}">
                <a16:creationId xmlns:a16="http://schemas.microsoft.com/office/drawing/2014/main" id="{3E642E0D-C7AF-40B8-B54A-FF0CA043708E}"/>
              </a:ext>
            </a:extLst>
          </p:cNvPr>
          <p:cNvSpPr>
            <a:spLocks noGrp="1"/>
          </p:cNvSpPr>
          <p:nvPr/>
        </p:nvSpPr>
        <p:spPr>
          <a:xfrm>
            <a:off x="8943975" y="2333625"/>
            <a:ext cx="2571750" cy="2190750"/>
          </a:xfrm>
          <a:prstGeom prst="rect">
            <a:avLst/>
          </a:prstGeom>
          <a:solidFill>
            <a:srgbClr val="EDEDED"/>
          </a:solidFill>
          <a:ln w="0">
            <a:noFill/>
            <a:prstDash val="solid"/>
          </a:ln>
        </p:spPr>
        <p:txBody>
          <a:bodyPr/>
          <a:lstStyle/>
          <a:p>
            <a:endParaRPr/>
          </a:p>
        </p:txBody>
      </p:sp>
      <p:sp>
        <p:nvSpPr>
          <p:cNvPr id="15" name="Rectangle 14">
            <a:extLst>
              <a:ext uri="{FF2B5EF4-FFF2-40B4-BE49-F238E27FC236}">
                <a16:creationId xmlns:a16="http://schemas.microsoft.com/office/drawing/2014/main" id="{D6FDFB60-0D33-49DD-B591-F3F19501A95F}"/>
              </a:ext>
            </a:extLst>
          </p:cNvPr>
          <p:cNvSpPr>
            <a:spLocks noGrp="1"/>
          </p:cNvSpPr>
          <p:nvPr/>
        </p:nvSpPr>
        <p:spPr>
          <a:xfrm>
            <a:off x="9153525" y="2571750"/>
            <a:ext cx="2143125" cy="285750"/>
          </a:xfrm>
          <a:prstGeom prst="rect">
            <a:avLst/>
          </a:prstGeom>
          <a:noFill/>
          <a:ln w="0">
            <a:noFill/>
            <a:prstDash val="solid"/>
          </a:ln>
        </p:spPr>
        <p:txBody>
          <a:bodyPr wrap="square" anchor="t">
            <a:normAutofit fontScale="94444" lnSpcReduction="10000"/>
          </a:bodyPr>
          <a:lstStyle/>
          <a:p>
            <a:pPr algn="l">
              <a:buNone/>
              <a:defRPr sz="1350" b="1">
                <a:solidFill>
                  <a:srgbClr val="3D8DFF"/>
                </a:solidFill>
                <a:latin typeface="Arial"/>
                <a:ea typeface="Arial"/>
                <a:cs typeface="Arial"/>
              </a:defRPr>
            </a:pPr>
            <a:r>
              <a:rPr sz="1350" b="1">
                <a:solidFill>
                  <a:srgbClr val="3D8DFF"/>
                </a:solidFill>
                <a:latin typeface="Arial"/>
                <a:ea typeface="Arial"/>
                <a:cs typeface="Arial"/>
              </a:rPr>
              <a:t>WHAT DOES IT DO?</a:t>
            </a:r>
          </a:p>
        </p:txBody>
      </p:sp>
      <p:sp>
        <p:nvSpPr>
          <p:cNvPr id="16" name="Rectangle 15">
            <a:extLst>
              <a:ext uri="{FF2B5EF4-FFF2-40B4-BE49-F238E27FC236}">
                <a16:creationId xmlns:a16="http://schemas.microsoft.com/office/drawing/2014/main" id="{4D3AE3A5-91D1-4F45-AA8E-8D5C5AC34057}"/>
              </a:ext>
            </a:extLst>
          </p:cNvPr>
          <p:cNvSpPr>
            <a:spLocks noGrp="1"/>
          </p:cNvSpPr>
          <p:nvPr/>
        </p:nvSpPr>
        <p:spPr>
          <a:xfrm>
            <a:off x="9153525" y="3143250"/>
            <a:ext cx="2143125" cy="904875"/>
          </a:xfrm>
          <a:prstGeom prst="rect">
            <a:avLst/>
          </a:prstGeom>
          <a:noFill/>
          <a:ln w="0">
            <a:noFill/>
            <a:prstDash val="solid"/>
          </a:ln>
        </p:spPr>
        <p:txBody>
          <a:bodyPr wrap="square" anchor="t">
            <a:normAutofit fontScale="88748" lnSpcReduction="20000"/>
          </a:bodyPr>
          <a:lstStyle/>
          <a:p>
            <a:pPr algn="l">
              <a:buNone/>
              <a:defRPr sz="1650" b="1">
                <a:solidFill>
                  <a:srgbClr val="111111"/>
                </a:solidFill>
                <a:latin typeface="Arial"/>
                <a:ea typeface="Arial"/>
                <a:cs typeface="Arial"/>
              </a:defRPr>
            </a:pPr>
            <a:r>
              <a:rPr sz="1650" b="1">
                <a:solidFill>
                  <a:srgbClr val="111111"/>
                </a:solidFill>
                <a:latin typeface="Arial"/>
                <a:ea typeface="Arial"/>
                <a:cs typeface="Arial"/>
              </a:rPr>
              <a:t>checks access, processes input, uses APIs/data, builds output</a:t>
            </a:r>
          </a:p>
        </p:txBody>
      </p:sp>
      <p:sp>
        <p:nvSpPr>
          <p:cNvPr id="17" name="Rectangle 16">
            <a:extLst>
              <a:ext uri="{FF2B5EF4-FFF2-40B4-BE49-F238E27FC236}">
                <a16:creationId xmlns:a16="http://schemas.microsoft.com/office/drawing/2014/main" id="{8F11CC79-592B-45A5-BDAB-30E55B3A7865}"/>
              </a:ext>
            </a:extLst>
          </p:cNvPr>
          <p:cNvSpPr>
            <a:spLocks noGrp="1"/>
          </p:cNvSpPr>
          <p:nvPr/>
        </p:nvSpPr>
        <p:spPr>
          <a:xfrm>
            <a:off x="400050" y="5095875"/>
            <a:ext cx="11049000" cy="619125"/>
          </a:xfrm>
          <a:prstGeom prst="rect">
            <a:avLst/>
          </a:prstGeom>
          <a:noFill/>
          <a:ln w="0">
            <a:noFill/>
            <a:prstDash val="solid"/>
          </a:ln>
        </p:spPr>
        <p:txBody>
          <a:bodyPr wrap="square" anchor="t">
            <a:normAutofit/>
          </a:bodyPr>
          <a:lstStyle/>
          <a:p>
            <a:pPr algn="l">
              <a:buNone/>
              <a:defRPr sz="1725" b="1">
                <a:solidFill>
                  <a:srgbClr val="111111"/>
                </a:solidFill>
                <a:latin typeface="Arial"/>
                <a:ea typeface="Arial"/>
                <a:cs typeface="Arial"/>
              </a:defRPr>
            </a:pPr>
            <a:r>
              <a:rPr sz="1725" b="1">
                <a:solidFill>
                  <a:srgbClr val="111111"/>
                </a:solidFill>
                <a:latin typeface="Arial"/>
                <a:ea typeface="Arial"/>
                <a:cs typeface="Arial"/>
              </a:rPr>
              <a:t>PHP is Moodle’s server-side worker: it turns a request into the correct page or response for that user.</a:t>
            </a:r>
          </a:p>
        </p:txBody>
      </p:sp>
    </p:spTree>
    <p:extLst>
      <p:ext uri="{BB962C8B-B14F-4D97-AF65-F5344CB8AC3E}">
        <p14:creationId xmlns:p14="http://schemas.microsoft.com/office/powerpoint/2010/main" val="1141070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F303350-81BF-46C0-ACE1-A06153AA9C6E}"/>
              </a:ext>
            </a:extLst>
          </p:cNvPr>
          <p:cNvSpPr>
            <a:spLocks noGrp="1"/>
          </p:cNvSpPr>
          <p:nvPr/>
        </p:nvSpPr>
        <p:spPr>
          <a:xfrm>
            <a:off x="400050" y="266700"/>
            <a:ext cx="4000500" cy="285750"/>
          </a:xfrm>
          <a:prstGeom prst="rect">
            <a:avLst/>
          </a:prstGeom>
          <a:noFill/>
          <a:ln w="0">
            <a:noFill/>
            <a:prstDash val="solid"/>
          </a:ln>
        </p:spPr>
        <p:txBody>
          <a:bodyPr wrap="square" anchor="t">
            <a:norm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QUESTION 2 • ANSWER</a:t>
            </a:r>
          </a:p>
        </p:txBody>
      </p:sp>
      <p:sp>
        <p:nvSpPr>
          <p:cNvPr id="2" name="Rectangle 1">
            <a:extLst>
              <a:ext uri="{FF2B5EF4-FFF2-40B4-BE49-F238E27FC236}">
                <a16:creationId xmlns:a16="http://schemas.microsoft.com/office/drawing/2014/main" id="{D782E656-AFB5-4BA9-B931-98CAE8947C0E}"/>
              </a:ext>
            </a:extLst>
          </p:cNvPr>
          <p:cNvSpPr>
            <a:spLocks noGrp="1"/>
          </p:cNvSpPr>
          <p:nvPr/>
        </p:nvSpPr>
        <p:spPr>
          <a:xfrm>
            <a:off x="400050" y="619125"/>
            <a:ext cx="11144250" cy="666750"/>
          </a:xfrm>
          <a:prstGeom prst="rect">
            <a:avLst/>
          </a:prstGeom>
          <a:noFill/>
          <a:ln w="0">
            <a:noFill/>
            <a:prstDash val="solid"/>
          </a:ln>
        </p:spPr>
        <p:txBody>
          <a:bodyPr wrap="square" anchor="t">
            <a:normAutofit/>
          </a:bodyPr>
          <a:lstStyle/>
          <a:p>
            <a:pPr algn="l">
              <a:buNone/>
              <a:defRPr sz="2850" b="1">
                <a:solidFill>
                  <a:srgbClr val="111111"/>
                </a:solidFill>
                <a:latin typeface="Arial"/>
                <a:ea typeface="Arial"/>
                <a:cs typeface="Arial"/>
              </a:defRPr>
            </a:pPr>
            <a:r>
              <a:rPr sz="2850" b="1">
                <a:solidFill>
                  <a:srgbClr val="111111"/>
                </a:solidFill>
                <a:latin typeface="Arial"/>
                <a:ea typeface="Arial"/>
                <a:cs typeface="Arial"/>
              </a:rPr>
              <a:t>Four essential programming concepts</a:t>
            </a:r>
          </a:p>
        </p:txBody>
      </p:sp>
      <p:sp>
        <p:nvSpPr>
          <p:cNvPr id="3" name="Rectangle 2">
            <a:extLst>
              <a:ext uri="{FF2B5EF4-FFF2-40B4-BE49-F238E27FC236}">
                <a16:creationId xmlns:a16="http://schemas.microsoft.com/office/drawing/2014/main" id="{F3AEA724-0FF6-4B3D-BA4B-D54A21350ECF}"/>
              </a:ext>
            </a:extLst>
          </p:cNvPr>
          <p:cNvSpPr>
            <a:spLocks noGrp="1"/>
          </p:cNvSpPr>
          <p:nvPr/>
        </p:nvSpPr>
        <p:spPr>
          <a:xfrm>
            <a:off x="400050" y="1352550"/>
            <a:ext cx="11391900" cy="19050"/>
          </a:xfrm>
          <a:prstGeom prst="rect">
            <a:avLst/>
          </a:prstGeom>
          <a:solidFill>
            <a:srgbClr val="B8BCC4"/>
          </a:solidFill>
          <a:ln w="0">
            <a:noFill/>
            <a:prstDash val="solid"/>
          </a:ln>
        </p:spPr>
        <p:txBody>
          <a:bodyPr/>
          <a:lstStyle/>
          <a:p>
            <a:endParaRPr/>
          </a:p>
        </p:txBody>
      </p:sp>
      <p:sp>
        <p:nvSpPr>
          <p:cNvPr id="4" name="Rectangle 3">
            <a:extLst>
              <a:ext uri="{FF2B5EF4-FFF2-40B4-BE49-F238E27FC236}">
                <a16:creationId xmlns:a16="http://schemas.microsoft.com/office/drawing/2014/main" id="{D45DB79F-C4BE-40CB-ABE5-7D096B47D6DC}"/>
              </a:ext>
            </a:extLst>
          </p:cNvPr>
          <p:cNvSpPr>
            <a:spLocks noGrp="1"/>
          </p:cNvSpPr>
          <p:nvPr/>
        </p:nvSpPr>
        <p:spPr>
          <a:xfrm>
            <a:off x="11191875" y="6343650"/>
            <a:ext cx="590550" cy="228600"/>
          </a:xfrm>
          <a:prstGeom prst="rect">
            <a:avLst/>
          </a:prstGeom>
          <a:noFill/>
          <a:ln w="0">
            <a:noFill/>
            <a:prstDash val="solid"/>
          </a:ln>
        </p:spPr>
        <p:txBody>
          <a:bodyPr wrap="square" anchor="t">
            <a:normAutofit fontScale="93214" lnSpcReduction="10000"/>
          </a:bodyPr>
          <a:lstStyle/>
          <a:p>
            <a:pPr algn="r">
              <a:buNone/>
              <a:defRPr sz="1050" b="0">
                <a:solidFill>
                  <a:srgbClr val="59616C"/>
                </a:solidFill>
                <a:latin typeface="Arial"/>
                <a:ea typeface="Arial"/>
                <a:cs typeface="Arial"/>
              </a:defRPr>
            </a:pPr>
            <a:r>
              <a:rPr sz="1050" b="0">
                <a:solidFill>
                  <a:srgbClr val="59616C"/>
                </a:solidFill>
                <a:latin typeface="Arial"/>
                <a:ea typeface="Arial"/>
                <a:cs typeface="Arial"/>
              </a:rPr>
              <a:t>16</a:t>
            </a:r>
          </a:p>
        </p:txBody>
      </p:sp>
      <p:sp>
        <p:nvSpPr>
          <p:cNvPr id="5" name="Rectangle 4">
            <a:extLst>
              <a:ext uri="{FF2B5EF4-FFF2-40B4-BE49-F238E27FC236}">
                <a16:creationId xmlns:a16="http://schemas.microsoft.com/office/drawing/2014/main" id="{A9B19B63-B9C1-4505-BB04-4946EDF7B2A9}"/>
              </a:ext>
            </a:extLst>
          </p:cNvPr>
          <p:cNvSpPr>
            <a:spLocks noGrp="1"/>
          </p:cNvSpPr>
          <p:nvPr/>
        </p:nvSpPr>
        <p:spPr>
          <a:xfrm>
            <a:off x="400050" y="1714500"/>
            <a:ext cx="5429250" cy="1809750"/>
          </a:xfrm>
          <a:prstGeom prst="rect">
            <a:avLst/>
          </a:prstGeom>
          <a:solidFill>
            <a:srgbClr val="DFF3FC"/>
          </a:solidFill>
          <a:ln w="0">
            <a:noFill/>
            <a:prstDash val="solid"/>
          </a:ln>
        </p:spPr>
        <p:txBody>
          <a:bodyPr/>
          <a:lstStyle/>
          <a:p>
            <a:endParaRPr/>
          </a:p>
        </p:txBody>
      </p:sp>
      <p:sp>
        <p:nvSpPr>
          <p:cNvPr id="6" name="Rectangle 5">
            <a:extLst>
              <a:ext uri="{FF2B5EF4-FFF2-40B4-BE49-F238E27FC236}">
                <a16:creationId xmlns:a16="http://schemas.microsoft.com/office/drawing/2014/main" id="{42D39CD7-4311-4A63-9366-667D1292FF82}"/>
              </a:ext>
            </a:extLst>
          </p:cNvPr>
          <p:cNvSpPr>
            <a:spLocks noGrp="1"/>
          </p:cNvSpPr>
          <p:nvPr/>
        </p:nvSpPr>
        <p:spPr>
          <a:xfrm>
            <a:off x="609600" y="1885950"/>
            <a:ext cx="4953000" cy="304800"/>
          </a:xfrm>
          <a:prstGeom prst="rect">
            <a:avLst/>
          </a:prstGeom>
          <a:noFill/>
          <a:ln w="0">
            <a:noFill/>
            <a:prstDash val="solid"/>
          </a:ln>
        </p:spPr>
        <p:txBody>
          <a:bodyPr wrap="square" anchor="t">
            <a:normAutofit fontScale="88659" lnSpcReduction="10000"/>
          </a:bodyPr>
          <a:lstStyle/>
          <a:p>
            <a:pPr algn="l">
              <a:buNone/>
              <a:defRPr sz="1725" b="1">
                <a:solidFill>
                  <a:srgbClr val="3D8DFF"/>
                </a:solidFill>
                <a:latin typeface="Arial"/>
                <a:ea typeface="Arial"/>
                <a:cs typeface="Arial"/>
              </a:defRPr>
            </a:pPr>
            <a:r>
              <a:rPr sz="1725" b="1">
                <a:solidFill>
                  <a:srgbClr val="3D8DFF"/>
                </a:solidFill>
                <a:latin typeface="Arial"/>
                <a:ea typeface="Arial"/>
                <a:cs typeface="Arial"/>
              </a:rPr>
              <a:t>Variables &amp; constants</a:t>
            </a:r>
          </a:p>
        </p:txBody>
      </p:sp>
      <p:sp>
        <p:nvSpPr>
          <p:cNvPr id="7" name="Rectangle 6">
            <a:extLst>
              <a:ext uri="{FF2B5EF4-FFF2-40B4-BE49-F238E27FC236}">
                <a16:creationId xmlns:a16="http://schemas.microsoft.com/office/drawing/2014/main" id="{1E0C3216-1F7E-41E5-9F70-7BB40C26B0D9}"/>
              </a:ext>
            </a:extLst>
          </p:cNvPr>
          <p:cNvSpPr>
            <a:spLocks noGrp="1"/>
          </p:cNvSpPr>
          <p:nvPr/>
        </p:nvSpPr>
        <p:spPr>
          <a:xfrm>
            <a:off x="609600" y="2305050"/>
            <a:ext cx="4953000" cy="266700"/>
          </a:xfrm>
          <a:prstGeom prst="rect">
            <a:avLst/>
          </a:prstGeom>
          <a:noFill/>
          <a:ln w="0">
            <a:noFill/>
            <a:prstDash val="solid"/>
          </a:ln>
        </p:spPr>
        <p:txBody>
          <a:bodyPr wrap="square" anchor="t">
            <a:normAutofit fontScale="85185"/>
          </a:bodyPr>
          <a:lstStyle/>
          <a:p>
            <a:pPr algn="l">
              <a:buNone/>
              <a:defRPr sz="1350" b="0">
                <a:solidFill>
                  <a:srgbClr val="59616C"/>
                </a:solidFill>
                <a:latin typeface="Arial"/>
                <a:ea typeface="Arial"/>
                <a:cs typeface="Arial"/>
              </a:defRPr>
            </a:pPr>
            <a:r>
              <a:rPr sz="1350" b="0">
                <a:solidFill>
                  <a:srgbClr val="59616C"/>
                </a:solidFill>
                <a:latin typeface="Arial"/>
                <a:ea typeface="Arial"/>
                <a:cs typeface="Arial"/>
              </a:rPr>
              <a:t>Named values</a:t>
            </a:r>
          </a:p>
        </p:txBody>
      </p:sp>
      <p:sp>
        <p:nvSpPr>
          <p:cNvPr id="8" name="Rectangle 7">
            <a:extLst>
              <a:ext uri="{FF2B5EF4-FFF2-40B4-BE49-F238E27FC236}">
                <a16:creationId xmlns:a16="http://schemas.microsoft.com/office/drawing/2014/main" id="{2AC57E2F-A6C1-45CB-B795-BB0C81487B2B}"/>
              </a:ext>
            </a:extLst>
          </p:cNvPr>
          <p:cNvSpPr>
            <a:spLocks noGrp="1"/>
          </p:cNvSpPr>
          <p:nvPr/>
        </p:nvSpPr>
        <p:spPr>
          <a:xfrm>
            <a:off x="609600" y="2743200"/>
            <a:ext cx="4953000" cy="552450"/>
          </a:xfrm>
          <a:prstGeom prst="rect">
            <a:avLst/>
          </a:prstGeom>
          <a:noFill/>
          <a:ln w="0">
            <a:noFill/>
            <a:prstDash val="solid"/>
          </a:ln>
        </p:spPr>
        <p:txBody>
          <a:bodyPr wrap="square" anchor="t">
            <a:normAutofit/>
          </a:bodyPr>
          <a:lstStyle/>
          <a:p>
            <a:pPr algn="l">
              <a:buNone/>
              <a:defRPr sz="1350" b="1">
                <a:solidFill>
                  <a:srgbClr val="111111"/>
                </a:solidFill>
                <a:latin typeface="Courier New"/>
                <a:ea typeface="Courier New"/>
                <a:cs typeface="Courier New"/>
              </a:defRPr>
            </a:pPr>
            <a:r>
              <a:rPr sz="1350" b="1">
                <a:solidFill>
                  <a:srgbClr val="111111"/>
                </a:solidFill>
                <a:latin typeface="Courier New"/>
                <a:ea typeface="Courier New"/>
                <a:cs typeface="Courier New"/>
              </a:rPr>
              <a:t>$name = 'Ana';</a:t>
            </a:r>
          </a:p>
          <a:p>
            <a:pPr algn="l">
              <a:buNone/>
              <a:defRPr sz="1350" b="1">
                <a:solidFill>
                  <a:srgbClr val="111111"/>
                </a:solidFill>
                <a:latin typeface="Courier New"/>
                <a:ea typeface="Courier New"/>
                <a:cs typeface="Courier New"/>
              </a:defRPr>
            </a:pPr>
            <a:r>
              <a:rPr sz="1350" b="1">
                <a:solidFill>
                  <a:srgbClr val="111111"/>
                </a:solidFill>
                <a:latin typeface="Courier New"/>
                <a:ea typeface="Courier New"/>
                <a:cs typeface="Courier New"/>
              </a:rPr>
              <a:t>const LIMIT = 10;</a:t>
            </a:r>
          </a:p>
        </p:txBody>
      </p:sp>
      <p:sp>
        <p:nvSpPr>
          <p:cNvPr id="9" name="Rectangle 8">
            <a:extLst>
              <a:ext uri="{FF2B5EF4-FFF2-40B4-BE49-F238E27FC236}">
                <a16:creationId xmlns:a16="http://schemas.microsoft.com/office/drawing/2014/main" id="{C25625A2-A6CB-4A63-8F57-7B9B6E5A40D0}"/>
              </a:ext>
            </a:extLst>
          </p:cNvPr>
          <p:cNvSpPr>
            <a:spLocks noGrp="1"/>
          </p:cNvSpPr>
          <p:nvPr/>
        </p:nvSpPr>
        <p:spPr>
          <a:xfrm>
            <a:off x="6096000" y="1714500"/>
            <a:ext cx="5429250" cy="1809750"/>
          </a:xfrm>
          <a:prstGeom prst="rect">
            <a:avLst/>
          </a:prstGeom>
          <a:solidFill>
            <a:srgbClr val="EDEDED"/>
          </a:solidFill>
          <a:ln w="0">
            <a:noFill/>
            <a:prstDash val="solid"/>
          </a:ln>
        </p:spPr>
        <p:txBody>
          <a:bodyPr/>
          <a:lstStyle/>
          <a:p>
            <a:endParaRPr/>
          </a:p>
        </p:txBody>
      </p:sp>
      <p:sp>
        <p:nvSpPr>
          <p:cNvPr id="10" name="Rectangle 9">
            <a:extLst>
              <a:ext uri="{FF2B5EF4-FFF2-40B4-BE49-F238E27FC236}">
                <a16:creationId xmlns:a16="http://schemas.microsoft.com/office/drawing/2014/main" id="{754E0D5E-0538-4B8D-9749-5745ED22C049}"/>
              </a:ext>
            </a:extLst>
          </p:cNvPr>
          <p:cNvSpPr>
            <a:spLocks noGrp="1"/>
          </p:cNvSpPr>
          <p:nvPr/>
        </p:nvSpPr>
        <p:spPr>
          <a:xfrm>
            <a:off x="6305550" y="1885950"/>
            <a:ext cx="4953000" cy="304800"/>
          </a:xfrm>
          <a:prstGeom prst="rect">
            <a:avLst/>
          </a:prstGeom>
          <a:noFill/>
          <a:ln w="0">
            <a:noFill/>
            <a:prstDash val="solid"/>
          </a:ln>
        </p:spPr>
        <p:txBody>
          <a:bodyPr wrap="square" anchor="t">
            <a:normAutofit fontScale="88659" lnSpcReduction="10000"/>
          </a:bodyPr>
          <a:lstStyle/>
          <a:p>
            <a:pPr algn="l">
              <a:buNone/>
              <a:defRPr sz="1725" b="1">
                <a:solidFill>
                  <a:srgbClr val="3D8DFF"/>
                </a:solidFill>
                <a:latin typeface="Arial"/>
                <a:ea typeface="Arial"/>
                <a:cs typeface="Arial"/>
              </a:defRPr>
            </a:pPr>
            <a:r>
              <a:rPr sz="1725" b="1">
                <a:solidFill>
                  <a:srgbClr val="3D8DFF"/>
                </a:solidFill>
                <a:latin typeface="Arial"/>
                <a:ea typeface="Arial"/>
                <a:cs typeface="Arial"/>
              </a:rPr>
              <a:t>Decisions</a:t>
            </a:r>
          </a:p>
        </p:txBody>
      </p:sp>
      <p:sp>
        <p:nvSpPr>
          <p:cNvPr id="11" name="Rectangle 10">
            <a:extLst>
              <a:ext uri="{FF2B5EF4-FFF2-40B4-BE49-F238E27FC236}">
                <a16:creationId xmlns:a16="http://schemas.microsoft.com/office/drawing/2014/main" id="{60EA35B5-1664-42B8-97FE-6AF96EC1E3D9}"/>
              </a:ext>
            </a:extLst>
          </p:cNvPr>
          <p:cNvSpPr>
            <a:spLocks noGrp="1"/>
          </p:cNvSpPr>
          <p:nvPr/>
        </p:nvSpPr>
        <p:spPr>
          <a:xfrm>
            <a:off x="6305550" y="2305050"/>
            <a:ext cx="4953000" cy="266700"/>
          </a:xfrm>
          <a:prstGeom prst="rect">
            <a:avLst/>
          </a:prstGeom>
          <a:noFill/>
          <a:ln w="0">
            <a:noFill/>
            <a:prstDash val="solid"/>
          </a:ln>
        </p:spPr>
        <p:txBody>
          <a:bodyPr wrap="square" anchor="t">
            <a:normAutofit fontScale="85185"/>
          </a:bodyPr>
          <a:lstStyle/>
          <a:p>
            <a:pPr algn="l">
              <a:buNone/>
              <a:defRPr sz="1350" b="0">
                <a:solidFill>
                  <a:srgbClr val="59616C"/>
                </a:solidFill>
                <a:latin typeface="Arial"/>
                <a:ea typeface="Arial"/>
                <a:cs typeface="Arial"/>
              </a:defRPr>
            </a:pPr>
            <a:r>
              <a:rPr sz="1350" b="0">
                <a:solidFill>
                  <a:srgbClr val="59616C"/>
                </a:solidFill>
                <a:latin typeface="Arial"/>
                <a:ea typeface="Arial"/>
                <a:cs typeface="Arial"/>
              </a:rPr>
              <a:t>Choose a path</a:t>
            </a:r>
          </a:p>
        </p:txBody>
      </p:sp>
      <p:sp>
        <p:nvSpPr>
          <p:cNvPr id="12" name="Rectangle 11">
            <a:extLst>
              <a:ext uri="{FF2B5EF4-FFF2-40B4-BE49-F238E27FC236}">
                <a16:creationId xmlns:a16="http://schemas.microsoft.com/office/drawing/2014/main" id="{ED820298-F3E3-47B5-8D46-DC7B99F481B8}"/>
              </a:ext>
            </a:extLst>
          </p:cNvPr>
          <p:cNvSpPr>
            <a:spLocks noGrp="1"/>
          </p:cNvSpPr>
          <p:nvPr/>
        </p:nvSpPr>
        <p:spPr>
          <a:xfrm>
            <a:off x="6305550" y="2743200"/>
            <a:ext cx="4953000" cy="552450"/>
          </a:xfrm>
          <a:prstGeom prst="rect">
            <a:avLst/>
          </a:prstGeom>
          <a:noFill/>
          <a:ln w="0">
            <a:noFill/>
            <a:prstDash val="solid"/>
          </a:ln>
        </p:spPr>
        <p:txBody>
          <a:bodyPr wrap="square" anchor="t">
            <a:normAutofit/>
          </a:bodyPr>
          <a:lstStyle/>
          <a:p>
            <a:pPr algn="l">
              <a:buNone/>
              <a:defRPr sz="1350" b="1">
                <a:solidFill>
                  <a:srgbClr val="111111"/>
                </a:solidFill>
                <a:latin typeface="Courier New"/>
                <a:ea typeface="Courier New"/>
                <a:cs typeface="Courier New"/>
              </a:defRPr>
            </a:pPr>
            <a:r>
              <a:rPr sz="1350" b="1">
                <a:solidFill>
                  <a:srgbClr val="111111"/>
                </a:solidFill>
                <a:latin typeface="Courier New"/>
                <a:ea typeface="Courier New"/>
                <a:cs typeface="Courier New"/>
              </a:rPr>
              <a:t>if ($score &gt;= 5) { … }</a:t>
            </a:r>
          </a:p>
        </p:txBody>
      </p:sp>
      <p:sp>
        <p:nvSpPr>
          <p:cNvPr id="13" name="Rectangle 12">
            <a:extLst>
              <a:ext uri="{FF2B5EF4-FFF2-40B4-BE49-F238E27FC236}">
                <a16:creationId xmlns:a16="http://schemas.microsoft.com/office/drawing/2014/main" id="{7A801F3D-C6DB-4B36-9FE0-AA4CBAE4E98A}"/>
              </a:ext>
            </a:extLst>
          </p:cNvPr>
          <p:cNvSpPr>
            <a:spLocks noGrp="1"/>
          </p:cNvSpPr>
          <p:nvPr/>
        </p:nvSpPr>
        <p:spPr>
          <a:xfrm>
            <a:off x="400050" y="3810000"/>
            <a:ext cx="5429250" cy="1809750"/>
          </a:xfrm>
          <a:prstGeom prst="rect">
            <a:avLst/>
          </a:prstGeom>
          <a:solidFill>
            <a:srgbClr val="EDEDED"/>
          </a:solidFill>
          <a:ln w="0">
            <a:noFill/>
            <a:prstDash val="solid"/>
          </a:ln>
        </p:spPr>
        <p:txBody>
          <a:bodyPr/>
          <a:lstStyle/>
          <a:p>
            <a:endParaRPr/>
          </a:p>
        </p:txBody>
      </p:sp>
      <p:sp>
        <p:nvSpPr>
          <p:cNvPr id="14" name="Rectangle 13">
            <a:extLst>
              <a:ext uri="{FF2B5EF4-FFF2-40B4-BE49-F238E27FC236}">
                <a16:creationId xmlns:a16="http://schemas.microsoft.com/office/drawing/2014/main" id="{94B2FB85-9267-4C2D-BB5E-9BBA8D59E040}"/>
              </a:ext>
            </a:extLst>
          </p:cNvPr>
          <p:cNvSpPr>
            <a:spLocks noGrp="1"/>
          </p:cNvSpPr>
          <p:nvPr/>
        </p:nvSpPr>
        <p:spPr>
          <a:xfrm>
            <a:off x="609600" y="3981450"/>
            <a:ext cx="4953000" cy="304800"/>
          </a:xfrm>
          <a:prstGeom prst="rect">
            <a:avLst/>
          </a:prstGeom>
          <a:noFill/>
          <a:ln w="0">
            <a:noFill/>
            <a:prstDash val="solid"/>
          </a:ln>
        </p:spPr>
        <p:txBody>
          <a:bodyPr wrap="square" anchor="t">
            <a:normAutofit fontScale="88659" lnSpcReduction="10000"/>
          </a:bodyPr>
          <a:lstStyle/>
          <a:p>
            <a:pPr algn="l">
              <a:buNone/>
              <a:defRPr sz="1725" b="1">
                <a:solidFill>
                  <a:srgbClr val="3D8DFF"/>
                </a:solidFill>
                <a:latin typeface="Arial"/>
                <a:ea typeface="Arial"/>
                <a:cs typeface="Arial"/>
              </a:defRPr>
            </a:pPr>
            <a:r>
              <a:rPr sz="1725" b="1">
                <a:solidFill>
                  <a:srgbClr val="3D8DFF"/>
                </a:solidFill>
                <a:latin typeface="Arial"/>
                <a:ea typeface="Arial"/>
                <a:cs typeface="Arial"/>
              </a:rPr>
              <a:t>Loops</a:t>
            </a:r>
          </a:p>
        </p:txBody>
      </p:sp>
      <p:sp>
        <p:nvSpPr>
          <p:cNvPr id="15" name="Rectangle 14">
            <a:extLst>
              <a:ext uri="{FF2B5EF4-FFF2-40B4-BE49-F238E27FC236}">
                <a16:creationId xmlns:a16="http://schemas.microsoft.com/office/drawing/2014/main" id="{73EF9FDC-0BEF-496A-A593-EA46AA411E7C}"/>
              </a:ext>
            </a:extLst>
          </p:cNvPr>
          <p:cNvSpPr>
            <a:spLocks noGrp="1"/>
          </p:cNvSpPr>
          <p:nvPr/>
        </p:nvSpPr>
        <p:spPr>
          <a:xfrm>
            <a:off x="609600" y="4400550"/>
            <a:ext cx="4953000" cy="266700"/>
          </a:xfrm>
          <a:prstGeom prst="rect">
            <a:avLst/>
          </a:prstGeom>
          <a:noFill/>
          <a:ln w="0">
            <a:noFill/>
            <a:prstDash val="solid"/>
          </a:ln>
        </p:spPr>
        <p:txBody>
          <a:bodyPr wrap="square" anchor="t">
            <a:normAutofit fontScale="85185"/>
          </a:bodyPr>
          <a:lstStyle/>
          <a:p>
            <a:pPr algn="l">
              <a:buNone/>
              <a:defRPr sz="1350" b="0">
                <a:solidFill>
                  <a:srgbClr val="59616C"/>
                </a:solidFill>
                <a:latin typeface="Arial"/>
                <a:ea typeface="Arial"/>
                <a:cs typeface="Arial"/>
              </a:defRPr>
            </a:pPr>
            <a:r>
              <a:rPr sz="1350" b="0">
                <a:solidFill>
                  <a:srgbClr val="59616C"/>
                </a:solidFill>
                <a:latin typeface="Arial"/>
                <a:ea typeface="Arial"/>
                <a:cs typeface="Arial"/>
              </a:rPr>
              <a:t>Repeat work</a:t>
            </a:r>
          </a:p>
        </p:txBody>
      </p:sp>
      <p:sp>
        <p:nvSpPr>
          <p:cNvPr id="16" name="Rectangle 15">
            <a:extLst>
              <a:ext uri="{FF2B5EF4-FFF2-40B4-BE49-F238E27FC236}">
                <a16:creationId xmlns:a16="http://schemas.microsoft.com/office/drawing/2014/main" id="{E91FD286-2353-4229-954E-70616E716CC0}"/>
              </a:ext>
            </a:extLst>
          </p:cNvPr>
          <p:cNvSpPr>
            <a:spLocks noGrp="1"/>
          </p:cNvSpPr>
          <p:nvPr/>
        </p:nvSpPr>
        <p:spPr>
          <a:xfrm>
            <a:off x="609600" y="4838700"/>
            <a:ext cx="4953000" cy="552450"/>
          </a:xfrm>
          <a:prstGeom prst="rect">
            <a:avLst/>
          </a:prstGeom>
          <a:noFill/>
          <a:ln w="0">
            <a:noFill/>
            <a:prstDash val="solid"/>
          </a:ln>
        </p:spPr>
        <p:txBody>
          <a:bodyPr wrap="square" anchor="t">
            <a:normAutofit/>
          </a:bodyPr>
          <a:lstStyle/>
          <a:p>
            <a:pPr algn="l">
              <a:buNone/>
              <a:defRPr sz="1350" b="1">
                <a:solidFill>
                  <a:srgbClr val="111111"/>
                </a:solidFill>
                <a:latin typeface="Courier New"/>
                <a:ea typeface="Courier New"/>
                <a:cs typeface="Courier New"/>
              </a:defRPr>
            </a:pPr>
            <a:r>
              <a:rPr sz="1350" b="1">
                <a:solidFill>
                  <a:srgbClr val="111111"/>
                </a:solidFill>
                <a:latin typeface="Courier New"/>
                <a:ea typeface="Courier New"/>
                <a:cs typeface="Courier New"/>
              </a:rPr>
              <a:t>foreach ($users as $user) { … }</a:t>
            </a:r>
          </a:p>
        </p:txBody>
      </p:sp>
      <p:sp>
        <p:nvSpPr>
          <p:cNvPr id="17" name="Rectangle 16">
            <a:extLst>
              <a:ext uri="{FF2B5EF4-FFF2-40B4-BE49-F238E27FC236}">
                <a16:creationId xmlns:a16="http://schemas.microsoft.com/office/drawing/2014/main" id="{7E45C265-2110-4E29-9968-DD1764153B19}"/>
              </a:ext>
            </a:extLst>
          </p:cNvPr>
          <p:cNvSpPr>
            <a:spLocks noGrp="1"/>
          </p:cNvSpPr>
          <p:nvPr/>
        </p:nvSpPr>
        <p:spPr>
          <a:xfrm>
            <a:off x="6096000" y="3810000"/>
            <a:ext cx="5429250" cy="1809750"/>
          </a:xfrm>
          <a:prstGeom prst="rect">
            <a:avLst/>
          </a:prstGeom>
          <a:solidFill>
            <a:srgbClr val="EDEDED"/>
          </a:solidFill>
          <a:ln w="0">
            <a:noFill/>
            <a:prstDash val="solid"/>
          </a:ln>
        </p:spPr>
        <p:txBody>
          <a:bodyPr/>
          <a:lstStyle/>
          <a:p>
            <a:endParaRPr/>
          </a:p>
        </p:txBody>
      </p:sp>
      <p:sp>
        <p:nvSpPr>
          <p:cNvPr id="18" name="Rectangle 17">
            <a:extLst>
              <a:ext uri="{FF2B5EF4-FFF2-40B4-BE49-F238E27FC236}">
                <a16:creationId xmlns:a16="http://schemas.microsoft.com/office/drawing/2014/main" id="{ABAA2810-C03D-445C-8F82-6A1DEA6F1BDF}"/>
              </a:ext>
            </a:extLst>
          </p:cNvPr>
          <p:cNvSpPr>
            <a:spLocks noGrp="1"/>
          </p:cNvSpPr>
          <p:nvPr/>
        </p:nvSpPr>
        <p:spPr>
          <a:xfrm>
            <a:off x="6305550" y="3981450"/>
            <a:ext cx="4953000" cy="304800"/>
          </a:xfrm>
          <a:prstGeom prst="rect">
            <a:avLst/>
          </a:prstGeom>
          <a:noFill/>
          <a:ln w="0">
            <a:noFill/>
            <a:prstDash val="solid"/>
          </a:ln>
        </p:spPr>
        <p:txBody>
          <a:bodyPr wrap="square" anchor="t">
            <a:normAutofit fontScale="88659" lnSpcReduction="10000"/>
          </a:bodyPr>
          <a:lstStyle/>
          <a:p>
            <a:pPr algn="l">
              <a:buNone/>
              <a:defRPr sz="1725" b="1">
                <a:solidFill>
                  <a:srgbClr val="3D8DFF"/>
                </a:solidFill>
                <a:latin typeface="Arial"/>
                <a:ea typeface="Arial"/>
                <a:cs typeface="Arial"/>
              </a:defRPr>
            </a:pPr>
            <a:r>
              <a:rPr sz="1725" b="1">
                <a:solidFill>
                  <a:srgbClr val="3D8DFF"/>
                </a:solidFill>
                <a:latin typeface="Arial"/>
                <a:ea typeface="Arial"/>
                <a:cs typeface="Arial"/>
              </a:rPr>
              <a:t>Functions</a:t>
            </a:r>
          </a:p>
        </p:txBody>
      </p:sp>
      <p:sp>
        <p:nvSpPr>
          <p:cNvPr id="19" name="Rectangle 18">
            <a:extLst>
              <a:ext uri="{FF2B5EF4-FFF2-40B4-BE49-F238E27FC236}">
                <a16:creationId xmlns:a16="http://schemas.microsoft.com/office/drawing/2014/main" id="{F20979FC-03DE-4BFF-BA95-CA71A89FDC97}"/>
              </a:ext>
            </a:extLst>
          </p:cNvPr>
          <p:cNvSpPr>
            <a:spLocks noGrp="1"/>
          </p:cNvSpPr>
          <p:nvPr/>
        </p:nvSpPr>
        <p:spPr>
          <a:xfrm>
            <a:off x="6305550" y="4400550"/>
            <a:ext cx="4953000" cy="266700"/>
          </a:xfrm>
          <a:prstGeom prst="rect">
            <a:avLst/>
          </a:prstGeom>
          <a:noFill/>
          <a:ln w="0">
            <a:noFill/>
            <a:prstDash val="solid"/>
          </a:ln>
        </p:spPr>
        <p:txBody>
          <a:bodyPr wrap="square" anchor="t">
            <a:normAutofit fontScale="85185"/>
          </a:bodyPr>
          <a:lstStyle/>
          <a:p>
            <a:pPr algn="l">
              <a:buNone/>
              <a:defRPr sz="1350" b="0">
                <a:solidFill>
                  <a:srgbClr val="59616C"/>
                </a:solidFill>
                <a:latin typeface="Arial"/>
                <a:ea typeface="Arial"/>
                <a:cs typeface="Arial"/>
              </a:defRPr>
            </a:pPr>
            <a:r>
              <a:rPr sz="1350" b="0">
                <a:solidFill>
                  <a:srgbClr val="59616C"/>
                </a:solidFill>
                <a:latin typeface="Arial"/>
                <a:ea typeface="Arial"/>
                <a:cs typeface="Arial"/>
              </a:rPr>
              <a:t>Reuse behaviour</a:t>
            </a:r>
          </a:p>
        </p:txBody>
      </p:sp>
      <p:sp>
        <p:nvSpPr>
          <p:cNvPr id="20" name="Rectangle 19">
            <a:extLst>
              <a:ext uri="{FF2B5EF4-FFF2-40B4-BE49-F238E27FC236}">
                <a16:creationId xmlns:a16="http://schemas.microsoft.com/office/drawing/2014/main" id="{1A0E5529-7CF7-4A8D-A7B5-591DC06450D2}"/>
              </a:ext>
            </a:extLst>
          </p:cNvPr>
          <p:cNvSpPr>
            <a:spLocks noGrp="1"/>
          </p:cNvSpPr>
          <p:nvPr/>
        </p:nvSpPr>
        <p:spPr>
          <a:xfrm>
            <a:off x="6305550" y="4838700"/>
            <a:ext cx="4953000" cy="552450"/>
          </a:xfrm>
          <a:prstGeom prst="rect">
            <a:avLst/>
          </a:prstGeom>
          <a:noFill/>
          <a:ln w="0">
            <a:noFill/>
            <a:prstDash val="solid"/>
          </a:ln>
        </p:spPr>
        <p:txBody>
          <a:bodyPr wrap="square" anchor="t">
            <a:normAutofit fontScale="89691" lnSpcReduction="20000"/>
          </a:bodyPr>
          <a:lstStyle/>
          <a:p>
            <a:pPr algn="l">
              <a:buNone/>
              <a:defRPr sz="1350" b="1">
                <a:solidFill>
                  <a:srgbClr val="111111"/>
                </a:solidFill>
                <a:latin typeface="Courier New"/>
                <a:ea typeface="Courier New"/>
                <a:cs typeface="Courier New"/>
              </a:defRPr>
            </a:pPr>
            <a:r>
              <a:rPr sz="1350" b="1">
                <a:solidFill>
                  <a:srgbClr val="111111"/>
                </a:solidFill>
                <a:latin typeface="Courier New"/>
                <a:ea typeface="Courier New"/>
                <a:cs typeface="Courier New"/>
              </a:rPr>
              <a:t>function total($a, $b) {</a:t>
            </a:r>
          </a:p>
          <a:p>
            <a:pPr algn="l">
              <a:buNone/>
              <a:defRPr sz="1350" b="1">
                <a:solidFill>
                  <a:srgbClr val="111111"/>
                </a:solidFill>
                <a:latin typeface="Courier New"/>
                <a:ea typeface="Courier New"/>
                <a:cs typeface="Courier New"/>
              </a:defRPr>
            </a:pPr>
            <a:r>
              <a:rPr sz="1350" b="1">
                <a:solidFill>
                  <a:srgbClr val="111111"/>
                </a:solidFill>
                <a:latin typeface="Courier New"/>
                <a:ea typeface="Courier New"/>
                <a:cs typeface="Courier New"/>
              </a:rPr>
              <a:t> return $a + $b;</a:t>
            </a:r>
          </a:p>
          <a:p>
            <a:pPr algn="l">
              <a:buNone/>
              <a:defRPr sz="1350" b="1">
                <a:solidFill>
                  <a:srgbClr val="111111"/>
                </a:solidFill>
                <a:latin typeface="Courier New"/>
                <a:ea typeface="Courier New"/>
                <a:cs typeface="Courier New"/>
              </a:defRPr>
            </a:pPr>
            <a:r>
              <a:rPr sz="1350" b="1">
                <a:solidFill>
                  <a:srgbClr val="111111"/>
                </a:solidFill>
                <a:latin typeface="Courier New"/>
                <a:ea typeface="Courier New"/>
                <a:cs typeface="Courier New"/>
              </a:rPr>
              <a:t>}</a:t>
            </a:r>
          </a:p>
        </p:txBody>
      </p:sp>
    </p:spTree>
    <p:extLst>
      <p:ext uri="{BB962C8B-B14F-4D97-AF65-F5344CB8AC3E}">
        <p14:creationId xmlns:p14="http://schemas.microsoft.com/office/powerpoint/2010/main" val="815978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22EF427D-2A0F-4822-B3B3-928200DD6C20}"/>
              </a:ext>
            </a:extLst>
          </p:cNvPr>
          <p:cNvSpPr>
            <a:spLocks noGrp="1"/>
          </p:cNvSpPr>
          <p:nvPr/>
        </p:nvSpPr>
        <p:spPr>
          <a:xfrm>
            <a:off x="400050" y="266700"/>
            <a:ext cx="4000500" cy="285750"/>
          </a:xfrm>
          <a:prstGeom prst="rect">
            <a:avLst/>
          </a:prstGeom>
          <a:noFill/>
          <a:ln w="0">
            <a:noFill/>
            <a:prstDash val="solid"/>
          </a:ln>
        </p:spPr>
        <p:txBody>
          <a:bodyPr wrap="square" anchor="t">
            <a:norm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QUESTION 3 • ANSWER</a:t>
            </a:r>
          </a:p>
        </p:txBody>
      </p:sp>
      <p:sp>
        <p:nvSpPr>
          <p:cNvPr id="2" name="Rectangle 1">
            <a:extLst>
              <a:ext uri="{FF2B5EF4-FFF2-40B4-BE49-F238E27FC236}">
                <a16:creationId xmlns:a16="http://schemas.microsoft.com/office/drawing/2014/main" id="{B78DF1DC-8727-4D93-8ECC-697F0A642022}"/>
              </a:ext>
            </a:extLst>
          </p:cNvPr>
          <p:cNvSpPr>
            <a:spLocks noGrp="1"/>
          </p:cNvSpPr>
          <p:nvPr/>
        </p:nvSpPr>
        <p:spPr>
          <a:xfrm>
            <a:off x="400050" y="619125"/>
            <a:ext cx="11144250" cy="666750"/>
          </a:xfrm>
          <a:prstGeom prst="rect">
            <a:avLst/>
          </a:prstGeom>
          <a:noFill/>
          <a:ln w="0">
            <a:noFill/>
            <a:prstDash val="solid"/>
          </a:ln>
        </p:spPr>
        <p:txBody>
          <a:bodyPr wrap="square" anchor="t">
            <a:normAutofit/>
          </a:bodyPr>
          <a:lstStyle/>
          <a:p>
            <a:pPr algn="l">
              <a:buNone/>
              <a:defRPr sz="2850" b="1">
                <a:solidFill>
                  <a:srgbClr val="111111"/>
                </a:solidFill>
                <a:latin typeface="Arial"/>
                <a:ea typeface="Arial"/>
                <a:cs typeface="Arial"/>
              </a:defRPr>
            </a:pPr>
            <a:r>
              <a:rPr sz="2850" b="1">
                <a:solidFill>
                  <a:srgbClr val="111111"/>
                </a:solidFill>
                <a:latin typeface="Arial"/>
                <a:ea typeface="Arial"/>
                <a:cs typeface="Arial"/>
              </a:rPr>
              <a:t>English and PHP: similar purpose, different precision</a:t>
            </a:r>
          </a:p>
        </p:txBody>
      </p:sp>
      <p:sp>
        <p:nvSpPr>
          <p:cNvPr id="3" name="Rectangle 2">
            <a:extLst>
              <a:ext uri="{FF2B5EF4-FFF2-40B4-BE49-F238E27FC236}">
                <a16:creationId xmlns:a16="http://schemas.microsoft.com/office/drawing/2014/main" id="{48C3690B-A38D-421C-92DC-FE8E842A1AE2}"/>
              </a:ext>
            </a:extLst>
          </p:cNvPr>
          <p:cNvSpPr>
            <a:spLocks noGrp="1"/>
          </p:cNvSpPr>
          <p:nvPr/>
        </p:nvSpPr>
        <p:spPr>
          <a:xfrm>
            <a:off x="400050" y="1352550"/>
            <a:ext cx="11391900" cy="19050"/>
          </a:xfrm>
          <a:prstGeom prst="rect">
            <a:avLst/>
          </a:prstGeom>
          <a:solidFill>
            <a:srgbClr val="B8BCC4"/>
          </a:solidFill>
          <a:ln w="0">
            <a:noFill/>
            <a:prstDash val="solid"/>
          </a:ln>
        </p:spPr>
        <p:txBody>
          <a:bodyPr/>
          <a:lstStyle/>
          <a:p>
            <a:endParaRPr/>
          </a:p>
        </p:txBody>
      </p:sp>
      <p:sp>
        <p:nvSpPr>
          <p:cNvPr id="4" name="Rectangle 3">
            <a:extLst>
              <a:ext uri="{FF2B5EF4-FFF2-40B4-BE49-F238E27FC236}">
                <a16:creationId xmlns:a16="http://schemas.microsoft.com/office/drawing/2014/main" id="{20A2F1BE-727E-42CA-82F3-063A026F5707}"/>
              </a:ext>
            </a:extLst>
          </p:cNvPr>
          <p:cNvSpPr>
            <a:spLocks noGrp="1"/>
          </p:cNvSpPr>
          <p:nvPr/>
        </p:nvSpPr>
        <p:spPr>
          <a:xfrm>
            <a:off x="11191875" y="6343650"/>
            <a:ext cx="590550" cy="228600"/>
          </a:xfrm>
          <a:prstGeom prst="rect">
            <a:avLst/>
          </a:prstGeom>
          <a:noFill/>
          <a:ln w="0">
            <a:noFill/>
            <a:prstDash val="solid"/>
          </a:ln>
        </p:spPr>
        <p:txBody>
          <a:bodyPr wrap="square" anchor="t">
            <a:normAutofit fontScale="93214" lnSpcReduction="10000"/>
          </a:bodyPr>
          <a:lstStyle/>
          <a:p>
            <a:pPr algn="r">
              <a:buNone/>
              <a:defRPr sz="1050" b="0">
                <a:solidFill>
                  <a:srgbClr val="59616C"/>
                </a:solidFill>
                <a:latin typeface="Arial"/>
                <a:ea typeface="Arial"/>
                <a:cs typeface="Arial"/>
              </a:defRPr>
            </a:pPr>
            <a:r>
              <a:rPr sz="1050" b="0">
                <a:solidFill>
                  <a:srgbClr val="59616C"/>
                </a:solidFill>
                <a:latin typeface="Arial"/>
                <a:ea typeface="Arial"/>
                <a:cs typeface="Arial"/>
              </a:rPr>
              <a:t>17</a:t>
            </a:r>
          </a:p>
        </p:txBody>
      </p:sp>
      <p:sp>
        <p:nvSpPr>
          <p:cNvPr id="5" name="Rectangle 4">
            <a:extLst>
              <a:ext uri="{FF2B5EF4-FFF2-40B4-BE49-F238E27FC236}">
                <a16:creationId xmlns:a16="http://schemas.microsoft.com/office/drawing/2014/main" id="{58A1C961-4C78-4C7A-A0E9-024F0D8C03D0}"/>
              </a:ext>
            </a:extLst>
          </p:cNvPr>
          <p:cNvSpPr>
            <a:spLocks noGrp="1"/>
          </p:cNvSpPr>
          <p:nvPr/>
        </p:nvSpPr>
        <p:spPr>
          <a:xfrm>
            <a:off x="400050" y="1762125"/>
            <a:ext cx="2095500" cy="685800"/>
          </a:xfrm>
          <a:prstGeom prst="rect">
            <a:avLst/>
          </a:prstGeom>
          <a:solidFill>
            <a:srgbClr val="18212B"/>
          </a:solidFill>
          <a:ln w="9525">
            <a:solidFill>
              <a:srgbClr val="B8BCC4"/>
            </a:solidFill>
            <a:prstDash val="solid"/>
          </a:ln>
        </p:spPr>
        <p:txBody>
          <a:bodyPr/>
          <a:lstStyle/>
          <a:p>
            <a:endParaRPr/>
          </a:p>
        </p:txBody>
      </p:sp>
      <p:sp>
        <p:nvSpPr>
          <p:cNvPr id="6" name="Rectangle 5">
            <a:extLst>
              <a:ext uri="{FF2B5EF4-FFF2-40B4-BE49-F238E27FC236}">
                <a16:creationId xmlns:a16="http://schemas.microsoft.com/office/drawing/2014/main" id="{6C1A0E7C-5DBF-4699-8D1E-EA7E3D726631}"/>
              </a:ext>
            </a:extLst>
          </p:cNvPr>
          <p:cNvSpPr>
            <a:spLocks noGrp="1"/>
          </p:cNvSpPr>
          <p:nvPr/>
        </p:nvSpPr>
        <p:spPr>
          <a:xfrm>
            <a:off x="533400" y="1876425"/>
            <a:ext cx="1828800" cy="495300"/>
          </a:xfrm>
          <a:prstGeom prst="rect">
            <a:avLst/>
          </a:prstGeom>
          <a:noFill/>
          <a:ln w="0">
            <a:noFill/>
            <a:prstDash val="solid"/>
          </a:ln>
        </p:spPr>
        <p:txBody>
          <a:bodyPr wrap="square" anchor="t">
            <a:normAutofit/>
          </a:bodyPr>
          <a:lstStyle/>
          <a:p>
            <a:pPr algn="l">
              <a:buNone/>
              <a:defRPr sz="1275" b="1">
                <a:solidFill>
                  <a:srgbClr val="FFFFFF"/>
                </a:solidFill>
                <a:latin typeface="Arial"/>
                <a:ea typeface="Arial"/>
                <a:cs typeface="Arial"/>
              </a:defRPr>
            </a:pPr>
            <a:r>
              <a:rPr sz="1275" b="1">
                <a:solidFill>
                  <a:srgbClr val="FFFFFF"/>
                </a:solidFill>
                <a:latin typeface="Arial"/>
                <a:ea typeface="Arial"/>
                <a:cs typeface="Arial"/>
              </a:rPr>
              <a:t>Feature</a:t>
            </a:r>
          </a:p>
        </p:txBody>
      </p:sp>
      <p:sp>
        <p:nvSpPr>
          <p:cNvPr id="7" name="Rectangle 6">
            <a:extLst>
              <a:ext uri="{FF2B5EF4-FFF2-40B4-BE49-F238E27FC236}">
                <a16:creationId xmlns:a16="http://schemas.microsoft.com/office/drawing/2014/main" id="{FFC8FCEC-9CD8-473B-824A-D5C30E465CD8}"/>
              </a:ext>
            </a:extLst>
          </p:cNvPr>
          <p:cNvSpPr>
            <a:spLocks noGrp="1"/>
          </p:cNvSpPr>
          <p:nvPr/>
        </p:nvSpPr>
        <p:spPr>
          <a:xfrm>
            <a:off x="2495550" y="1762125"/>
            <a:ext cx="4476750" cy="685800"/>
          </a:xfrm>
          <a:prstGeom prst="rect">
            <a:avLst/>
          </a:prstGeom>
          <a:solidFill>
            <a:srgbClr val="18212B"/>
          </a:solidFill>
          <a:ln w="9525">
            <a:solidFill>
              <a:srgbClr val="B8BCC4"/>
            </a:solidFill>
            <a:prstDash val="solid"/>
          </a:ln>
        </p:spPr>
        <p:txBody>
          <a:bodyPr/>
          <a:lstStyle/>
          <a:p>
            <a:endParaRPr/>
          </a:p>
        </p:txBody>
      </p:sp>
      <p:sp>
        <p:nvSpPr>
          <p:cNvPr id="8" name="Rectangle 7">
            <a:extLst>
              <a:ext uri="{FF2B5EF4-FFF2-40B4-BE49-F238E27FC236}">
                <a16:creationId xmlns:a16="http://schemas.microsoft.com/office/drawing/2014/main" id="{82D15CDC-168F-4D38-A50F-5A59073D8662}"/>
              </a:ext>
            </a:extLst>
          </p:cNvPr>
          <p:cNvSpPr>
            <a:spLocks noGrp="1"/>
          </p:cNvSpPr>
          <p:nvPr/>
        </p:nvSpPr>
        <p:spPr>
          <a:xfrm>
            <a:off x="2628900" y="1876425"/>
            <a:ext cx="4210050" cy="495300"/>
          </a:xfrm>
          <a:prstGeom prst="rect">
            <a:avLst/>
          </a:prstGeom>
          <a:noFill/>
          <a:ln w="0">
            <a:noFill/>
            <a:prstDash val="solid"/>
          </a:ln>
        </p:spPr>
        <p:txBody>
          <a:bodyPr wrap="square" anchor="t">
            <a:normAutofit/>
          </a:bodyPr>
          <a:lstStyle/>
          <a:p>
            <a:pPr algn="l">
              <a:buNone/>
              <a:defRPr sz="1275" b="1">
                <a:solidFill>
                  <a:srgbClr val="FFFFFF"/>
                </a:solidFill>
                <a:latin typeface="Arial"/>
                <a:ea typeface="Arial"/>
                <a:cs typeface="Arial"/>
              </a:defRPr>
            </a:pPr>
            <a:r>
              <a:rPr sz="1275" b="1">
                <a:solidFill>
                  <a:srgbClr val="FFFFFF"/>
                </a:solidFill>
                <a:latin typeface="Arial"/>
                <a:ea typeface="Arial"/>
                <a:cs typeface="Arial"/>
              </a:rPr>
              <a:t>Natural language: English</a:t>
            </a:r>
          </a:p>
        </p:txBody>
      </p:sp>
      <p:sp>
        <p:nvSpPr>
          <p:cNvPr id="9" name="Rectangle 8">
            <a:extLst>
              <a:ext uri="{FF2B5EF4-FFF2-40B4-BE49-F238E27FC236}">
                <a16:creationId xmlns:a16="http://schemas.microsoft.com/office/drawing/2014/main" id="{0029DCCE-440B-43B3-82DD-6A7763AD9CB5}"/>
              </a:ext>
            </a:extLst>
          </p:cNvPr>
          <p:cNvSpPr>
            <a:spLocks noGrp="1"/>
          </p:cNvSpPr>
          <p:nvPr/>
        </p:nvSpPr>
        <p:spPr>
          <a:xfrm>
            <a:off x="6972300" y="1762125"/>
            <a:ext cx="4819650" cy="685800"/>
          </a:xfrm>
          <a:prstGeom prst="rect">
            <a:avLst/>
          </a:prstGeom>
          <a:solidFill>
            <a:srgbClr val="18212B"/>
          </a:solidFill>
          <a:ln w="9525">
            <a:solidFill>
              <a:srgbClr val="B8BCC4"/>
            </a:solidFill>
            <a:prstDash val="solid"/>
          </a:ln>
        </p:spPr>
        <p:txBody>
          <a:bodyPr/>
          <a:lstStyle/>
          <a:p>
            <a:endParaRPr/>
          </a:p>
        </p:txBody>
      </p:sp>
      <p:sp>
        <p:nvSpPr>
          <p:cNvPr id="10" name="Rectangle 9">
            <a:extLst>
              <a:ext uri="{FF2B5EF4-FFF2-40B4-BE49-F238E27FC236}">
                <a16:creationId xmlns:a16="http://schemas.microsoft.com/office/drawing/2014/main" id="{AF8AD19D-0840-4E51-BFA5-3960021F056D}"/>
              </a:ext>
            </a:extLst>
          </p:cNvPr>
          <p:cNvSpPr>
            <a:spLocks noGrp="1"/>
          </p:cNvSpPr>
          <p:nvPr/>
        </p:nvSpPr>
        <p:spPr>
          <a:xfrm>
            <a:off x="7105650" y="1876425"/>
            <a:ext cx="4552950" cy="495300"/>
          </a:xfrm>
          <a:prstGeom prst="rect">
            <a:avLst/>
          </a:prstGeom>
          <a:noFill/>
          <a:ln w="0">
            <a:noFill/>
            <a:prstDash val="solid"/>
          </a:ln>
        </p:spPr>
        <p:txBody>
          <a:bodyPr wrap="square" anchor="t">
            <a:normAutofit/>
          </a:bodyPr>
          <a:lstStyle/>
          <a:p>
            <a:pPr algn="l">
              <a:buNone/>
              <a:defRPr sz="1275" b="1">
                <a:solidFill>
                  <a:srgbClr val="FFFFFF"/>
                </a:solidFill>
                <a:latin typeface="Arial"/>
                <a:ea typeface="Arial"/>
                <a:cs typeface="Arial"/>
              </a:defRPr>
            </a:pPr>
            <a:r>
              <a:rPr sz="1275" b="1">
                <a:solidFill>
                  <a:srgbClr val="FFFFFF"/>
                </a:solidFill>
                <a:latin typeface="Arial"/>
                <a:ea typeface="Arial"/>
                <a:cs typeface="Arial"/>
              </a:rPr>
              <a:t>Programming language: PHP</a:t>
            </a:r>
          </a:p>
        </p:txBody>
      </p:sp>
      <p:sp>
        <p:nvSpPr>
          <p:cNvPr id="11" name="Rectangle 10">
            <a:extLst>
              <a:ext uri="{FF2B5EF4-FFF2-40B4-BE49-F238E27FC236}">
                <a16:creationId xmlns:a16="http://schemas.microsoft.com/office/drawing/2014/main" id="{C75E3319-61F4-4BCF-9079-1B6EBA331CD2}"/>
              </a:ext>
            </a:extLst>
          </p:cNvPr>
          <p:cNvSpPr>
            <a:spLocks noGrp="1"/>
          </p:cNvSpPr>
          <p:nvPr/>
        </p:nvSpPr>
        <p:spPr>
          <a:xfrm>
            <a:off x="400050" y="2447925"/>
            <a:ext cx="2095500" cy="685800"/>
          </a:xfrm>
          <a:prstGeom prst="rect">
            <a:avLst/>
          </a:prstGeom>
          <a:solidFill>
            <a:srgbClr val="EDEDED"/>
          </a:solidFill>
          <a:ln w="9525">
            <a:solidFill>
              <a:srgbClr val="B8BCC4"/>
            </a:solidFill>
            <a:prstDash val="solid"/>
          </a:ln>
        </p:spPr>
        <p:txBody>
          <a:bodyPr/>
          <a:lstStyle/>
          <a:p>
            <a:endParaRPr/>
          </a:p>
        </p:txBody>
      </p:sp>
      <p:sp>
        <p:nvSpPr>
          <p:cNvPr id="12" name="Rectangle 11">
            <a:extLst>
              <a:ext uri="{FF2B5EF4-FFF2-40B4-BE49-F238E27FC236}">
                <a16:creationId xmlns:a16="http://schemas.microsoft.com/office/drawing/2014/main" id="{2B98AA57-EE57-40DF-90B3-F20CCD9FBBA3}"/>
              </a:ext>
            </a:extLst>
          </p:cNvPr>
          <p:cNvSpPr>
            <a:spLocks noGrp="1"/>
          </p:cNvSpPr>
          <p:nvPr/>
        </p:nvSpPr>
        <p:spPr>
          <a:xfrm>
            <a:off x="533400" y="2562225"/>
            <a:ext cx="1828800" cy="495300"/>
          </a:xfrm>
          <a:prstGeom prst="rect">
            <a:avLst/>
          </a:prstGeom>
          <a:noFill/>
          <a:ln w="0">
            <a:noFill/>
            <a:prstDash val="solid"/>
          </a:ln>
        </p:spPr>
        <p:txBody>
          <a:bodyPr wrap="square" anchor="t">
            <a:normAutofit/>
          </a:bodyPr>
          <a:lstStyle/>
          <a:p>
            <a:pPr algn="l">
              <a:buNone/>
              <a:defRPr sz="1200" b="1">
                <a:solidFill>
                  <a:srgbClr val="111111"/>
                </a:solidFill>
                <a:latin typeface="Arial"/>
                <a:ea typeface="Arial"/>
                <a:cs typeface="Arial"/>
              </a:defRPr>
            </a:pPr>
            <a:r>
              <a:rPr sz="1200" b="1">
                <a:solidFill>
                  <a:srgbClr val="111111"/>
                </a:solidFill>
                <a:latin typeface="Arial"/>
                <a:ea typeface="Arial"/>
                <a:cs typeface="Arial"/>
              </a:rPr>
              <a:t>Purpose</a:t>
            </a:r>
          </a:p>
        </p:txBody>
      </p:sp>
      <p:sp>
        <p:nvSpPr>
          <p:cNvPr id="13" name="Rectangle 12">
            <a:extLst>
              <a:ext uri="{FF2B5EF4-FFF2-40B4-BE49-F238E27FC236}">
                <a16:creationId xmlns:a16="http://schemas.microsoft.com/office/drawing/2014/main" id="{92605805-3ADB-4DAA-AAC1-3E6A8C39F855}"/>
              </a:ext>
            </a:extLst>
          </p:cNvPr>
          <p:cNvSpPr>
            <a:spLocks noGrp="1"/>
          </p:cNvSpPr>
          <p:nvPr/>
        </p:nvSpPr>
        <p:spPr>
          <a:xfrm>
            <a:off x="2495550" y="2447925"/>
            <a:ext cx="4476750" cy="685800"/>
          </a:xfrm>
          <a:prstGeom prst="rect">
            <a:avLst/>
          </a:prstGeom>
          <a:solidFill>
            <a:srgbClr val="EDEDED"/>
          </a:solidFill>
          <a:ln w="9525">
            <a:solidFill>
              <a:srgbClr val="B8BCC4"/>
            </a:solidFill>
            <a:prstDash val="solid"/>
          </a:ln>
        </p:spPr>
        <p:txBody>
          <a:bodyPr/>
          <a:lstStyle/>
          <a:p>
            <a:endParaRPr/>
          </a:p>
        </p:txBody>
      </p:sp>
      <p:sp>
        <p:nvSpPr>
          <p:cNvPr id="14" name="Rectangle 13">
            <a:extLst>
              <a:ext uri="{FF2B5EF4-FFF2-40B4-BE49-F238E27FC236}">
                <a16:creationId xmlns:a16="http://schemas.microsoft.com/office/drawing/2014/main" id="{BE648E4F-A581-4CF8-AB08-019DCC3373F6}"/>
              </a:ext>
            </a:extLst>
          </p:cNvPr>
          <p:cNvSpPr>
            <a:spLocks noGrp="1"/>
          </p:cNvSpPr>
          <p:nvPr/>
        </p:nvSpPr>
        <p:spPr>
          <a:xfrm>
            <a:off x="2628900" y="2562225"/>
            <a:ext cx="4210050" cy="495300"/>
          </a:xfrm>
          <a:prstGeom prst="rect">
            <a:avLst/>
          </a:prstGeom>
          <a:noFill/>
          <a:ln w="0">
            <a:noFill/>
            <a:prstDash val="solid"/>
          </a:ln>
        </p:spPr>
        <p:txBody>
          <a:bodyPr wrap="square" anchor="t">
            <a:normAutofit/>
          </a:bodyPr>
          <a:lstStyle/>
          <a:p>
            <a:pPr algn="l">
              <a:buNone/>
              <a:defRPr sz="1200" b="0">
                <a:solidFill>
                  <a:srgbClr val="111111"/>
                </a:solidFill>
                <a:latin typeface="Arial"/>
                <a:ea typeface="Arial"/>
                <a:cs typeface="Arial"/>
              </a:defRPr>
            </a:pPr>
            <a:r>
              <a:rPr sz="1200" b="0">
                <a:solidFill>
                  <a:srgbClr val="111111"/>
                </a:solidFill>
                <a:latin typeface="Arial"/>
                <a:ea typeface="Arial"/>
                <a:cs typeface="Arial"/>
              </a:rPr>
              <a:t>Communicate meaning between people</a:t>
            </a:r>
          </a:p>
        </p:txBody>
      </p:sp>
      <p:sp>
        <p:nvSpPr>
          <p:cNvPr id="15" name="Rectangle 14">
            <a:extLst>
              <a:ext uri="{FF2B5EF4-FFF2-40B4-BE49-F238E27FC236}">
                <a16:creationId xmlns:a16="http://schemas.microsoft.com/office/drawing/2014/main" id="{FDAD56F1-7077-4170-AC57-B033371704DA}"/>
              </a:ext>
            </a:extLst>
          </p:cNvPr>
          <p:cNvSpPr>
            <a:spLocks noGrp="1"/>
          </p:cNvSpPr>
          <p:nvPr/>
        </p:nvSpPr>
        <p:spPr>
          <a:xfrm>
            <a:off x="6972300" y="2447925"/>
            <a:ext cx="4819650" cy="685800"/>
          </a:xfrm>
          <a:prstGeom prst="rect">
            <a:avLst/>
          </a:prstGeom>
          <a:solidFill>
            <a:srgbClr val="EDEDED"/>
          </a:solidFill>
          <a:ln w="9525">
            <a:solidFill>
              <a:srgbClr val="B8BCC4"/>
            </a:solidFill>
            <a:prstDash val="solid"/>
          </a:ln>
        </p:spPr>
        <p:txBody>
          <a:bodyPr/>
          <a:lstStyle/>
          <a:p>
            <a:endParaRPr/>
          </a:p>
        </p:txBody>
      </p:sp>
      <p:sp>
        <p:nvSpPr>
          <p:cNvPr id="16" name="Rectangle 15">
            <a:extLst>
              <a:ext uri="{FF2B5EF4-FFF2-40B4-BE49-F238E27FC236}">
                <a16:creationId xmlns:a16="http://schemas.microsoft.com/office/drawing/2014/main" id="{9D71A154-ED5F-4511-9EB6-A98BE8EDE81B}"/>
              </a:ext>
            </a:extLst>
          </p:cNvPr>
          <p:cNvSpPr>
            <a:spLocks noGrp="1"/>
          </p:cNvSpPr>
          <p:nvPr/>
        </p:nvSpPr>
        <p:spPr>
          <a:xfrm>
            <a:off x="7105650" y="2562225"/>
            <a:ext cx="4552950" cy="495300"/>
          </a:xfrm>
          <a:prstGeom prst="rect">
            <a:avLst/>
          </a:prstGeom>
          <a:noFill/>
          <a:ln w="0">
            <a:noFill/>
            <a:prstDash val="solid"/>
          </a:ln>
        </p:spPr>
        <p:txBody>
          <a:bodyPr wrap="square" anchor="t">
            <a:normAutofit/>
          </a:bodyPr>
          <a:lstStyle/>
          <a:p>
            <a:pPr algn="l">
              <a:buNone/>
              <a:defRPr sz="1200" b="0">
                <a:solidFill>
                  <a:srgbClr val="111111"/>
                </a:solidFill>
                <a:latin typeface="Arial"/>
                <a:ea typeface="Arial"/>
                <a:cs typeface="Arial"/>
              </a:defRPr>
            </a:pPr>
            <a:r>
              <a:rPr sz="1200" b="0">
                <a:solidFill>
                  <a:srgbClr val="111111"/>
                </a:solidFill>
                <a:latin typeface="Arial"/>
                <a:ea typeface="Arial"/>
                <a:cs typeface="Arial"/>
              </a:rPr>
              <a:t>Give exact instructions to a computer</a:t>
            </a:r>
          </a:p>
        </p:txBody>
      </p:sp>
      <p:sp>
        <p:nvSpPr>
          <p:cNvPr id="17" name="Rectangle 16">
            <a:extLst>
              <a:ext uri="{FF2B5EF4-FFF2-40B4-BE49-F238E27FC236}">
                <a16:creationId xmlns:a16="http://schemas.microsoft.com/office/drawing/2014/main" id="{D9965848-6877-41E1-B497-7720D8C86A61}"/>
              </a:ext>
            </a:extLst>
          </p:cNvPr>
          <p:cNvSpPr>
            <a:spLocks noGrp="1"/>
          </p:cNvSpPr>
          <p:nvPr/>
        </p:nvSpPr>
        <p:spPr>
          <a:xfrm>
            <a:off x="400050" y="3133725"/>
            <a:ext cx="2095500" cy="685800"/>
          </a:xfrm>
          <a:prstGeom prst="rect">
            <a:avLst/>
          </a:prstGeom>
          <a:solidFill>
            <a:srgbClr val="FFFFFF"/>
          </a:solidFill>
          <a:ln w="9525">
            <a:solidFill>
              <a:srgbClr val="B8BCC4"/>
            </a:solidFill>
            <a:prstDash val="solid"/>
          </a:ln>
        </p:spPr>
        <p:txBody>
          <a:bodyPr/>
          <a:lstStyle/>
          <a:p>
            <a:endParaRPr/>
          </a:p>
        </p:txBody>
      </p:sp>
      <p:sp>
        <p:nvSpPr>
          <p:cNvPr id="18" name="Rectangle 17">
            <a:extLst>
              <a:ext uri="{FF2B5EF4-FFF2-40B4-BE49-F238E27FC236}">
                <a16:creationId xmlns:a16="http://schemas.microsoft.com/office/drawing/2014/main" id="{A43C35A7-CB08-468D-8918-2B7B4E4B4D36}"/>
              </a:ext>
            </a:extLst>
          </p:cNvPr>
          <p:cNvSpPr>
            <a:spLocks noGrp="1"/>
          </p:cNvSpPr>
          <p:nvPr/>
        </p:nvSpPr>
        <p:spPr>
          <a:xfrm>
            <a:off x="533400" y="3248025"/>
            <a:ext cx="1828800" cy="495300"/>
          </a:xfrm>
          <a:prstGeom prst="rect">
            <a:avLst/>
          </a:prstGeom>
          <a:noFill/>
          <a:ln w="0">
            <a:noFill/>
            <a:prstDash val="solid"/>
          </a:ln>
        </p:spPr>
        <p:txBody>
          <a:bodyPr wrap="square" anchor="t">
            <a:normAutofit/>
          </a:bodyPr>
          <a:lstStyle/>
          <a:p>
            <a:pPr algn="l">
              <a:buNone/>
              <a:defRPr sz="1200" b="1">
                <a:solidFill>
                  <a:srgbClr val="111111"/>
                </a:solidFill>
                <a:latin typeface="Arial"/>
                <a:ea typeface="Arial"/>
                <a:cs typeface="Arial"/>
              </a:defRPr>
            </a:pPr>
            <a:r>
              <a:rPr sz="1200" b="1">
                <a:solidFill>
                  <a:srgbClr val="111111"/>
                </a:solidFill>
                <a:latin typeface="Arial"/>
                <a:ea typeface="Arial"/>
                <a:cs typeface="Arial"/>
              </a:rPr>
              <a:t>Rules</a:t>
            </a:r>
          </a:p>
        </p:txBody>
      </p:sp>
      <p:sp>
        <p:nvSpPr>
          <p:cNvPr id="19" name="Rectangle 18">
            <a:extLst>
              <a:ext uri="{FF2B5EF4-FFF2-40B4-BE49-F238E27FC236}">
                <a16:creationId xmlns:a16="http://schemas.microsoft.com/office/drawing/2014/main" id="{F8EA35BF-1434-4F62-9D27-CA020DA13AE2}"/>
              </a:ext>
            </a:extLst>
          </p:cNvPr>
          <p:cNvSpPr>
            <a:spLocks noGrp="1"/>
          </p:cNvSpPr>
          <p:nvPr/>
        </p:nvSpPr>
        <p:spPr>
          <a:xfrm>
            <a:off x="2495550" y="3133725"/>
            <a:ext cx="4476750" cy="685800"/>
          </a:xfrm>
          <a:prstGeom prst="rect">
            <a:avLst/>
          </a:prstGeom>
          <a:solidFill>
            <a:srgbClr val="FFFFFF"/>
          </a:solidFill>
          <a:ln w="9525">
            <a:solidFill>
              <a:srgbClr val="B8BCC4"/>
            </a:solidFill>
            <a:prstDash val="solid"/>
          </a:ln>
        </p:spPr>
        <p:txBody>
          <a:bodyPr/>
          <a:lstStyle/>
          <a:p>
            <a:endParaRPr/>
          </a:p>
        </p:txBody>
      </p:sp>
      <p:sp>
        <p:nvSpPr>
          <p:cNvPr id="20" name="Rectangle 19">
            <a:extLst>
              <a:ext uri="{FF2B5EF4-FFF2-40B4-BE49-F238E27FC236}">
                <a16:creationId xmlns:a16="http://schemas.microsoft.com/office/drawing/2014/main" id="{5D9CB77D-7083-49FA-979C-A77A93C8F7B9}"/>
              </a:ext>
            </a:extLst>
          </p:cNvPr>
          <p:cNvSpPr>
            <a:spLocks noGrp="1"/>
          </p:cNvSpPr>
          <p:nvPr/>
        </p:nvSpPr>
        <p:spPr>
          <a:xfrm>
            <a:off x="2628900" y="3248025"/>
            <a:ext cx="4210050" cy="495300"/>
          </a:xfrm>
          <a:prstGeom prst="rect">
            <a:avLst/>
          </a:prstGeom>
          <a:noFill/>
          <a:ln w="0">
            <a:noFill/>
            <a:prstDash val="solid"/>
          </a:ln>
        </p:spPr>
        <p:txBody>
          <a:bodyPr wrap="square" anchor="t">
            <a:normAutofit/>
          </a:bodyPr>
          <a:lstStyle/>
          <a:p>
            <a:pPr algn="l">
              <a:buNone/>
              <a:defRPr sz="1200" b="0">
                <a:solidFill>
                  <a:srgbClr val="111111"/>
                </a:solidFill>
                <a:latin typeface="Arial"/>
                <a:ea typeface="Arial"/>
                <a:cs typeface="Arial"/>
              </a:defRPr>
            </a:pPr>
            <a:r>
              <a:rPr sz="1200" b="0">
                <a:solidFill>
                  <a:srgbClr val="111111"/>
                </a:solidFill>
                <a:latin typeface="Arial"/>
                <a:ea typeface="Arial"/>
                <a:cs typeface="Arial"/>
              </a:rPr>
              <a:t>Grammar and conventions</a:t>
            </a:r>
          </a:p>
        </p:txBody>
      </p:sp>
      <p:sp>
        <p:nvSpPr>
          <p:cNvPr id="21" name="Rectangle 20">
            <a:extLst>
              <a:ext uri="{FF2B5EF4-FFF2-40B4-BE49-F238E27FC236}">
                <a16:creationId xmlns:a16="http://schemas.microsoft.com/office/drawing/2014/main" id="{7DFDED31-9B01-4E8E-BDDC-7932575F98FC}"/>
              </a:ext>
            </a:extLst>
          </p:cNvPr>
          <p:cNvSpPr>
            <a:spLocks noGrp="1"/>
          </p:cNvSpPr>
          <p:nvPr/>
        </p:nvSpPr>
        <p:spPr>
          <a:xfrm>
            <a:off x="6972300" y="3133725"/>
            <a:ext cx="4819650" cy="685800"/>
          </a:xfrm>
          <a:prstGeom prst="rect">
            <a:avLst/>
          </a:prstGeom>
          <a:solidFill>
            <a:srgbClr val="FFFFFF"/>
          </a:solidFill>
          <a:ln w="9525">
            <a:solidFill>
              <a:srgbClr val="B8BCC4"/>
            </a:solidFill>
            <a:prstDash val="solid"/>
          </a:ln>
        </p:spPr>
        <p:txBody>
          <a:bodyPr/>
          <a:lstStyle/>
          <a:p>
            <a:endParaRPr/>
          </a:p>
        </p:txBody>
      </p:sp>
      <p:sp>
        <p:nvSpPr>
          <p:cNvPr id="22" name="Rectangle 21">
            <a:extLst>
              <a:ext uri="{FF2B5EF4-FFF2-40B4-BE49-F238E27FC236}">
                <a16:creationId xmlns:a16="http://schemas.microsoft.com/office/drawing/2014/main" id="{440A60A2-740D-47EB-8BD3-84ABD43DB3DD}"/>
              </a:ext>
            </a:extLst>
          </p:cNvPr>
          <p:cNvSpPr>
            <a:spLocks noGrp="1"/>
          </p:cNvSpPr>
          <p:nvPr/>
        </p:nvSpPr>
        <p:spPr>
          <a:xfrm>
            <a:off x="7105650" y="3248025"/>
            <a:ext cx="4552950" cy="495300"/>
          </a:xfrm>
          <a:prstGeom prst="rect">
            <a:avLst/>
          </a:prstGeom>
          <a:noFill/>
          <a:ln w="0">
            <a:noFill/>
            <a:prstDash val="solid"/>
          </a:ln>
        </p:spPr>
        <p:txBody>
          <a:bodyPr wrap="square" anchor="t">
            <a:normAutofit/>
          </a:bodyPr>
          <a:lstStyle/>
          <a:p>
            <a:pPr algn="l">
              <a:buNone/>
              <a:defRPr sz="1200" b="0">
                <a:solidFill>
                  <a:srgbClr val="111111"/>
                </a:solidFill>
                <a:latin typeface="Arial"/>
                <a:ea typeface="Arial"/>
                <a:cs typeface="Arial"/>
              </a:defRPr>
            </a:pPr>
            <a:r>
              <a:rPr sz="1200" b="0">
                <a:solidFill>
                  <a:srgbClr val="111111"/>
                </a:solidFill>
                <a:latin typeface="Arial"/>
                <a:ea typeface="Arial"/>
                <a:cs typeface="Arial"/>
              </a:rPr>
              <a:t>Strict syntax and grammar</a:t>
            </a:r>
          </a:p>
        </p:txBody>
      </p:sp>
      <p:sp>
        <p:nvSpPr>
          <p:cNvPr id="23" name="Rectangle 22">
            <a:extLst>
              <a:ext uri="{FF2B5EF4-FFF2-40B4-BE49-F238E27FC236}">
                <a16:creationId xmlns:a16="http://schemas.microsoft.com/office/drawing/2014/main" id="{10EFCEE9-519E-4C84-8D8A-D9C5B67E5CD3}"/>
              </a:ext>
            </a:extLst>
          </p:cNvPr>
          <p:cNvSpPr>
            <a:spLocks noGrp="1"/>
          </p:cNvSpPr>
          <p:nvPr/>
        </p:nvSpPr>
        <p:spPr>
          <a:xfrm>
            <a:off x="400050" y="3819525"/>
            <a:ext cx="2095500" cy="685800"/>
          </a:xfrm>
          <a:prstGeom prst="rect">
            <a:avLst/>
          </a:prstGeom>
          <a:solidFill>
            <a:srgbClr val="EDEDED"/>
          </a:solidFill>
          <a:ln w="9525">
            <a:solidFill>
              <a:srgbClr val="B8BCC4"/>
            </a:solidFill>
            <a:prstDash val="solid"/>
          </a:ln>
        </p:spPr>
        <p:txBody>
          <a:bodyPr/>
          <a:lstStyle/>
          <a:p>
            <a:endParaRPr/>
          </a:p>
        </p:txBody>
      </p:sp>
      <p:sp>
        <p:nvSpPr>
          <p:cNvPr id="24" name="Rectangle 23">
            <a:extLst>
              <a:ext uri="{FF2B5EF4-FFF2-40B4-BE49-F238E27FC236}">
                <a16:creationId xmlns:a16="http://schemas.microsoft.com/office/drawing/2014/main" id="{3774B948-5163-4425-8088-983D1E2E86D5}"/>
              </a:ext>
            </a:extLst>
          </p:cNvPr>
          <p:cNvSpPr>
            <a:spLocks noGrp="1"/>
          </p:cNvSpPr>
          <p:nvPr/>
        </p:nvSpPr>
        <p:spPr>
          <a:xfrm>
            <a:off x="533400" y="3933825"/>
            <a:ext cx="1828800" cy="495300"/>
          </a:xfrm>
          <a:prstGeom prst="rect">
            <a:avLst/>
          </a:prstGeom>
          <a:noFill/>
          <a:ln w="0">
            <a:noFill/>
            <a:prstDash val="solid"/>
          </a:ln>
        </p:spPr>
        <p:txBody>
          <a:bodyPr wrap="square" anchor="t">
            <a:normAutofit/>
          </a:bodyPr>
          <a:lstStyle/>
          <a:p>
            <a:pPr algn="l">
              <a:buNone/>
              <a:defRPr sz="1200" b="1">
                <a:solidFill>
                  <a:srgbClr val="111111"/>
                </a:solidFill>
                <a:latin typeface="Arial"/>
                <a:ea typeface="Arial"/>
                <a:cs typeface="Arial"/>
              </a:defRPr>
            </a:pPr>
            <a:r>
              <a:rPr sz="1200" b="1">
                <a:solidFill>
                  <a:srgbClr val="111111"/>
                </a:solidFill>
                <a:latin typeface="Arial"/>
                <a:ea typeface="Arial"/>
                <a:cs typeface="Arial"/>
              </a:rPr>
              <a:t>Ambiguity</a:t>
            </a:r>
          </a:p>
        </p:txBody>
      </p:sp>
      <p:sp>
        <p:nvSpPr>
          <p:cNvPr id="25" name="Rectangle 24">
            <a:extLst>
              <a:ext uri="{FF2B5EF4-FFF2-40B4-BE49-F238E27FC236}">
                <a16:creationId xmlns:a16="http://schemas.microsoft.com/office/drawing/2014/main" id="{87956D12-DAF1-45FB-A915-4A5EA963FF28}"/>
              </a:ext>
            </a:extLst>
          </p:cNvPr>
          <p:cNvSpPr>
            <a:spLocks noGrp="1"/>
          </p:cNvSpPr>
          <p:nvPr/>
        </p:nvSpPr>
        <p:spPr>
          <a:xfrm>
            <a:off x="2495550" y="3819525"/>
            <a:ext cx="4476750" cy="685800"/>
          </a:xfrm>
          <a:prstGeom prst="rect">
            <a:avLst/>
          </a:prstGeom>
          <a:solidFill>
            <a:srgbClr val="EDEDED"/>
          </a:solidFill>
          <a:ln w="9525">
            <a:solidFill>
              <a:srgbClr val="B8BCC4"/>
            </a:solidFill>
            <a:prstDash val="solid"/>
          </a:ln>
        </p:spPr>
        <p:txBody>
          <a:bodyPr/>
          <a:lstStyle/>
          <a:p>
            <a:endParaRPr/>
          </a:p>
        </p:txBody>
      </p:sp>
      <p:sp>
        <p:nvSpPr>
          <p:cNvPr id="26" name="Rectangle 25">
            <a:extLst>
              <a:ext uri="{FF2B5EF4-FFF2-40B4-BE49-F238E27FC236}">
                <a16:creationId xmlns:a16="http://schemas.microsoft.com/office/drawing/2014/main" id="{C62EA2D2-EBB9-4987-B337-0CEAE2CB8B1E}"/>
              </a:ext>
            </a:extLst>
          </p:cNvPr>
          <p:cNvSpPr>
            <a:spLocks noGrp="1"/>
          </p:cNvSpPr>
          <p:nvPr/>
        </p:nvSpPr>
        <p:spPr>
          <a:xfrm>
            <a:off x="2628900" y="3933825"/>
            <a:ext cx="4210050" cy="495300"/>
          </a:xfrm>
          <a:prstGeom prst="rect">
            <a:avLst/>
          </a:prstGeom>
          <a:noFill/>
          <a:ln w="0">
            <a:noFill/>
            <a:prstDash val="solid"/>
          </a:ln>
        </p:spPr>
        <p:txBody>
          <a:bodyPr wrap="square" anchor="t">
            <a:normAutofit/>
          </a:bodyPr>
          <a:lstStyle/>
          <a:p>
            <a:pPr algn="l">
              <a:buNone/>
              <a:defRPr sz="1200" b="0">
                <a:solidFill>
                  <a:srgbClr val="111111"/>
                </a:solidFill>
                <a:latin typeface="Arial"/>
                <a:ea typeface="Arial"/>
                <a:cs typeface="Arial"/>
              </a:defRPr>
            </a:pPr>
            <a:r>
              <a:rPr sz="1200" b="0">
                <a:solidFill>
                  <a:srgbClr val="111111"/>
                </a:solidFill>
                <a:latin typeface="Arial"/>
                <a:ea typeface="Arial"/>
                <a:cs typeface="Arial"/>
              </a:rPr>
              <a:t>Often understood from context</a:t>
            </a:r>
          </a:p>
        </p:txBody>
      </p:sp>
      <p:sp>
        <p:nvSpPr>
          <p:cNvPr id="27" name="Rectangle 26">
            <a:extLst>
              <a:ext uri="{FF2B5EF4-FFF2-40B4-BE49-F238E27FC236}">
                <a16:creationId xmlns:a16="http://schemas.microsoft.com/office/drawing/2014/main" id="{B6DE7B49-D45D-4BC6-ACA0-13CE8B70226F}"/>
              </a:ext>
            </a:extLst>
          </p:cNvPr>
          <p:cNvSpPr>
            <a:spLocks noGrp="1"/>
          </p:cNvSpPr>
          <p:nvPr/>
        </p:nvSpPr>
        <p:spPr>
          <a:xfrm>
            <a:off x="6972300" y="3819525"/>
            <a:ext cx="4819650" cy="685800"/>
          </a:xfrm>
          <a:prstGeom prst="rect">
            <a:avLst/>
          </a:prstGeom>
          <a:solidFill>
            <a:srgbClr val="EDEDED"/>
          </a:solidFill>
          <a:ln w="9525">
            <a:solidFill>
              <a:srgbClr val="B8BCC4"/>
            </a:solidFill>
            <a:prstDash val="solid"/>
          </a:ln>
        </p:spPr>
        <p:txBody>
          <a:bodyPr/>
          <a:lstStyle/>
          <a:p>
            <a:endParaRPr/>
          </a:p>
        </p:txBody>
      </p:sp>
      <p:sp>
        <p:nvSpPr>
          <p:cNvPr id="28" name="Rectangle 27">
            <a:extLst>
              <a:ext uri="{FF2B5EF4-FFF2-40B4-BE49-F238E27FC236}">
                <a16:creationId xmlns:a16="http://schemas.microsoft.com/office/drawing/2014/main" id="{E4FB3E41-A7A9-4221-9099-FDD760EE9DB5}"/>
              </a:ext>
            </a:extLst>
          </p:cNvPr>
          <p:cNvSpPr>
            <a:spLocks noGrp="1"/>
          </p:cNvSpPr>
          <p:nvPr/>
        </p:nvSpPr>
        <p:spPr>
          <a:xfrm>
            <a:off x="7105650" y="3933825"/>
            <a:ext cx="4552950" cy="495300"/>
          </a:xfrm>
          <a:prstGeom prst="rect">
            <a:avLst/>
          </a:prstGeom>
          <a:noFill/>
          <a:ln w="0">
            <a:noFill/>
            <a:prstDash val="solid"/>
          </a:ln>
        </p:spPr>
        <p:txBody>
          <a:bodyPr wrap="square" anchor="t">
            <a:normAutofit/>
          </a:bodyPr>
          <a:lstStyle/>
          <a:p>
            <a:pPr algn="l">
              <a:buNone/>
              <a:defRPr sz="1200" b="0">
                <a:solidFill>
                  <a:srgbClr val="111111"/>
                </a:solidFill>
                <a:latin typeface="Arial"/>
                <a:ea typeface="Arial"/>
                <a:cs typeface="Arial"/>
              </a:defRPr>
            </a:pPr>
            <a:r>
              <a:rPr sz="1200" b="0">
                <a:solidFill>
                  <a:srgbClr val="111111"/>
                </a:solidFill>
                <a:latin typeface="Arial"/>
                <a:ea typeface="Arial"/>
                <a:cs typeface="Arial"/>
              </a:rPr>
              <a:t>Usually causes error or wrong behaviour</a:t>
            </a:r>
          </a:p>
        </p:txBody>
      </p:sp>
      <p:sp>
        <p:nvSpPr>
          <p:cNvPr id="29" name="Rectangle 28">
            <a:extLst>
              <a:ext uri="{FF2B5EF4-FFF2-40B4-BE49-F238E27FC236}">
                <a16:creationId xmlns:a16="http://schemas.microsoft.com/office/drawing/2014/main" id="{ED889E4B-BE42-4F07-80E6-CF8E0C23F27A}"/>
              </a:ext>
            </a:extLst>
          </p:cNvPr>
          <p:cNvSpPr>
            <a:spLocks noGrp="1"/>
          </p:cNvSpPr>
          <p:nvPr/>
        </p:nvSpPr>
        <p:spPr>
          <a:xfrm>
            <a:off x="400050" y="4505325"/>
            <a:ext cx="2095500" cy="685800"/>
          </a:xfrm>
          <a:prstGeom prst="rect">
            <a:avLst/>
          </a:prstGeom>
          <a:solidFill>
            <a:srgbClr val="FFFFFF"/>
          </a:solidFill>
          <a:ln w="9525">
            <a:solidFill>
              <a:srgbClr val="B8BCC4"/>
            </a:solidFill>
            <a:prstDash val="solid"/>
          </a:ln>
        </p:spPr>
        <p:txBody>
          <a:bodyPr/>
          <a:lstStyle/>
          <a:p>
            <a:endParaRPr/>
          </a:p>
        </p:txBody>
      </p:sp>
      <p:sp>
        <p:nvSpPr>
          <p:cNvPr id="30" name="Rectangle 29">
            <a:extLst>
              <a:ext uri="{FF2B5EF4-FFF2-40B4-BE49-F238E27FC236}">
                <a16:creationId xmlns:a16="http://schemas.microsoft.com/office/drawing/2014/main" id="{F6215672-13E5-4CF0-9BAF-BE01C3253BE5}"/>
              </a:ext>
            </a:extLst>
          </p:cNvPr>
          <p:cNvSpPr>
            <a:spLocks noGrp="1"/>
          </p:cNvSpPr>
          <p:nvPr/>
        </p:nvSpPr>
        <p:spPr>
          <a:xfrm>
            <a:off x="533400" y="4619625"/>
            <a:ext cx="1828800" cy="495300"/>
          </a:xfrm>
          <a:prstGeom prst="rect">
            <a:avLst/>
          </a:prstGeom>
          <a:noFill/>
          <a:ln w="0">
            <a:noFill/>
            <a:prstDash val="solid"/>
          </a:ln>
        </p:spPr>
        <p:txBody>
          <a:bodyPr wrap="square" anchor="t">
            <a:normAutofit/>
          </a:bodyPr>
          <a:lstStyle/>
          <a:p>
            <a:pPr algn="l">
              <a:buNone/>
              <a:defRPr sz="1200" b="1">
                <a:solidFill>
                  <a:srgbClr val="111111"/>
                </a:solidFill>
                <a:latin typeface="Arial"/>
                <a:ea typeface="Arial"/>
                <a:cs typeface="Arial"/>
              </a:defRPr>
            </a:pPr>
            <a:r>
              <a:rPr sz="1200" b="1">
                <a:solidFill>
                  <a:srgbClr val="111111"/>
                </a:solidFill>
                <a:latin typeface="Arial"/>
                <a:ea typeface="Arial"/>
                <a:cs typeface="Arial"/>
              </a:rPr>
              <a:t>Vocabulary</a:t>
            </a:r>
          </a:p>
        </p:txBody>
      </p:sp>
      <p:sp>
        <p:nvSpPr>
          <p:cNvPr id="31" name="Rectangle 30">
            <a:extLst>
              <a:ext uri="{FF2B5EF4-FFF2-40B4-BE49-F238E27FC236}">
                <a16:creationId xmlns:a16="http://schemas.microsoft.com/office/drawing/2014/main" id="{896FA637-95A3-408B-B83F-32B6A5BE7F36}"/>
              </a:ext>
            </a:extLst>
          </p:cNvPr>
          <p:cNvSpPr>
            <a:spLocks noGrp="1"/>
          </p:cNvSpPr>
          <p:nvPr/>
        </p:nvSpPr>
        <p:spPr>
          <a:xfrm>
            <a:off x="2495550" y="4505325"/>
            <a:ext cx="4476750" cy="685800"/>
          </a:xfrm>
          <a:prstGeom prst="rect">
            <a:avLst/>
          </a:prstGeom>
          <a:solidFill>
            <a:srgbClr val="FFFFFF"/>
          </a:solidFill>
          <a:ln w="9525">
            <a:solidFill>
              <a:srgbClr val="B8BCC4"/>
            </a:solidFill>
            <a:prstDash val="solid"/>
          </a:ln>
        </p:spPr>
        <p:txBody>
          <a:bodyPr/>
          <a:lstStyle/>
          <a:p>
            <a:endParaRPr/>
          </a:p>
        </p:txBody>
      </p:sp>
      <p:sp>
        <p:nvSpPr>
          <p:cNvPr id="32" name="Rectangle 31">
            <a:extLst>
              <a:ext uri="{FF2B5EF4-FFF2-40B4-BE49-F238E27FC236}">
                <a16:creationId xmlns:a16="http://schemas.microsoft.com/office/drawing/2014/main" id="{C9643386-9A03-433E-829D-A2973CFCA119}"/>
              </a:ext>
            </a:extLst>
          </p:cNvPr>
          <p:cNvSpPr>
            <a:spLocks noGrp="1"/>
          </p:cNvSpPr>
          <p:nvPr/>
        </p:nvSpPr>
        <p:spPr>
          <a:xfrm>
            <a:off x="2628900" y="4619625"/>
            <a:ext cx="4210050" cy="495300"/>
          </a:xfrm>
          <a:prstGeom prst="rect">
            <a:avLst/>
          </a:prstGeom>
          <a:noFill/>
          <a:ln w="0">
            <a:noFill/>
            <a:prstDash val="solid"/>
          </a:ln>
        </p:spPr>
        <p:txBody>
          <a:bodyPr wrap="square" anchor="t">
            <a:normAutofit/>
          </a:bodyPr>
          <a:lstStyle/>
          <a:p>
            <a:pPr algn="l">
              <a:buNone/>
              <a:defRPr sz="1200" b="0">
                <a:solidFill>
                  <a:srgbClr val="111111"/>
                </a:solidFill>
                <a:latin typeface="Arial"/>
                <a:ea typeface="Arial"/>
                <a:cs typeface="Arial"/>
              </a:defRPr>
            </a:pPr>
            <a:r>
              <a:rPr sz="1200" b="0">
                <a:solidFill>
                  <a:srgbClr val="111111"/>
                </a:solidFill>
                <a:latin typeface="Arial"/>
                <a:ea typeface="Arial"/>
                <a:cs typeface="Arial"/>
              </a:rPr>
              <a:t>Very large and flexible</a:t>
            </a:r>
          </a:p>
        </p:txBody>
      </p:sp>
      <p:sp>
        <p:nvSpPr>
          <p:cNvPr id="33" name="Rectangle 32">
            <a:extLst>
              <a:ext uri="{FF2B5EF4-FFF2-40B4-BE49-F238E27FC236}">
                <a16:creationId xmlns:a16="http://schemas.microsoft.com/office/drawing/2014/main" id="{A646D2D9-1EDA-44CA-AB71-F6C2959F1C39}"/>
              </a:ext>
            </a:extLst>
          </p:cNvPr>
          <p:cNvSpPr>
            <a:spLocks noGrp="1"/>
          </p:cNvSpPr>
          <p:nvPr/>
        </p:nvSpPr>
        <p:spPr>
          <a:xfrm>
            <a:off x="6972300" y="4505325"/>
            <a:ext cx="4819650" cy="685800"/>
          </a:xfrm>
          <a:prstGeom prst="rect">
            <a:avLst/>
          </a:prstGeom>
          <a:solidFill>
            <a:srgbClr val="FFFFFF"/>
          </a:solidFill>
          <a:ln w="9525">
            <a:solidFill>
              <a:srgbClr val="B8BCC4"/>
            </a:solidFill>
            <a:prstDash val="solid"/>
          </a:ln>
        </p:spPr>
        <p:txBody>
          <a:bodyPr/>
          <a:lstStyle/>
          <a:p>
            <a:endParaRPr/>
          </a:p>
        </p:txBody>
      </p:sp>
      <p:sp>
        <p:nvSpPr>
          <p:cNvPr id="34" name="Rectangle 33">
            <a:extLst>
              <a:ext uri="{FF2B5EF4-FFF2-40B4-BE49-F238E27FC236}">
                <a16:creationId xmlns:a16="http://schemas.microsoft.com/office/drawing/2014/main" id="{4D20DFFD-3222-4AEF-A313-C2B5004D4713}"/>
              </a:ext>
            </a:extLst>
          </p:cNvPr>
          <p:cNvSpPr>
            <a:spLocks noGrp="1"/>
          </p:cNvSpPr>
          <p:nvPr/>
        </p:nvSpPr>
        <p:spPr>
          <a:xfrm>
            <a:off x="7105650" y="4619625"/>
            <a:ext cx="4552950" cy="495300"/>
          </a:xfrm>
          <a:prstGeom prst="rect">
            <a:avLst/>
          </a:prstGeom>
          <a:noFill/>
          <a:ln w="0">
            <a:noFill/>
            <a:prstDash val="solid"/>
          </a:ln>
        </p:spPr>
        <p:txBody>
          <a:bodyPr wrap="square" anchor="t">
            <a:normAutofit/>
          </a:bodyPr>
          <a:lstStyle/>
          <a:p>
            <a:pPr algn="l">
              <a:buNone/>
              <a:defRPr sz="1200" b="0">
                <a:solidFill>
                  <a:srgbClr val="111111"/>
                </a:solidFill>
                <a:latin typeface="Arial"/>
                <a:ea typeface="Arial"/>
                <a:cs typeface="Arial"/>
              </a:defRPr>
            </a:pPr>
            <a:r>
              <a:rPr sz="1200" b="0">
                <a:solidFill>
                  <a:srgbClr val="111111"/>
                </a:solidFill>
                <a:latin typeface="Arial"/>
                <a:ea typeface="Arial"/>
                <a:cs typeface="Arial"/>
              </a:rPr>
              <a:t>Limited keywords plus chosen names</a:t>
            </a:r>
          </a:p>
        </p:txBody>
      </p:sp>
      <p:sp>
        <p:nvSpPr>
          <p:cNvPr id="35" name="Rectangle 34">
            <a:extLst>
              <a:ext uri="{FF2B5EF4-FFF2-40B4-BE49-F238E27FC236}">
                <a16:creationId xmlns:a16="http://schemas.microsoft.com/office/drawing/2014/main" id="{A636247C-CD4C-4335-800F-C9BC7F7E034E}"/>
              </a:ext>
            </a:extLst>
          </p:cNvPr>
          <p:cNvSpPr>
            <a:spLocks noGrp="1"/>
          </p:cNvSpPr>
          <p:nvPr/>
        </p:nvSpPr>
        <p:spPr>
          <a:xfrm>
            <a:off x="400050" y="5191125"/>
            <a:ext cx="2095500" cy="685800"/>
          </a:xfrm>
          <a:prstGeom prst="rect">
            <a:avLst/>
          </a:prstGeom>
          <a:solidFill>
            <a:srgbClr val="EDEDED"/>
          </a:solidFill>
          <a:ln w="9525">
            <a:solidFill>
              <a:srgbClr val="B8BCC4"/>
            </a:solidFill>
            <a:prstDash val="solid"/>
          </a:ln>
        </p:spPr>
        <p:txBody>
          <a:bodyPr/>
          <a:lstStyle/>
          <a:p>
            <a:endParaRPr/>
          </a:p>
        </p:txBody>
      </p:sp>
      <p:sp>
        <p:nvSpPr>
          <p:cNvPr id="36" name="Rectangle 35">
            <a:extLst>
              <a:ext uri="{FF2B5EF4-FFF2-40B4-BE49-F238E27FC236}">
                <a16:creationId xmlns:a16="http://schemas.microsoft.com/office/drawing/2014/main" id="{EFD847F0-ACD3-4B93-95EA-B669B40303D7}"/>
              </a:ext>
            </a:extLst>
          </p:cNvPr>
          <p:cNvSpPr>
            <a:spLocks noGrp="1"/>
          </p:cNvSpPr>
          <p:nvPr/>
        </p:nvSpPr>
        <p:spPr>
          <a:xfrm>
            <a:off x="533400" y="5305425"/>
            <a:ext cx="1828800" cy="495300"/>
          </a:xfrm>
          <a:prstGeom prst="rect">
            <a:avLst/>
          </a:prstGeom>
          <a:noFill/>
          <a:ln w="0">
            <a:noFill/>
            <a:prstDash val="solid"/>
          </a:ln>
        </p:spPr>
        <p:txBody>
          <a:bodyPr wrap="square" anchor="t">
            <a:normAutofit/>
          </a:bodyPr>
          <a:lstStyle/>
          <a:p>
            <a:pPr algn="l">
              <a:buNone/>
              <a:defRPr sz="1200" b="1">
                <a:solidFill>
                  <a:srgbClr val="111111"/>
                </a:solidFill>
                <a:latin typeface="Arial"/>
                <a:ea typeface="Arial"/>
                <a:cs typeface="Arial"/>
              </a:defRPr>
            </a:pPr>
            <a:r>
              <a:rPr sz="1200" b="1">
                <a:solidFill>
                  <a:srgbClr val="111111"/>
                </a:solidFill>
                <a:latin typeface="Arial"/>
                <a:ea typeface="Arial"/>
                <a:cs typeface="Arial"/>
              </a:rPr>
              <a:t>Structure</a:t>
            </a:r>
          </a:p>
        </p:txBody>
      </p:sp>
      <p:sp>
        <p:nvSpPr>
          <p:cNvPr id="37" name="Rectangle 36">
            <a:extLst>
              <a:ext uri="{FF2B5EF4-FFF2-40B4-BE49-F238E27FC236}">
                <a16:creationId xmlns:a16="http://schemas.microsoft.com/office/drawing/2014/main" id="{45A60F85-FB54-473E-9169-18F0FF3FD678}"/>
              </a:ext>
            </a:extLst>
          </p:cNvPr>
          <p:cNvSpPr>
            <a:spLocks noGrp="1"/>
          </p:cNvSpPr>
          <p:nvPr/>
        </p:nvSpPr>
        <p:spPr>
          <a:xfrm>
            <a:off x="2495550" y="5191125"/>
            <a:ext cx="4476750" cy="685800"/>
          </a:xfrm>
          <a:prstGeom prst="rect">
            <a:avLst/>
          </a:prstGeom>
          <a:solidFill>
            <a:srgbClr val="EDEDED"/>
          </a:solidFill>
          <a:ln w="9525">
            <a:solidFill>
              <a:srgbClr val="B8BCC4"/>
            </a:solidFill>
            <a:prstDash val="solid"/>
          </a:ln>
        </p:spPr>
        <p:txBody>
          <a:bodyPr/>
          <a:lstStyle/>
          <a:p>
            <a:endParaRPr/>
          </a:p>
        </p:txBody>
      </p:sp>
      <p:sp>
        <p:nvSpPr>
          <p:cNvPr id="38" name="Rectangle 37">
            <a:extLst>
              <a:ext uri="{FF2B5EF4-FFF2-40B4-BE49-F238E27FC236}">
                <a16:creationId xmlns:a16="http://schemas.microsoft.com/office/drawing/2014/main" id="{D98CABF5-45BB-4A81-8D08-D84DD6E17DE9}"/>
              </a:ext>
            </a:extLst>
          </p:cNvPr>
          <p:cNvSpPr>
            <a:spLocks noGrp="1"/>
          </p:cNvSpPr>
          <p:nvPr/>
        </p:nvSpPr>
        <p:spPr>
          <a:xfrm>
            <a:off x="2628900" y="5305425"/>
            <a:ext cx="4210050" cy="495300"/>
          </a:xfrm>
          <a:prstGeom prst="rect">
            <a:avLst/>
          </a:prstGeom>
          <a:noFill/>
          <a:ln w="0">
            <a:noFill/>
            <a:prstDash val="solid"/>
          </a:ln>
        </p:spPr>
        <p:txBody>
          <a:bodyPr wrap="square" anchor="t">
            <a:normAutofit/>
          </a:bodyPr>
          <a:lstStyle/>
          <a:p>
            <a:pPr algn="l">
              <a:buNone/>
              <a:defRPr sz="1200" b="0">
                <a:solidFill>
                  <a:srgbClr val="111111"/>
                </a:solidFill>
                <a:latin typeface="Arial"/>
                <a:ea typeface="Arial"/>
                <a:cs typeface="Arial"/>
              </a:defRPr>
            </a:pPr>
            <a:r>
              <a:rPr sz="1200" b="0">
                <a:solidFill>
                  <a:srgbClr val="111111"/>
                </a:solidFill>
                <a:latin typeface="Arial"/>
                <a:ea typeface="Arial"/>
                <a:cs typeface="Arial"/>
              </a:rPr>
              <a:t>Sentences and paragraphs</a:t>
            </a:r>
          </a:p>
        </p:txBody>
      </p:sp>
      <p:sp>
        <p:nvSpPr>
          <p:cNvPr id="39" name="Rectangle 38">
            <a:extLst>
              <a:ext uri="{FF2B5EF4-FFF2-40B4-BE49-F238E27FC236}">
                <a16:creationId xmlns:a16="http://schemas.microsoft.com/office/drawing/2014/main" id="{356BF8E0-9B00-45E9-83AC-6FB171FFF203}"/>
              </a:ext>
            </a:extLst>
          </p:cNvPr>
          <p:cNvSpPr>
            <a:spLocks noGrp="1"/>
          </p:cNvSpPr>
          <p:nvPr/>
        </p:nvSpPr>
        <p:spPr>
          <a:xfrm>
            <a:off x="6972300" y="5191125"/>
            <a:ext cx="4819650" cy="685800"/>
          </a:xfrm>
          <a:prstGeom prst="rect">
            <a:avLst/>
          </a:prstGeom>
          <a:solidFill>
            <a:srgbClr val="EDEDED"/>
          </a:solidFill>
          <a:ln w="9525">
            <a:solidFill>
              <a:srgbClr val="B8BCC4"/>
            </a:solidFill>
            <a:prstDash val="solid"/>
          </a:ln>
        </p:spPr>
        <p:txBody>
          <a:bodyPr/>
          <a:lstStyle/>
          <a:p>
            <a:endParaRPr/>
          </a:p>
        </p:txBody>
      </p:sp>
      <p:sp>
        <p:nvSpPr>
          <p:cNvPr id="40" name="Rectangle 39">
            <a:extLst>
              <a:ext uri="{FF2B5EF4-FFF2-40B4-BE49-F238E27FC236}">
                <a16:creationId xmlns:a16="http://schemas.microsoft.com/office/drawing/2014/main" id="{7B4BFC47-854B-4BF7-BF87-8BE5EEFFF26C}"/>
              </a:ext>
            </a:extLst>
          </p:cNvPr>
          <p:cNvSpPr>
            <a:spLocks noGrp="1"/>
          </p:cNvSpPr>
          <p:nvPr/>
        </p:nvSpPr>
        <p:spPr>
          <a:xfrm>
            <a:off x="7105650" y="5305425"/>
            <a:ext cx="4552950" cy="495300"/>
          </a:xfrm>
          <a:prstGeom prst="rect">
            <a:avLst/>
          </a:prstGeom>
          <a:noFill/>
          <a:ln w="0">
            <a:noFill/>
            <a:prstDash val="solid"/>
          </a:ln>
        </p:spPr>
        <p:txBody>
          <a:bodyPr wrap="square" anchor="t">
            <a:normAutofit/>
          </a:bodyPr>
          <a:lstStyle/>
          <a:p>
            <a:pPr algn="l">
              <a:buNone/>
              <a:defRPr sz="1200" b="0">
                <a:solidFill>
                  <a:srgbClr val="111111"/>
                </a:solidFill>
                <a:latin typeface="Arial"/>
                <a:ea typeface="Arial"/>
                <a:cs typeface="Arial"/>
              </a:defRPr>
            </a:pPr>
            <a:r>
              <a:rPr sz="1200" b="0">
                <a:solidFill>
                  <a:srgbClr val="111111"/>
                </a:solidFill>
                <a:latin typeface="Arial"/>
                <a:ea typeface="Arial"/>
                <a:cs typeface="Arial"/>
              </a:rPr>
              <a:t>Statements, blocks, functions and files</a:t>
            </a:r>
          </a:p>
        </p:txBody>
      </p:sp>
    </p:spTree>
    <p:extLst>
      <p:ext uri="{BB962C8B-B14F-4D97-AF65-F5344CB8AC3E}">
        <p14:creationId xmlns:p14="http://schemas.microsoft.com/office/powerpoint/2010/main" val="2122790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1211</Words>
  <Application>Microsoft Office PowerPoint</Application>
  <DocSecurity>0</DocSecurity>
  <PresentationFormat>Widescreen</PresentationFormat>
  <Paragraphs>188</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Consolas</vt:lpstr>
      <vt:lpstr>Calibri</vt:lpstr>
      <vt:lpstr>Inter</vt:lpstr>
      <vt:lpstr>Arial</vt:lpstr>
      <vt:lpstr>Inter Bold</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Niloofar Aflaki</cp:lastModifiedBy>
  <cp:revision>1</cp:revision>
  <dcterms:created xsi:type="dcterms:W3CDTF">2026-09-20T09:23:28Z</dcterms:created>
  <dcterms:modified xsi:type="dcterms:W3CDTF">2026-09-20T09:26:37Z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d9e4d68-54d0-40a5-8c9a-85a36c87352c_Enabled">
    <vt:lpwstr>true</vt:lpwstr>
  </property>
  <property fmtid="{D5CDD505-2E9C-101B-9397-08002B2CF9AE}" pid="3" name="MSIP_Label_bd9e4d68-54d0-40a5-8c9a-85a36c87352c_SetDate">
    <vt:lpwstr>2026-09-20T09:26:37Z</vt:lpwstr>
  </property>
  <property fmtid="{D5CDD505-2E9C-101B-9397-08002B2CF9AE}" pid="4" name="MSIP_Label_bd9e4d68-54d0-40a5-8c9a-85a36c87352c_Method">
    <vt:lpwstr>Standard</vt:lpwstr>
  </property>
  <property fmtid="{D5CDD505-2E9C-101B-9397-08002B2CF9AE}" pid="5" name="MSIP_Label_bd9e4d68-54d0-40a5-8c9a-85a36c87352c_Name">
    <vt:lpwstr>Unclassified</vt:lpwstr>
  </property>
  <property fmtid="{D5CDD505-2E9C-101B-9397-08002B2CF9AE}" pid="6" name="MSIP_Label_bd9e4d68-54d0-40a5-8c9a-85a36c87352c_SiteId">
    <vt:lpwstr>388728e1-bbd0-4378-98dc-f8682e644300</vt:lpwstr>
  </property>
  <property fmtid="{D5CDD505-2E9C-101B-9397-08002B2CF9AE}" pid="7" name="MSIP_Label_bd9e4d68-54d0-40a5-8c9a-85a36c87352c_ActionId">
    <vt:lpwstr>5d05ef05-fdb4-42dd-a09d-8712a0d0aa72</vt:lpwstr>
  </property>
  <property fmtid="{D5CDD505-2E9C-101B-9397-08002B2CF9AE}" pid="8" name="MSIP_Label_bd9e4d68-54d0-40a5-8c9a-85a36c87352c_ContentBits">
    <vt:lpwstr>0</vt:lpwstr>
  </property>
  <property fmtid="{D5CDD505-2E9C-101B-9397-08002B2CF9AE}" pid="9" name="MSIP_Label_bd9e4d68-54d0-40a5-8c9a-85a36c87352c_Tag">
    <vt:lpwstr>10, 3, 0, 1</vt:lpwstr>
  </property>
</Properties>
</file>