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74" r:id="rId3"/>
    <p:sldId id="258" r:id="rId4"/>
    <p:sldId id="273" r:id="rId5"/>
    <p:sldId id="271" r:id="rId6"/>
    <p:sldId id="266" r:id="rId7"/>
    <p:sldId id="25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235F4-505A-30BB-5A7F-114F3D8B7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2B475-014E-189F-120A-1DAA7D24A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B9412-3543-2971-B802-C0E06896B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9624A-107C-14CF-28B7-5C616BC0683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5161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B49D8F3-5042-4655-A153-8B4332C2DB1C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71437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13"/>
          </a:bodyPr>
          <a:lstStyle/>
          <a:p>
            <a:pPr>
              <a:defRPr sz="34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Working with the VM, HTTP and Moodle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F021E6-4142-4FC6-B6F4-51DF15A335BF}"/>
              </a:ext>
            </a:extLst>
          </p:cNvPr>
          <p:cNvSpPr>
            <a:spLocks noGrp="1"/>
          </p:cNvSpPr>
          <p:nvPr/>
        </p:nvSpPr>
        <p:spPr>
          <a:xfrm>
            <a:off x="695325" y="2305050"/>
            <a:ext cx="723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0">
                <a:solidFill>
                  <a:srgbClr val="D8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8E7EF"/>
                </a:solidFill>
                <a:latin typeface="Bitstream Charter"/>
                <a:ea typeface="Bitstream Charter"/>
                <a:cs typeface="Bitstream Charter"/>
              </a:rPr>
              <a:t>A practical session using RDP, SSH, PHP and browser tools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6A86D9-0351-4C4F-9D63-409BBD439474}"/>
              </a:ext>
            </a:extLst>
          </p:cNvPr>
          <p:cNvSpPr>
            <a:spLocks noGrp="1"/>
          </p:cNvSpPr>
          <p:nvPr/>
        </p:nvSpPr>
        <p:spPr>
          <a:xfrm>
            <a:off x="8572500" y="104775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234362"/>
          </a:solidFill>
          <a:ln w="9525">
            <a:solidFill>
              <a:srgbClr val="234362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363E2A-7880-4065-A961-B59EC25EBC6D}"/>
              </a:ext>
            </a:extLst>
          </p:cNvPr>
          <p:cNvSpPr>
            <a:spLocks noGrp="1"/>
          </p:cNvSpPr>
          <p:nvPr/>
        </p:nvSpPr>
        <p:spPr>
          <a:xfrm>
            <a:off x="8782050" y="1162050"/>
            <a:ext cx="1952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97" lnSpcReduction="20000"/>
          </a:bodyPr>
          <a:lstStyle/>
          <a:p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RDP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C8118-9879-4301-B614-53F0881DA15A}"/>
              </a:ext>
            </a:extLst>
          </p:cNvPr>
          <p:cNvSpPr>
            <a:spLocks noGrp="1"/>
          </p:cNvSpPr>
          <p:nvPr/>
        </p:nvSpPr>
        <p:spPr>
          <a:xfrm>
            <a:off x="8782050" y="1466850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405" lnSpcReduction="20000"/>
          </a:bodyPr>
          <a:lstStyle/>
          <a:p>
            <a:pPr>
              <a:defRPr sz="1050" b="0">
                <a:solidFill>
                  <a:srgbClr val="D8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D8E7EF"/>
                </a:solidFill>
                <a:latin typeface="Bitstream Charter"/>
                <a:ea typeface="Bitstream Charter"/>
                <a:cs typeface="Bitstream Charter"/>
              </a:rPr>
              <a:t>Desktop access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3B47DD-F378-415E-BD40-B39EA386827B}"/>
              </a:ext>
            </a:extLst>
          </p:cNvPr>
          <p:cNvSpPr>
            <a:spLocks noGrp="1"/>
          </p:cNvSpPr>
          <p:nvPr/>
        </p:nvSpPr>
        <p:spPr>
          <a:xfrm>
            <a:off x="8572500" y="207645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234362"/>
          </a:solidFill>
          <a:ln w="9525">
            <a:solidFill>
              <a:srgbClr val="234362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D7A07B-8380-456D-A205-EA94ACC687B1}"/>
              </a:ext>
            </a:extLst>
          </p:cNvPr>
          <p:cNvSpPr>
            <a:spLocks noGrp="1"/>
          </p:cNvSpPr>
          <p:nvPr/>
        </p:nvSpPr>
        <p:spPr>
          <a:xfrm>
            <a:off x="8782050" y="2190750"/>
            <a:ext cx="1952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97" lnSpcReduction="20000"/>
          </a:bodyPr>
          <a:lstStyle/>
          <a:p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SSH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42291-82A5-4829-8428-3BA0192E125E}"/>
              </a:ext>
            </a:extLst>
          </p:cNvPr>
          <p:cNvSpPr>
            <a:spLocks noGrp="1"/>
          </p:cNvSpPr>
          <p:nvPr/>
        </p:nvSpPr>
        <p:spPr>
          <a:xfrm>
            <a:off x="8782050" y="2495550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405" lnSpcReduction="20000"/>
          </a:bodyPr>
          <a:lstStyle/>
          <a:p>
            <a:pPr>
              <a:defRPr sz="1050" b="0">
                <a:solidFill>
                  <a:srgbClr val="D8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D8E7EF"/>
                </a:solidFill>
                <a:latin typeface="Bitstream Charter"/>
                <a:ea typeface="Bitstream Charter"/>
                <a:cs typeface="Bitstream Charter"/>
              </a:rPr>
              <a:t>Terminal access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C52A2F-D932-4A61-871B-A9419686F85D}"/>
              </a:ext>
            </a:extLst>
          </p:cNvPr>
          <p:cNvSpPr>
            <a:spLocks noGrp="1"/>
          </p:cNvSpPr>
          <p:nvPr/>
        </p:nvSpPr>
        <p:spPr>
          <a:xfrm>
            <a:off x="8572500" y="310515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5B642"/>
          </a:solidFill>
          <a:ln w="9525">
            <a:solidFill>
              <a:srgbClr val="F5B642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66951B-049D-46A6-B24C-248A448C7AF5}"/>
              </a:ext>
            </a:extLst>
          </p:cNvPr>
          <p:cNvSpPr>
            <a:spLocks noGrp="1"/>
          </p:cNvSpPr>
          <p:nvPr/>
        </p:nvSpPr>
        <p:spPr>
          <a:xfrm>
            <a:off x="8782050" y="3219450"/>
            <a:ext cx="1952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97" lnSpcReduction="20000"/>
          </a:bodyPr>
          <a:lstStyle/>
          <a:p>
            <a:pPr>
              <a:defRPr sz="16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HTTP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5CE59D-1AA0-4819-A843-11084D490919}"/>
              </a:ext>
            </a:extLst>
          </p:cNvPr>
          <p:cNvSpPr>
            <a:spLocks noGrp="1"/>
          </p:cNvSpPr>
          <p:nvPr/>
        </p:nvSpPr>
        <p:spPr>
          <a:xfrm>
            <a:off x="8782050" y="3524250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405" lnSpcReduction="20000"/>
          </a:bodyPr>
          <a:lstStyle/>
          <a:p>
            <a:pPr>
              <a:defRPr sz="1050" b="0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Browser evidence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7868C2-CFED-418A-B5E1-564395C6DD3B}"/>
              </a:ext>
            </a:extLst>
          </p:cNvPr>
          <p:cNvSpPr>
            <a:spLocks noGrp="1"/>
          </p:cNvSpPr>
          <p:nvPr/>
        </p:nvSpPr>
        <p:spPr>
          <a:xfrm>
            <a:off x="8572500" y="413385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1E9E8F"/>
          </a:solidFill>
          <a:ln w="9525">
            <a:solidFill>
              <a:srgbClr val="1E9E8F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177B65-6F39-4E8F-AC3A-4A07F144DBC1}"/>
              </a:ext>
            </a:extLst>
          </p:cNvPr>
          <p:cNvSpPr>
            <a:spLocks noGrp="1"/>
          </p:cNvSpPr>
          <p:nvPr/>
        </p:nvSpPr>
        <p:spPr>
          <a:xfrm>
            <a:off x="8782050" y="4248150"/>
            <a:ext cx="1952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97" lnSpcReduction="20000"/>
          </a:bodyPr>
          <a:lstStyle/>
          <a:p>
            <a:pPr>
              <a:defRPr sz="16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Moodle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BB7E21-FEFF-4E4B-BD79-E8C2DAB137C7}"/>
              </a:ext>
            </a:extLst>
          </p:cNvPr>
          <p:cNvSpPr>
            <a:spLocks noGrp="1"/>
          </p:cNvSpPr>
          <p:nvPr/>
        </p:nvSpPr>
        <p:spPr>
          <a:xfrm>
            <a:off x="8782050" y="4552950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405" lnSpcReduction="20000"/>
          </a:bodyPr>
          <a:lstStyle/>
          <a:p>
            <a:pPr>
              <a:defRPr sz="1050" b="0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Dynamic web system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B3D368-E693-4951-B4DF-D534CC69A10A}"/>
              </a:ext>
            </a:extLst>
          </p:cNvPr>
          <p:cNvSpPr>
            <a:spLocks noGrp="1"/>
          </p:cNvSpPr>
          <p:nvPr/>
        </p:nvSpPr>
        <p:spPr>
          <a:xfrm>
            <a:off x="695325" y="5905500"/>
            <a:ext cx="5715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>
              <a:defRPr sz="1200" b="0">
                <a:solidFill>
                  <a:srgbClr val="9FB9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9C8"/>
                </a:solidFill>
                <a:latin typeface="Bitstream Charter"/>
                <a:ea typeface="Bitstream Charter"/>
                <a:cs typeface="Bitstream Charter"/>
              </a:rPr>
              <a:t>Focus: understanding what the tools show</a:t>
            </a:r>
          </a:p>
        </p:txBody>
      </p:sp>
    </p:spTree>
    <p:extLst>
      <p:ext uri="{BB962C8B-B14F-4D97-AF65-F5344CB8AC3E}">
        <p14:creationId xmlns:p14="http://schemas.microsoft.com/office/powerpoint/2010/main" val="564908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D1123A-5798-A8E8-2CB8-4BAEEDAF8BE6}"/>
              </a:ext>
            </a:extLst>
          </p:cNvPr>
          <p:cNvSpPr txBox="1"/>
          <p:nvPr/>
        </p:nvSpPr>
        <p:spPr>
          <a:xfrm>
            <a:off x="753534" y="1777998"/>
            <a:ext cx="10134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HTTP is the communication system connecting the browser to the web server running inside the VM. POST and GET are two types of HTTP requests.</a:t>
            </a:r>
          </a:p>
          <a:p>
            <a:endParaRPr lang="en-US" dirty="0"/>
          </a:p>
          <a:p>
            <a:r>
              <a:rPr lang="en-US" dirty="0"/>
              <a:t>Browser</a:t>
            </a:r>
          </a:p>
          <a:p>
            <a:r>
              <a:rPr lang="en-US" dirty="0"/>
              <a:t>   ↓ HTTP GET or POST request</a:t>
            </a:r>
          </a:p>
          <a:p>
            <a:r>
              <a:rPr lang="en-US" dirty="0"/>
              <a:t>VM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Apache/httpd receives the request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PHP/Moodle processes it</a:t>
            </a:r>
          </a:p>
          <a:p>
            <a:r>
              <a:rPr lang="en-US" dirty="0"/>
              <a:t>   ↓ HTTP response</a:t>
            </a:r>
          </a:p>
          <a:p>
            <a:r>
              <a:rPr lang="en-US" dirty="0"/>
              <a:t>Browser displays the result</a:t>
            </a:r>
          </a:p>
          <a:p>
            <a:endParaRPr lang="en-US" dirty="0"/>
          </a:p>
          <a:p>
            <a:endParaRPr lang="en-US" dirty="0"/>
          </a:p>
          <a:p>
            <a:r>
              <a:rPr lang="en-NZ" dirty="0"/>
              <a:t>HTTP defines how the browser and web server communicate.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4486C4-1E10-33D9-8335-961771CD2DB4}"/>
              </a:ext>
            </a:extLst>
          </p:cNvPr>
          <p:cNvSpPr>
            <a:spLocks noGrp="1"/>
          </p:cNvSpPr>
          <p:nvPr/>
        </p:nvSpPr>
        <p:spPr>
          <a:xfrm>
            <a:off x="914400" y="1057275"/>
            <a:ext cx="10972800" cy="38100"/>
          </a:xfrm>
          <a:prstGeom prst="rect">
            <a:avLst/>
          </a:prstGeom>
          <a:solidFill>
            <a:srgbClr val="1E9E8F"/>
          </a:solidFill>
          <a:ln w="9525">
            <a:solidFill>
              <a:srgbClr val="1E9E8F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1BC527-2A88-03A8-B8AA-DCB7D219844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5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NZ" sz="2550" b="1" dirty="0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HTTP</a:t>
            </a:r>
            <a:endParaRPr sz="2550" b="1" dirty="0">
              <a:solidFill>
                <a:srgbClr val="14213D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207089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CA0EDFC-8CF5-4BC8-8293-2E5999613DD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5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dirty="0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GET and POST requests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454519-C745-4162-A4B4-796AD7FC9D22}"/>
              </a:ext>
            </a:extLst>
          </p:cNvPr>
          <p:cNvSpPr>
            <a:spLocks noGrp="1"/>
          </p:cNvSpPr>
          <p:nvPr/>
        </p:nvSpPr>
        <p:spPr>
          <a:xfrm>
            <a:off x="11191875" y="4286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>
              <a:defRPr sz="1275" b="1">
                <a:solidFill>
                  <a:srgbClr val="246B9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246B9E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512217-9E62-43B4-BA78-2FFF41ADE7B4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972800" cy="38100"/>
          </a:xfrm>
          <a:prstGeom prst="rect">
            <a:avLst/>
          </a:prstGeom>
          <a:solidFill>
            <a:srgbClr val="1E9E8F"/>
          </a:solidFill>
          <a:ln w="9525">
            <a:solidFill>
              <a:srgbClr val="1E9E8F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F556A7-5C54-450C-8D8B-3869CC1B526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238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>
              <a:defRPr sz="825" b="0">
                <a:solidFill>
                  <a:srgbClr val="66788A"/>
                </a:solidFill>
                <a:latin typeface="Bitstream Charter"/>
                <a:ea typeface="Bitstream Charter"/>
                <a:cs typeface="Bitstream Charter"/>
              </a:defRPr>
            </a:pPr>
            <a:endParaRPr sz="825" b="0" dirty="0">
              <a:solidFill>
                <a:srgbClr val="6678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0A927A-752E-4F9A-AA9F-009722F7CF93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49530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C74B3B-A00A-49AE-8575-EB131AECB7CA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F5B642"/>
          </a:solidFill>
          <a:ln w="9525">
            <a:solidFill>
              <a:srgbClr val="F5B642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DD4E4F-7A6A-458C-A917-EB8115723C98}"/>
              </a:ext>
            </a:extLst>
          </p:cNvPr>
          <p:cNvSpPr>
            <a:spLocks noGrp="1"/>
          </p:cNvSpPr>
          <p:nvPr/>
        </p:nvSpPr>
        <p:spPr>
          <a:xfrm>
            <a:off x="914400" y="1571625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52" lnSpcReduction="10000"/>
          </a:bodyPr>
          <a:lstStyle/>
          <a:p>
            <a:pPr>
              <a:def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NZ" sz="1600" b="1" dirty="0"/>
              <a:t>GET</a:t>
            </a:r>
          </a:p>
          <a:p>
            <a:pPr>
              <a:def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endParaRPr sz="1575" b="1" dirty="0">
              <a:solidFill>
                <a:srgbClr val="14213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B69B51-5F54-488D-B61B-FB070991B5C1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4591050" cy="2476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dirty="0">
                <a:ea typeface="Bitstream Charter"/>
                <a:cs typeface="Bitstream Charter"/>
              </a:rPr>
              <a:t>Form values normally appear in the URL query string.</a:t>
            </a:r>
          </a:p>
          <a:p>
            <a:endParaRPr sz="1200" b="0" dirty="0">
              <a:ea typeface="Bitstream Charter"/>
              <a:cs typeface="Bitstream Charter"/>
            </a:endParaRPr>
          </a:p>
          <a:p>
            <a:endParaRPr lang="en-NZ" sz="1200" dirty="0"/>
          </a:p>
          <a:p>
            <a:r>
              <a:rPr lang="en-NZ" sz="1200" dirty="0"/>
              <a:t>The browser is saying:</a:t>
            </a:r>
          </a:p>
          <a:p>
            <a:r>
              <a:rPr lang="en-NZ" sz="1200" dirty="0"/>
              <a:t>“Moodle, please send me the login page.”</a:t>
            </a: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 dirty="0">
              <a:solidFill>
                <a:srgbClr val="2637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07DEF3-8A23-4E1E-94F9-9C828EAE0808}"/>
              </a:ext>
            </a:extLst>
          </p:cNvPr>
          <p:cNvSpPr>
            <a:spLocks noGrp="1"/>
          </p:cNvSpPr>
          <p:nvPr/>
        </p:nvSpPr>
        <p:spPr>
          <a:xfrm>
            <a:off x="6553200" y="1476375"/>
            <a:ext cx="49530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3D1672-59BF-4BA3-B064-33AAA6BB94EC}"/>
              </a:ext>
            </a:extLst>
          </p:cNvPr>
          <p:cNvSpPr>
            <a:spLocks noGrp="1"/>
          </p:cNvSpPr>
          <p:nvPr/>
        </p:nvSpPr>
        <p:spPr>
          <a:xfrm>
            <a:off x="6553200" y="1476375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1E9E8F"/>
          </a:solidFill>
          <a:ln w="9525">
            <a:solidFill>
              <a:srgbClr val="1E9E8F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ECF930-2B2A-430F-B61B-0E5EF189D15A}"/>
              </a:ext>
            </a:extLst>
          </p:cNvPr>
          <p:cNvSpPr>
            <a:spLocks noGrp="1"/>
          </p:cNvSpPr>
          <p:nvPr/>
        </p:nvSpPr>
        <p:spPr>
          <a:xfrm>
            <a:off x="6781800" y="1571625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52" lnSpcReduction="10000"/>
          </a:bodyPr>
          <a:lstStyle/>
          <a:p>
            <a:pPr>
              <a:def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NZ" sz="1575" b="1" dirty="0"/>
              <a:t>POST</a:t>
            </a:r>
            <a:endParaRPr sz="1575" b="1" dirty="0">
              <a:solidFill>
                <a:srgbClr val="14213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377114-1E2A-4419-9610-3E8721F37C88}"/>
              </a:ext>
            </a:extLst>
          </p:cNvPr>
          <p:cNvSpPr>
            <a:spLocks noGrp="1"/>
          </p:cNvSpPr>
          <p:nvPr/>
        </p:nvSpPr>
        <p:spPr>
          <a:xfrm>
            <a:off x="6772275" y="1571625"/>
            <a:ext cx="4591050" cy="3124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dirty="0">
                <a:ea typeface="Bitstream Charter"/>
                <a:cs typeface="Bitstream Charter"/>
              </a:rPr>
              <a:t>Form values travel in the HTTP request body.</a:t>
            </a:r>
          </a:p>
          <a:p>
            <a:endParaRPr lang="en-NZ" sz="1200" dirty="0"/>
          </a:p>
          <a:p>
            <a:r>
              <a:rPr lang="en-NZ" sz="1200" dirty="0"/>
              <a:t>The browser is saying:</a:t>
            </a:r>
          </a:p>
          <a:p>
            <a:r>
              <a:rPr lang="en-NZ" sz="1200" dirty="0"/>
              <a:t>“Moodle, here are my login details. Please check them.”</a:t>
            </a: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 dirty="0">
              <a:solidFill>
                <a:srgbClr val="263747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BF93A1-0D5B-EA51-2C56-86386475D576}"/>
              </a:ext>
            </a:extLst>
          </p:cNvPr>
          <p:cNvSpPr txBox="1"/>
          <p:nvPr/>
        </p:nvSpPr>
        <p:spPr>
          <a:xfrm>
            <a:off x="723900" y="4695825"/>
            <a:ext cx="1049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dirty="0"/>
              <a:t>GET and POST are </a:t>
            </a:r>
            <a:r>
              <a:rPr lang="en-NZ" b="1" dirty="0"/>
              <a:t>HTTP methods</a:t>
            </a:r>
            <a:r>
              <a:rPr lang="en-NZ" dirty="0"/>
              <a:t>. They tell the server what kind of request the browser is making.</a:t>
            </a:r>
          </a:p>
        </p:txBody>
      </p:sp>
    </p:spTree>
    <p:extLst>
      <p:ext uri="{BB962C8B-B14F-4D97-AF65-F5344CB8AC3E}">
        <p14:creationId xmlns:p14="http://schemas.microsoft.com/office/powerpoint/2010/main" val="58075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8032-7603-3293-58F0-FF610A2F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F1297AC-5201-A093-C033-EC36F84B6CC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5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Browser Network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46EC51-38F2-4BF5-D172-2A6F567FEF03}"/>
              </a:ext>
            </a:extLst>
          </p:cNvPr>
          <p:cNvSpPr>
            <a:spLocks noGrp="1"/>
          </p:cNvSpPr>
          <p:nvPr/>
        </p:nvSpPr>
        <p:spPr>
          <a:xfrm>
            <a:off x="11191875" y="4286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>
              <a:defRPr sz="1275" b="1">
                <a:solidFill>
                  <a:srgbClr val="246B9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246B9E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97A0CE-019B-88C9-4626-5B4DB140B96A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972800" cy="38100"/>
          </a:xfrm>
          <a:prstGeom prst="rect">
            <a:avLst/>
          </a:prstGeom>
          <a:solidFill>
            <a:srgbClr val="1E9E8F"/>
          </a:solidFill>
          <a:ln w="9525">
            <a:solidFill>
              <a:srgbClr val="1E9E8F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4FD435-550D-9EB4-03EC-D53D3B3BB01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238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>
              <a:defRPr sz="825" b="0">
                <a:solidFill>
                  <a:srgbClr val="6678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6788A"/>
                </a:solidFill>
                <a:latin typeface="Bitstream Charter"/>
                <a:ea typeface="Bitstream Charter"/>
                <a:cs typeface="Bitstream Charter"/>
              </a:rPr>
              <a:t>VM, HTTP and Moodle practical session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A49862-5486-FD23-7243-C2B2513DE1B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015616-F0D6-2950-1DEA-7EFA9D3CA6D7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246B9E"/>
          </a:solidFill>
          <a:ln w="9525">
            <a:solidFill>
              <a:srgbClr val="246B9E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C19563-3415-B87B-2D27-1ADEC0977CDA}"/>
              </a:ext>
            </a:extLst>
          </p:cNvPr>
          <p:cNvSpPr>
            <a:spLocks noGrp="1"/>
          </p:cNvSpPr>
          <p:nvPr/>
        </p:nvSpPr>
        <p:spPr>
          <a:xfrm>
            <a:off x="914400" y="1666875"/>
            <a:ext cx="2971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52" lnSpcReduction="10000"/>
          </a:bodyPr>
          <a:lstStyle/>
          <a:p>
            <a:pPr>
              <a:def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Request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E45627-6F16-A03A-382C-9247FFC63891}"/>
              </a:ext>
            </a:extLst>
          </p:cNvPr>
          <p:cNvSpPr>
            <a:spLocks noGrp="1"/>
          </p:cNvSpPr>
          <p:nvPr/>
        </p:nvSpPr>
        <p:spPr>
          <a:xfrm>
            <a:off x="914400" y="2009775"/>
            <a:ext cx="2971800" cy="1466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Method and URL</a:t>
            </a: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Request headers</a:t>
            </a: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Form or query 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694156-4C83-48EC-203E-5DF5970B37BB}"/>
              </a:ext>
            </a:extLst>
          </p:cNvPr>
          <p:cNvSpPr>
            <a:spLocks noGrp="1"/>
          </p:cNvSpPr>
          <p:nvPr/>
        </p:nvSpPr>
        <p:spPr>
          <a:xfrm>
            <a:off x="4324350" y="1571625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489DAE-CA2D-8E20-218C-FAB60AA49132}"/>
              </a:ext>
            </a:extLst>
          </p:cNvPr>
          <p:cNvSpPr>
            <a:spLocks noGrp="1"/>
          </p:cNvSpPr>
          <p:nvPr/>
        </p:nvSpPr>
        <p:spPr>
          <a:xfrm>
            <a:off x="4324350" y="157162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1E9E8F"/>
          </a:solidFill>
          <a:ln w="9525">
            <a:solidFill>
              <a:srgbClr val="1E9E8F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1F88C8-356D-371F-5C99-C248DC95BA98}"/>
              </a:ext>
            </a:extLst>
          </p:cNvPr>
          <p:cNvSpPr>
            <a:spLocks noGrp="1"/>
          </p:cNvSpPr>
          <p:nvPr/>
        </p:nvSpPr>
        <p:spPr>
          <a:xfrm>
            <a:off x="4552950" y="1666875"/>
            <a:ext cx="2971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52" lnSpcReduction="10000"/>
          </a:bodyPr>
          <a:lstStyle/>
          <a:p>
            <a:pPr>
              <a:def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Response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97B592-C3C9-64B9-F193-B31C388695B2}"/>
              </a:ext>
            </a:extLst>
          </p:cNvPr>
          <p:cNvSpPr>
            <a:spLocks noGrp="1"/>
          </p:cNvSpPr>
          <p:nvPr/>
        </p:nvSpPr>
        <p:spPr>
          <a:xfrm>
            <a:off x="4552950" y="2009775"/>
            <a:ext cx="2971800" cy="1466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Status code</a:t>
            </a: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Response headers</a:t>
            </a: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Returned content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90A629-436E-3E4B-F469-27655D014AC6}"/>
              </a:ext>
            </a:extLst>
          </p:cNvPr>
          <p:cNvSpPr>
            <a:spLocks noGrp="1"/>
          </p:cNvSpPr>
          <p:nvPr/>
        </p:nvSpPr>
        <p:spPr>
          <a:xfrm>
            <a:off x="7962900" y="1571625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F2E8D41-2ACE-CE16-03C8-C026A296B7B9}"/>
              </a:ext>
            </a:extLst>
          </p:cNvPr>
          <p:cNvSpPr>
            <a:spLocks noGrp="1"/>
          </p:cNvSpPr>
          <p:nvPr/>
        </p:nvSpPr>
        <p:spPr>
          <a:xfrm>
            <a:off x="7962900" y="157162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F5B642"/>
          </a:solidFill>
          <a:ln w="9525">
            <a:solidFill>
              <a:srgbClr val="F5B642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5383D5-7E25-CAEA-FF93-162D099E8D19}"/>
              </a:ext>
            </a:extLst>
          </p:cNvPr>
          <p:cNvSpPr>
            <a:spLocks noGrp="1"/>
          </p:cNvSpPr>
          <p:nvPr/>
        </p:nvSpPr>
        <p:spPr>
          <a:xfrm>
            <a:off x="8191500" y="1666875"/>
            <a:ext cx="2971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52" lnSpcReduction="10000"/>
          </a:bodyPr>
          <a:lstStyle/>
          <a:p>
            <a:pPr>
              <a:def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Timing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4175EE-970D-F7FC-B9A9-3BC0B3B94D0D}"/>
              </a:ext>
            </a:extLst>
          </p:cNvPr>
          <p:cNvSpPr>
            <a:spLocks noGrp="1"/>
          </p:cNvSpPr>
          <p:nvPr/>
        </p:nvSpPr>
        <p:spPr>
          <a:xfrm>
            <a:off x="8191500" y="2009775"/>
            <a:ext cx="2971800" cy="1466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Waiting time</a:t>
            </a: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Download time</a:t>
            </a: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Use of cache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44F193-413E-2792-F956-88D650B8D996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73" lnSpcReduction="20000"/>
          </a:bodyPr>
          <a:lstStyle/>
          <a:p>
            <a:pPr>
              <a:defRPr sz="16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Useful status codes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EFA3C80-2A5B-78B4-5820-DB7A96E8F61F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5143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7A7801-5351-DDFF-FE2C-A3090B986BB7}"/>
              </a:ext>
            </a:extLst>
          </p:cNvPr>
          <p:cNvSpPr>
            <a:spLocks noGrp="1"/>
          </p:cNvSpPr>
          <p:nvPr/>
        </p:nvSpPr>
        <p:spPr>
          <a:xfrm>
            <a:off x="800100" y="4619625"/>
            <a:ext cx="666750" cy="361950"/>
          </a:xfrm>
          <a:prstGeom prst="roundRect">
            <a:avLst>
              <a:gd name="adj" fmla="val 21053"/>
            </a:avLst>
          </a:prstGeom>
          <a:solidFill>
            <a:srgbClr val="3A8D68"/>
          </a:solidFill>
          <a:ln w="9525">
            <a:solidFill>
              <a:srgbClr val="3A8D6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83B6F6-360C-AE99-0BE6-FFE3E8D6B6AE}"/>
              </a:ext>
            </a:extLst>
          </p:cNvPr>
          <p:cNvSpPr>
            <a:spLocks noGrp="1"/>
          </p:cNvSpPr>
          <p:nvPr/>
        </p:nvSpPr>
        <p:spPr>
          <a:xfrm>
            <a:off x="800100" y="46577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993D2D-E9A0-2CE7-B8EE-2CCDE2B48DAB}"/>
              </a:ext>
            </a:extLst>
          </p:cNvPr>
          <p:cNvSpPr>
            <a:spLocks noGrp="1"/>
          </p:cNvSpPr>
          <p:nvPr/>
        </p:nvSpPr>
        <p:spPr>
          <a:xfrm>
            <a:off x="1638300" y="4600575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The server returned a successful response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D99F859-49F5-93E4-19C4-9F011F2DEBC5}"/>
              </a:ext>
            </a:extLst>
          </p:cNvPr>
          <p:cNvSpPr>
            <a:spLocks noGrp="1"/>
          </p:cNvSpPr>
          <p:nvPr/>
        </p:nvSpPr>
        <p:spPr>
          <a:xfrm>
            <a:off x="6115050" y="4524375"/>
            <a:ext cx="5143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51F44F5-45BA-E1D7-5DBC-CB7E2EAE72A2}"/>
              </a:ext>
            </a:extLst>
          </p:cNvPr>
          <p:cNvSpPr>
            <a:spLocks noGrp="1"/>
          </p:cNvSpPr>
          <p:nvPr/>
        </p:nvSpPr>
        <p:spPr>
          <a:xfrm>
            <a:off x="6229350" y="4619625"/>
            <a:ext cx="666750" cy="361950"/>
          </a:xfrm>
          <a:prstGeom prst="roundRect">
            <a:avLst>
              <a:gd name="adj" fmla="val 21053"/>
            </a:avLst>
          </a:prstGeom>
          <a:solidFill>
            <a:srgbClr val="246B9E"/>
          </a:solidFill>
          <a:ln w="9525">
            <a:solidFill>
              <a:srgbClr val="246B9E"/>
            </a:solidFill>
          </a:ln>
        </p:spPr>
        <p:txBody>
          <a:bodyPr/>
          <a:lstStyle/>
          <a:p>
            <a:endParaRPr lang="en-NZ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0B4ACC-17DD-0F4E-1EB6-552BE99E6F67}"/>
              </a:ext>
            </a:extLst>
          </p:cNvPr>
          <p:cNvSpPr>
            <a:spLocks noGrp="1"/>
          </p:cNvSpPr>
          <p:nvPr/>
        </p:nvSpPr>
        <p:spPr>
          <a:xfrm>
            <a:off x="6229350" y="46577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E7431B-B621-6CCB-A805-1AEDC16951A2}"/>
              </a:ext>
            </a:extLst>
          </p:cNvPr>
          <p:cNvSpPr>
            <a:spLocks noGrp="1"/>
          </p:cNvSpPr>
          <p:nvPr/>
        </p:nvSpPr>
        <p:spPr>
          <a:xfrm>
            <a:off x="7067550" y="4600575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The browser may reuse its cached copy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03213E2-5E45-E59D-52D8-2BC4C0A6D2F0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5143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F29CAEA-4DDD-B343-4003-C46ECDC9D3BB}"/>
              </a:ext>
            </a:extLst>
          </p:cNvPr>
          <p:cNvSpPr>
            <a:spLocks noGrp="1"/>
          </p:cNvSpPr>
          <p:nvPr/>
        </p:nvSpPr>
        <p:spPr>
          <a:xfrm>
            <a:off x="800100" y="5362575"/>
            <a:ext cx="666750" cy="361950"/>
          </a:xfrm>
          <a:prstGeom prst="roundRect">
            <a:avLst>
              <a:gd name="adj" fmla="val 21053"/>
            </a:avLst>
          </a:prstGeom>
          <a:solidFill>
            <a:srgbClr val="F5B642"/>
          </a:solidFill>
          <a:ln w="9525">
            <a:solidFill>
              <a:srgbClr val="F5B642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8B2497-DBCC-BEAD-7179-E940030A4B7D}"/>
              </a:ext>
            </a:extLst>
          </p:cNvPr>
          <p:cNvSpPr>
            <a:spLocks noGrp="1"/>
          </p:cNvSpPr>
          <p:nvPr/>
        </p:nvSpPr>
        <p:spPr>
          <a:xfrm>
            <a:off x="800100" y="540067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404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E3C24C-1CDD-E571-D771-CE113D6865B4}"/>
              </a:ext>
            </a:extLst>
          </p:cNvPr>
          <p:cNvSpPr>
            <a:spLocks noGrp="1"/>
          </p:cNvSpPr>
          <p:nvPr/>
        </p:nvSpPr>
        <p:spPr>
          <a:xfrm>
            <a:off x="1638300" y="5343525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The requested resource was not found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4C2A2AE-CB1F-6D9C-7266-0599CF88E4C8}"/>
              </a:ext>
            </a:extLst>
          </p:cNvPr>
          <p:cNvSpPr>
            <a:spLocks noGrp="1"/>
          </p:cNvSpPr>
          <p:nvPr/>
        </p:nvSpPr>
        <p:spPr>
          <a:xfrm>
            <a:off x="6115050" y="5267325"/>
            <a:ext cx="5143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ED39487-5268-6BBF-C799-134428F59A49}"/>
              </a:ext>
            </a:extLst>
          </p:cNvPr>
          <p:cNvSpPr>
            <a:spLocks noGrp="1"/>
          </p:cNvSpPr>
          <p:nvPr/>
        </p:nvSpPr>
        <p:spPr>
          <a:xfrm>
            <a:off x="6229350" y="5362575"/>
            <a:ext cx="666750" cy="361950"/>
          </a:xfrm>
          <a:prstGeom prst="roundRect">
            <a:avLst>
              <a:gd name="adj" fmla="val 21053"/>
            </a:avLst>
          </a:prstGeom>
          <a:solidFill>
            <a:srgbClr val="C94C4C"/>
          </a:solidFill>
          <a:ln w="9525">
            <a:solidFill>
              <a:srgbClr val="C94C4C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D7B29B-4F51-BBF8-45F2-0F98FEB7FCA1}"/>
              </a:ext>
            </a:extLst>
          </p:cNvPr>
          <p:cNvSpPr>
            <a:spLocks noGrp="1"/>
          </p:cNvSpPr>
          <p:nvPr/>
        </p:nvSpPr>
        <p:spPr>
          <a:xfrm>
            <a:off x="6229350" y="540067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5xx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CDCB97-9972-0021-01A0-8425AAED5C3B}"/>
              </a:ext>
            </a:extLst>
          </p:cNvPr>
          <p:cNvSpPr>
            <a:spLocks noGrp="1"/>
          </p:cNvSpPr>
          <p:nvPr/>
        </p:nvSpPr>
        <p:spPr>
          <a:xfrm>
            <a:off x="7067550" y="5343525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The server encountered a problem</a:t>
            </a:r>
          </a:p>
        </p:txBody>
      </p:sp>
    </p:spTree>
    <p:extLst>
      <p:ext uri="{BB962C8B-B14F-4D97-AF65-F5344CB8AC3E}">
        <p14:creationId xmlns:p14="http://schemas.microsoft.com/office/powerpoint/2010/main" val="4130517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8D168A-4950-F642-532C-FA71563BF630}"/>
              </a:ext>
            </a:extLst>
          </p:cNvPr>
          <p:cNvSpPr txBox="1"/>
          <p:nvPr/>
        </p:nvSpPr>
        <p:spPr>
          <a:xfrm>
            <a:off x="609600" y="1388533"/>
            <a:ext cx="104309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A VM is a virtual computer. It has: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Z" dirty="0"/>
              <a:t>Its own operating system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Z" dirty="0"/>
              <a:t>Files and folders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Z" dirty="0"/>
              <a:t>Installed programs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Z" dirty="0"/>
              <a:t>Running processes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Z" dirty="0"/>
              <a:t>Network settings </a:t>
            </a:r>
          </a:p>
          <a:p>
            <a:endParaRPr lang="en-NZ" dirty="0"/>
          </a:p>
          <a:p>
            <a:endParaRPr lang="en-NZ" dirty="0"/>
          </a:p>
          <a:p>
            <a:r>
              <a:rPr lang="en-NZ" dirty="0"/>
              <a:t>The VM does not automatically provide Moodle. It must contain all the software needed to receive and process the requests.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517C32-5058-C939-E7A3-C8A4526C603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r>
              <a:rPr lang="en-NZ" sz="2800" b="1" dirty="0"/>
              <a:t>VM 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6FD94B-F4C2-6610-36BA-C373D508CE6A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972800" cy="38100"/>
          </a:xfrm>
          <a:prstGeom prst="rect">
            <a:avLst/>
          </a:prstGeom>
          <a:solidFill>
            <a:srgbClr val="1E9E8F"/>
          </a:solidFill>
          <a:ln w="9525">
            <a:solidFill>
              <a:srgbClr val="1E9E8F"/>
            </a:solidFill>
          </a:ln>
        </p:spPr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05963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A48C96-7764-1828-1070-661BA3427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75" y="79768"/>
            <a:ext cx="9160034" cy="626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13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54D69D5-1CAB-42D7-8683-6F541F12B1E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5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Two ways to access the VM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6460A-9B10-4850-B0E7-E5113A5462BC}"/>
              </a:ext>
            </a:extLst>
          </p:cNvPr>
          <p:cNvSpPr>
            <a:spLocks noGrp="1"/>
          </p:cNvSpPr>
          <p:nvPr/>
        </p:nvSpPr>
        <p:spPr>
          <a:xfrm>
            <a:off x="11191875" y="4286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>
              <a:defRPr sz="1275" b="1">
                <a:solidFill>
                  <a:srgbClr val="246B9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246B9E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19319D-081A-4C27-83B3-31F362F8C048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972800" cy="38100"/>
          </a:xfrm>
          <a:prstGeom prst="rect">
            <a:avLst/>
          </a:prstGeom>
          <a:solidFill>
            <a:srgbClr val="1E9E8F"/>
          </a:solidFill>
          <a:ln w="9525">
            <a:solidFill>
              <a:srgbClr val="1E9E8F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2BF644-A230-4B2C-A022-269719D155A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238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>
              <a:defRPr sz="825" b="0">
                <a:solidFill>
                  <a:srgbClr val="6678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6788A"/>
                </a:solidFill>
                <a:latin typeface="Bitstream Charter"/>
                <a:ea typeface="Bitstream Charter"/>
                <a:cs typeface="Bitstream Charter"/>
              </a:rPr>
              <a:t>VM, HTTP and Moodle practical session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F297EC-816B-492A-ACDF-0FBB8878505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953000" cy="352425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D4F43B-31A5-4E0E-8DE6-9222B332C05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6200" cy="3524250"/>
          </a:xfrm>
          <a:prstGeom prst="roundRect">
            <a:avLst>
              <a:gd name="adj" fmla="val 50000"/>
            </a:avLst>
          </a:prstGeom>
          <a:solidFill>
            <a:srgbClr val="246B9E"/>
          </a:solidFill>
          <a:ln w="9525">
            <a:solidFill>
              <a:srgbClr val="246B9E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06636F-346A-4131-B0CE-1CE2E34630A1}"/>
              </a:ext>
            </a:extLst>
          </p:cNvPr>
          <p:cNvSpPr>
            <a:spLocks noGrp="1"/>
          </p:cNvSpPr>
          <p:nvPr/>
        </p:nvSpPr>
        <p:spPr>
          <a:xfrm>
            <a:off x="914400" y="152400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52" lnSpcReduction="10000"/>
          </a:bodyPr>
          <a:lstStyle/>
          <a:p>
            <a:pPr>
              <a:def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Remote Desktop (RDP)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0D99E-3685-41F8-BB0A-DA01C1406138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4591050" cy="2990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Shows the VM's graphical desktop</a:t>
            </a:r>
          </a:p>
          <a:p>
            <a:endParaRPr sz="1275" b="0">
              <a:solidFill>
                <a:srgbClr val="263747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Useful for the browser, file manager and visual tools</a:t>
            </a:r>
          </a:p>
          <a:p>
            <a:endParaRPr sz="1275" b="0">
              <a:solidFill>
                <a:srgbClr val="263747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Transfers screen updates, mouse movements and keystrokes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D965399-D18D-4E8D-9867-BF274A10D37D}"/>
              </a:ext>
            </a:extLst>
          </p:cNvPr>
          <p:cNvSpPr>
            <a:spLocks noGrp="1"/>
          </p:cNvSpPr>
          <p:nvPr/>
        </p:nvSpPr>
        <p:spPr>
          <a:xfrm>
            <a:off x="6553200" y="1428750"/>
            <a:ext cx="4953000" cy="352425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5E1E8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4A1B44-FAAA-4B85-8CF4-D6BB3AD0959A}"/>
              </a:ext>
            </a:extLst>
          </p:cNvPr>
          <p:cNvSpPr>
            <a:spLocks noGrp="1"/>
          </p:cNvSpPr>
          <p:nvPr/>
        </p:nvSpPr>
        <p:spPr>
          <a:xfrm>
            <a:off x="6553200" y="1428750"/>
            <a:ext cx="76200" cy="3524250"/>
          </a:xfrm>
          <a:prstGeom prst="roundRect">
            <a:avLst>
              <a:gd name="adj" fmla="val 50000"/>
            </a:avLst>
          </a:prstGeom>
          <a:solidFill>
            <a:srgbClr val="1E9E8F"/>
          </a:solidFill>
          <a:ln w="9525">
            <a:solidFill>
              <a:srgbClr val="1E9E8F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49960-9DD1-4DD7-8763-3B9CE9F247F0}"/>
              </a:ext>
            </a:extLst>
          </p:cNvPr>
          <p:cNvSpPr>
            <a:spLocks noGrp="1"/>
          </p:cNvSpPr>
          <p:nvPr/>
        </p:nvSpPr>
        <p:spPr>
          <a:xfrm>
            <a:off x="6781800" y="152400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52" lnSpcReduction="10000"/>
          </a:bodyPr>
          <a:lstStyle/>
          <a:p>
            <a:pPr>
              <a:def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4213D"/>
                </a:solidFill>
                <a:latin typeface="Bitstream Charter"/>
                <a:ea typeface="Bitstream Charter"/>
                <a:cs typeface="Bitstream Charter"/>
              </a:rPr>
              <a:t>Secure Shell (SSH)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BF0905-6B58-4DC7-BBF5-4C4782AA4001}"/>
              </a:ext>
            </a:extLst>
          </p:cNvPr>
          <p:cNvSpPr>
            <a:spLocks noGrp="1"/>
          </p:cNvSpPr>
          <p:nvPr/>
        </p:nvSpPr>
        <p:spPr>
          <a:xfrm>
            <a:off x="6781800" y="1866900"/>
            <a:ext cx="4591050" cy="2990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Provides a command-line connection</a:t>
            </a:r>
          </a:p>
          <a:p>
            <a:endParaRPr sz="1275" b="0">
              <a:solidFill>
                <a:srgbClr val="263747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Useful for checking services, reading logs and running database commands</a:t>
            </a:r>
          </a:p>
          <a:p>
            <a:endParaRPr sz="1275" b="0">
              <a:solidFill>
                <a:srgbClr val="263747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63747"/>
                </a:solidFill>
                <a:latin typeface="Bitstream Charter"/>
                <a:ea typeface="Bitstream Charter"/>
                <a:cs typeface="Bitstream Charter"/>
              </a:rPr>
              <a:t>Usually remains practical when the desktop connection is unstable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7E7896-4FD6-43B1-9028-D24AE2A701FE}"/>
              </a:ext>
            </a:extLst>
          </p:cNvPr>
          <p:cNvSpPr>
            <a:spLocks noGrp="1"/>
          </p:cNvSpPr>
          <p:nvPr/>
        </p:nvSpPr>
        <p:spPr>
          <a:xfrm>
            <a:off x="2143125" y="5381625"/>
            <a:ext cx="7905750" cy="590550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9525">
            <a:solidFill>
              <a:srgbClr val="14213D"/>
            </a:solidFill>
          </a:ln>
        </p:spPr>
        <p:txBody>
          <a:bodyPr/>
          <a:lstStyle/>
          <a:p>
            <a:endParaRPr lang="en-NZ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00AE2F-ABF6-4D2A-A3D3-7DF3CDF1B870}"/>
              </a:ext>
            </a:extLst>
          </p:cNvPr>
          <p:cNvSpPr>
            <a:spLocks noGrp="1"/>
          </p:cNvSpPr>
          <p:nvPr/>
        </p:nvSpPr>
        <p:spPr>
          <a:xfrm>
            <a:off x="2381250" y="5486400"/>
            <a:ext cx="7429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Both methods connect to the same VM and work with the same files and services.</a:t>
            </a:r>
          </a:p>
        </p:txBody>
      </p:sp>
    </p:spTree>
    <p:extLst>
      <p:ext uri="{BB962C8B-B14F-4D97-AF65-F5344CB8AC3E}">
        <p14:creationId xmlns:p14="http://schemas.microsoft.com/office/powerpoint/2010/main" val="757446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D6CB56-F590-3C73-AABF-AD761E063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763136"/>
            <a:ext cx="7924469" cy="451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9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82C25F-D31A-8728-7243-CAC2BB3C3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564082"/>
            <a:ext cx="8433492" cy="493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5174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390</Words>
  <Application>Microsoft Office PowerPoint</Application>
  <DocSecurity>0</DocSecurity>
  <PresentationFormat>Widescreen</PresentationFormat>
  <Paragraphs>90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Bitstream Charter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Niloofar Aflaki</cp:lastModifiedBy>
  <cp:revision>4</cp:revision>
  <dcterms:created xsi:type="dcterms:W3CDTF">2026-09-21T07:42:51Z</dcterms:created>
  <dcterms:modified xsi:type="dcterms:W3CDTF">2026-10-06T20:22:40Z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2026-09-21T10:00:17Z</vt:lpwstr>
  </property>
  <property fmtid="{D5CDD505-2E9C-101B-9397-08002B2CF9AE}" pid="4" name="MSIP_Label_bd9e4d68-54d0-40a5-8c9a-85a36c87352c_Method">
    <vt:lpwstr>Standard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d92ef3f2-f9ed-4cf6-99a1-5a2a526ebb61</vt:lpwstr>
  </property>
  <property fmtid="{D5CDD505-2E9C-101B-9397-08002B2CF9AE}" pid="8" name="MSIP_Label_bd9e4d68-54d0-40a5-8c9a-85a36c87352c_ContentBits">
    <vt:lpwstr>0</vt:lpwstr>
  </property>
  <property fmtid="{D5CDD505-2E9C-101B-9397-08002B2CF9AE}" pid="9" name="MSIP_Label_bd9e4d68-54d0-40a5-8c9a-85a36c87352c_Tag">
    <vt:lpwstr>10, 3, 0, 1</vt:lpwstr>
  </property>
</Properties>
</file>